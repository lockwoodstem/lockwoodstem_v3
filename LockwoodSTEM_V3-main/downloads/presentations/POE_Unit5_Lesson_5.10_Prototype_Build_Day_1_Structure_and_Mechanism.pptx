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5.10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Build Day 1: Structure and Mechanism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828800" cy="0"/>
          </a:xfrm>
          <a:prstGeom prst="line">
            <a:avLst/>
          </a:prstGeom>
          <a:noFill/>
          <a:ln w="12700">
            <a:solidFill>
              <a:srgbClr val="D7A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60604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D7AB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630" dirty="0"/>
          </a:p>
        </p:txBody>
      </p:sp>
      <p:sp>
        <p:nvSpPr>
          <p:cNvPr id="6" name="Text 4"/>
          <p:cNvSpPr/>
          <p:nvPr/>
        </p:nvSpPr>
        <p:spPr>
          <a:xfrm>
            <a:off x="502920" y="28529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you build the structural and mechanical portions of my capstone prototype while documenting decisions and issues.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502920" y="4709160"/>
            <a:ext cx="1078992" cy="329184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480060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520" dirty="0"/>
          </a:p>
        </p:txBody>
      </p:sp>
      <p:sp>
        <p:nvSpPr>
          <p:cNvPr id="9" name="Shape 7"/>
          <p:cNvSpPr/>
          <p:nvPr/>
        </p:nvSpPr>
        <p:spPr>
          <a:xfrm>
            <a:off x="1828800" y="4709160"/>
            <a:ext cx="1078992" cy="329184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480060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520" dirty="0"/>
          </a:p>
        </p:txBody>
      </p:sp>
      <p:sp>
        <p:nvSpPr>
          <p:cNvPr id="11" name="Shape 9"/>
          <p:cNvSpPr/>
          <p:nvPr/>
        </p:nvSpPr>
        <p:spPr>
          <a:xfrm>
            <a:off x="3154680" y="4709160"/>
            <a:ext cx="1078992" cy="329184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480060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520" dirty="0"/>
          </a:p>
        </p:txBody>
      </p:sp>
      <p:sp>
        <p:nvSpPr>
          <p:cNvPr id="13" name="Text 11"/>
          <p:cNvSpPr/>
          <p:nvPr/>
        </p:nvSpPr>
        <p:spPr>
          <a:xfrm>
            <a:off x="502920" y="6144768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C6D4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Principles of Engineering</a:t>
            </a:r>
            <a:endParaRPr lang="en-US" sz="540" dirty="0"/>
          </a:p>
        </p:txBody>
      </p:sp>
      <p:pic>
        <p:nvPicPr>
          <p:cNvPr id="14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502920"/>
            <a:ext cx="1143000" cy="2560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321040" y="1691640"/>
            <a:ext cx="2240280" cy="54864"/>
          </a:xfrm>
          <a:prstGeom prst="rect">
            <a:avLst/>
          </a:prstGeom>
          <a:solidFill>
            <a:srgbClr val="56D4F1"/>
          </a:solidFill>
          <a:ln w="12700">
            <a:solidFill>
              <a:srgbClr val="56D4F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21040" y="1920240"/>
            <a:ext cx="2240280" cy="54864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2148840"/>
            <a:ext cx="2240280" cy="54864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CAPSTONE BRIEFING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5.10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move the capstone from idea to defensible engineering evidence.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2423160" cy="182880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691640"/>
            <a:ext cx="54864" cy="182880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8379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49808" y="2194560"/>
            <a:ext cx="203911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can build the structural and mechanical portions of my capstone prototype while documenting decisions and issues.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3246120" y="1691640"/>
            <a:ext cx="2423160" cy="1828800"/>
          </a:xfrm>
          <a:prstGeom prst="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46120" y="1691640"/>
            <a:ext cx="54864" cy="182880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10712" y="18379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447288" y="2194560"/>
            <a:ext cx="203911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explain how today's capstone artifact supports a clear requirement, design decision, or final defense.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5943600" y="1691640"/>
            <a:ext cx="2926080" cy="256032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0" y="1691640"/>
            <a:ext cx="54864" cy="256032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08192" y="1837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144768" y="2194560"/>
            <a:ext cx="2542032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connection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work time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check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debrief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Today's deliverable: Build evidence and structure/mechanism progress notes.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2" name="Text 19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4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OPENING PROMPT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5.10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does structure and mechanism move the capstone from idea to defensible engineering solution?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as a quick class discussion while students open notebooks and project files.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457200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118872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7510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24128" y="2331720"/>
            <a:ext cx="418795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one decision, artifact, or piece of evidence that today’s work should produce.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6400800" y="1828800"/>
            <a:ext cx="384048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1828800"/>
            <a:ext cx="54864" cy="118872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65392" y="19751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601968" y="2331720"/>
            <a:ext cx="345643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name a requirement, subsystem, test, data source, or design decision.</a:t>
            </a:r>
            <a:endParaRPr lang="en-US" sz="620" dirty="0"/>
          </a:p>
        </p:txBody>
      </p:sp>
      <p:sp>
        <p:nvSpPr>
          <p:cNvPr id="16" name="Text 13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connect your answers to the capstone workflow on the next slide.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18" name="Text 15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4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CAPSTONE WORKFLOW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5.10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Today Fits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capstone lesson builds one piece of the final design defense.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1691640"/>
            <a:ext cx="411480" cy="411480"/>
          </a:xfrm>
          <a:prstGeom prst="ellipse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8105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731520" y="2240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mission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73152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Problem, stakeholders, requirements</a:t>
            </a:r>
            <a:endParaRPr lang="en-US" sz="590" dirty="0"/>
          </a:p>
        </p:txBody>
      </p:sp>
      <p:sp>
        <p:nvSpPr>
          <p:cNvPr id="12" name="Shape 9"/>
          <p:cNvSpPr/>
          <p:nvPr/>
        </p:nvSpPr>
        <p:spPr>
          <a:xfrm>
            <a:off x="1216152" y="1901952"/>
            <a:ext cx="1508760" cy="0"/>
          </a:xfrm>
          <a:prstGeom prst="line">
            <a:avLst/>
          </a:prstGeom>
          <a:noFill/>
          <a:ln w="12700">
            <a:solidFill>
              <a:srgbClr val="B5C6D8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880360" y="1691640"/>
            <a:ext cx="411480" cy="411480"/>
          </a:xfrm>
          <a:prstGeom prst="ellipse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99232" y="18105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2880360" y="2240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system</a:t>
            </a:r>
            <a:endParaRPr lang="en-US" sz="730" dirty="0"/>
          </a:p>
        </p:txBody>
      </p:sp>
      <p:sp>
        <p:nvSpPr>
          <p:cNvPr id="16" name="Text 13"/>
          <p:cNvSpPr/>
          <p:nvPr/>
        </p:nvSpPr>
        <p:spPr>
          <a:xfrm>
            <a:off x="288036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Concepts, architecture, trade-offs</a:t>
            </a:r>
            <a:endParaRPr lang="en-US" sz="590" dirty="0"/>
          </a:p>
        </p:txBody>
      </p:sp>
      <p:sp>
        <p:nvSpPr>
          <p:cNvPr id="17" name="Shape 14"/>
          <p:cNvSpPr/>
          <p:nvPr/>
        </p:nvSpPr>
        <p:spPr>
          <a:xfrm>
            <a:off x="3364992" y="1901952"/>
            <a:ext cx="1508760" cy="0"/>
          </a:xfrm>
          <a:prstGeom prst="line">
            <a:avLst/>
          </a:prstGeom>
          <a:noFill/>
          <a:ln w="12700">
            <a:solidFill>
              <a:srgbClr val="B5C6D8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029200" y="1691640"/>
            <a:ext cx="411480" cy="411480"/>
          </a:xfrm>
          <a:prstGeom prst="ellipse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48072" y="18105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5029200" y="2240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prototype</a:t>
            </a:r>
            <a:endParaRPr lang="en-US" sz="730" dirty="0"/>
          </a:p>
        </p:txBody>
      </p:sp>
      <p:sp>
        <p:nvSpPr>
          <p:cNvPr id="21" name="Text 18"/>
          <p:cNvSpPr/>
          <p:nvPr/>
        </p:nvSpPr>
        <p:spPr>
          <a:xfrm>
            <a:off x="502920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CAD, fabrication, integration</a:t>
            </a:r>
            <a:endParaRPr lang="en-US" sz="590" dirty="0"/>
          </a:p>
        </p:txBody>
      </p:sp>
      <p:sp>
        <p:nvSpPr>
          <p:cNvPr id="22" name="Shape 19"/>
          <p:cNvSpPr/>
          <p:nvPr/>
        </p:nvSpPr>
        <p:spPr>
          <a:xfrm>
            <a:off x="5513832" y="1901952"/>
            <a:ext cx="1508760" cy="0"/>
          </a:xfrm>
          <a:prstGeom prst="line">
            <a:avLst/>
          </a:prstGeom>
          <a:noFill/>
          <a:ln w="12700">
            <a:solidFill>
              <a:srgbClr val="B5C6D8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178040" y="1691640"/>
            <a:ext cx="411480" cy="411480"/>
          </a:xfrm>
          <a:prstGeom prst="ellipse">
            <a:avLst/>
          </a:prstGeom>
          <a:solidFill>
            <a:srgbClr val="56D4F1"/>
          </a:solidFill>
          <a:ln w="12700">
            <a:solidFill>
              <a:srgbClr val="56D4F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96912" y="18105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7178040" y="2240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+ revise</a:t>
            </a:r>
            <a:endParaRPr lang="en-US" sz="730" dirty="0"/>
          </a:p>
        </p:txBody>
      </p:sp>
      <p:sp>
        <p:nvSpPr>
          <p:cNvPr id="26" name="Text 23"/>
          <p:cNvSpPr/>
          <p:nvPr/>
        </p:nvSpPr>
        <p:spPr>
          <a:xfrm>
            <a:off x="717804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Data, failure modes, iteration</a:t>
            </a:r>
            <a:endParaRPr lang="en-US" sz="590" dirty="0"/>
          </a:p>
        </p:txBody>
      </p:sp>
      <p:sp>
        <p:nvSpPr>
          <p:cNvPr id="27" name="Shape 24"/>
          <p:cNvSpPr/>
          <p:nvPr/>
        </p:nvSpPr>
        <p:spPr>
          <a:xfrm>
            <a:off x="7662672" y="1901952"/>
            <a:ext cx="1508760" cy="0"/>
          </a:xfrm>
          <a:prstGeom prst="line">
            <a:avLst/>
          </a:prstGeom>
          <a:noFill/>
          <a:ln w="12700">
            <a:solidFill>
              <a:srgbClr val="B5C6D8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326880" y="1691640"/>
            <a:ext cx="411480" cy="411480"/>
          </a:xfrm>
          <a:prstGeom prst="ellipse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445752" y="18105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71C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9326880" y="2240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 evidence</a:t>
            </a:r>
            <a:endParaRPr lang="en-US" sz="730" dirty="0"/>
          </a:p>
        </p:txBody>
      </p:sp>
      <p:sp>
        <p:nvSpPr>
          <p:cNvPr id="31" name="Text 28"/>
          <p:cNvSpPr/>
          <p:nvPr/>
        </p:nvSpPr>
        <p:spPr>
          <a:xfrm>
            <a:off x="932688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Documentation, demo, review</a:t>
            </a:r>
            <a:endParaRPr lang="en-US" sz="590" dirty="0"/>
          </a:p>
        </p:txBody>
      </p:sp>
      <p:sp>
        <p:nvSpPr>
          <p:cNvPr id="32" name="Text 29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 strengthens the structure and mechanism part of the capstone story.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34" name="Text 31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4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INTERACTIVE VOTE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5.10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action best supports a strong capstone design decision?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justify your answer with one sentence.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68580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325880" y="19659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 choice because it is fastest to finish.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6217920" y="1828800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828800"/>
            <a:ext cx="54864" cy="68580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251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720840" y="19659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requirements, evidence, and trade-offs to justify the next step.</a:t>
            </a:r>
            <a:endParaRPr lang="en-US" sz="640" dirty="0"/>
          </a:p>
        </p:txBody>
      </p:sp>
      <p:sp>
        <p:nvSpPr>
          <p:cNvPr id="16" name="Shape 13"/>
          <p:cNvSpPr/>
          <p:nvPr/>
        </p:nvSpPr>
        <p:spPr>
          <a:xfrm>
            <a:off x="822960" y="2880360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2880360"/>
            <a:ext cx="54864" cy="68580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7552" y="29992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325880" y="3017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only on making the prototype look complete.</a:t>
            </a:r>
            <a:endParaRPr lang="en-US" sz="640" dirty="0"/>
          </a:p>
        </p:txBody>
      </p:sp>
      <p:sp>
        <p:nvSpPr>
          <p:cNvPr id="20" name="Shape 17"/>
          <p:cNvSpPr/>
          <p:nvPr/>
        </p:nvSpPr>
        <p:spPr>
          <a:xfrm>
            <a:off x="6217920" y="2880360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7920" y="2880360"/>
            <a:ext cx="54864" cy="68580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82512" y="29992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720840" y="3017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documentation until the final presentation.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strongest capstone move appears on the next slide.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6" name="Text 23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4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VOTE REVEAL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5.10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Capstone Move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teams make decisions that can be traced back to evidence.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3017520" cy="128016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128016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24128" y="2331720"/>
            <a:ext cx="263347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requirements, evidence, and trade-offs to justify the next step.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4160520" y="1828800"/>
            <a:ext cx="3017520" cy="128016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828800"/>
            <a:ext cx="54864" cy="128016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511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61688" y="2331720"/>
            <a:ext cx="263347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connects the capstone decision to criteria, constraints, evidence, and engineering reasoning.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7498080" y="1828800"/>
            <a:ext cx="3017520" cy="128016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98080" y="1828800"/>
            <a:ext cx="54864" cy="128016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6267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699248" y="2331720"/>
            <a:ext cx="263347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final review should show what you decided, why you decided it, and what evidence supports it.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decisions should be defensible, not just finished.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2" name="Text 19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4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COURSE CONNECTION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5.10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Capstone Pulls POE Together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5 combines systems thinking, fabrication, testing, and communication.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85800" y="1600200"/>
            <a:ext cx="274320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600200"/>
            <a:ext cx="54864" cy="237744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1746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Mechanisms + structures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886968" y="2103120"/>
            <a:ext cx="235915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Loads, supports, motion, force transfer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quality and fit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Structural stability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3794760" y="1600200"/>
            <a:ext cx="274320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94760" y="1600200"/>
            <a:ext cx="54864" cy="237744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59352" y="1746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+ integration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995928" y="2103120"/>
            <a:ext cx="235915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Inputs, outputs, logic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Motors, sensors, or rover behavior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Subsystem interfaces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6903720" y="1600200"/>
            <a:ext cx="274320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03720" y="1600200"/>
            <a:ext cx="54864" cy="237744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68312" y="1746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+ defense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104888" y="2103120"/>
            <a:ext cx="235915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test plans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Graphs, observations, calculations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recommendations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1" name="Text 18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4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DELIVERABLE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5.10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evidence and structure/mechanism progress notes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artifact should make your capstone easier to understand, build, test, or defend.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178308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783080"/>
            <a:ext cx="54864" cy="210312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9293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include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32688" y="228600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labels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to requirements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evidence or reasoning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Enough detail for another person to follow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4160520" y="178308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783080"/>
            <a:ext cx="54864" cy="2103120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5112" y="19293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61688" y="228600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statements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Unlabeled sketches or data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 with no justification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Leaving changes undocumented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7589520" y="178308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89520" y="1783080"/>
            <a:ext cx="54864" cy="210312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54112" y="19293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it later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790688" y="228600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documentation package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review slides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plan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reflection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1" name="Text 18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4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GATE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5.10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Moving 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and check whether today’s work is ready to support the next capstone step.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1645920"/>
            <a:ext cx="9875520" cy="256032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645920"/>
            <a:ext cx="54864" cy="256032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792224"/>
            <a:ext cx="955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checklist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32688" y="2148840"/>
            <a:ext cx="9491472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deliverable matches the lesson purpose.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Requirements, constraints, or evidence are visible.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 is specific enough to guide a teammate.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Questions, risks, or weak points are documented.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action is clear.</a:t>
            </a:r>
            <a:endParaRPr lang="en-US" sz="620" dirty="0"/>
          </a:p>
        </p:txBody>
      </p:sp>
      <p:sp>
        <p:nvSpPr>
          <p:cNvPr id="12" name="Text 9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weak artifact creates confusion later; a strong artifact saves time during build and review.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14" name="Text 11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4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CHALLENGE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5.10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Would You Need?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team claims the capstone system is ready for final review. What evidence would make that claim credible?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658368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325880" y="19659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requirement or success metric tied to the mission problem.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6217920" y="182880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828800"/>
            <a:ext cx="54864" cy="658368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251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720840" y="19659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Photos, sketches, CAD, test data, and notes showing how the system changed.</a:t>
            </a:r>
            <a:endParaRPr lang="en-US" sz="640" dirty="0"/>
          </a:p>
        </p:txBody>
      </p:sp>
      <p:sp>
        <p:nvSpPr>
          <p:cNvPr id="16" name="Shape 13"/>
          <p:cNvSpPr/>
          <p:nvPr/>
        </p:nvSpPr>
        <p:spPr>
          <a:xfrm>
            <a:off x="822960" y="283464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2834640"/>
            <a:ext cx="54864" cy="658368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7552" y="29535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325880" y="297180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saying the design is probably good enough.</a:t>
            </a:r>
            <a:endParaRPr lang="en-US" sz="640" dirty="0"/>
          </a:p>
        </p:txBody>
      </p:sp>
      <p:sp>
        <p:nvSpPr>
          <p:cNvPr id="20" name="Shape 17"/>
          <p:cNvSpPr/>
          <p:nvPr/>
        </p:nvSpPr>
        <p:spPr>
          <a:xfrm>
            <a:off x="6217920" y="283464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7920" y="2834640"/>
            <a:ext cx="54864" cy="658368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82512" y="29535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720840" y="297180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final explanation that connects results to recommendations.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for the strongest evidence set. Then explain why.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6" name="Text 23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4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REVEAL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5.10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Evidence Set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evidence connects the claim to requirements and performance.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301752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137160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B + 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24128" y="2331720"/>
            <a:ext cx="263347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define what “ready” means; artifacts and test results show whether the system meets that standard.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4160520" y="1828800"/>
            <a:ext cx="301752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828800"/>
            <a:ext cx="54864" cy="1371600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511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 is weak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61688" y="2331720"/>
            <a:ext cx="263347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opinion may be useful feedback, but it is not enough to prove performance.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7498080" y="1828800"/>
            <a:ext cx="3017520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98080" y="1828800"/>
            <a:ext cx="54864" cy="137160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62672" y="19751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rule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699248" y="2331720"/>
            <a:ext cx="263347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need inspectable evidence: drawings, data, photos, calculations, notes, and explanations.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1" name="Text 18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4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GUIDED WORK TIME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5.10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Today’s Capstone Evidence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time to make measurable progress on the deliverable.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292608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691640"/>
            <a:ext cx="54864" cy="237744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1837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1: Set the target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886968" y="2194560"/>
            <a:ext cx="254203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be completed by the end of today for build evidence and structure/mechanism progress notes?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3794760" y="1691640"/>
            <a:ext cx="292608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94760" y="1691640"/>
            <a:ext cx="54864" cy="237744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59352" y="1837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2: Create evidence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995928" y="2194560"/>
            <a:ext cx="254203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in sketches, tables, CAD notes, test plans, diagrams, or written explanations as needed.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6903720" y="1691640"/>
            <a:ext cx="2926080" cy="2377440"/>
          </a:xfrm>
          <a:prstGeom prst="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03720" y="1691640"/>
            <a:ext cx="54864" cy="237744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68312" y="1837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3: Review quality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104888" y="2194560"/>
            <a:ext cx="2542032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clarity, labels, units, requirements, risks, and next steps before submission.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1" name="Text 18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4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ALIGNMENT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5.10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Individual Accountability in Team Work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when the capstone is collaborative, each student should understand the system and evidence.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77240" y="1737360"/>
            <a:ext cx="2971800" cy="2011680"/>
          </a:xfrm>
          <a:prstGeom prst="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737360"/>
            <a:ext cx="54864" cy="201168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1832" y="18836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own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78408" y="2240280"/>
            <a:ext cx="258775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assigned task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documentation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evidence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explanation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4160520" y="1737360"/>
            <a:ext cx="2971800" cy="2011680"/>
          </a:xfrm>
          <a:prstGeom prst="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737360"/>
            <a:ext cx="54864" cy="201168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5112" y="18836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align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61688" y="2240280"/>
            <a:ext cx="258775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Subsystem interfaces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plan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claim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7543800" y="1737360"/>
            <a:ext cx="2971800" cy="2011680"/>
          </a:xfrm>
          <a:prstGeom prst="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43800" y="1737360"/>
            <a:ext cx="54864" cy="201168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08392" y="18836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defend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744968" y="2240280"/>
            <a:ext cx="258775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decisions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results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Trade-offs</a:t>
            </a:r>
            <a:endParaRPr lang="en-US" sz="620" dirty="0"/>
          </a:p>
          <a:p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improvements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1" name="Text 18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4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CHECK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5.10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Team Do Next?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your capstone prototype works once but fails twice, what should the team do next?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828800"/>
            <a:ext cx="54864" cy="658368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325880" y="19659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the failed trials because one test worked.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6217920" y="182880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828800"/>
            <a:ext cx="54864" cy="658368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2512" y="1947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720840" y="19659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all trials and use the failure pattern to improve the system.</a:t>
            </a:r>
            <a:endParaRPr lang="en-US" sz="640" dirty="0"/>
          </a:p>
        </p:txBody>
      </p:sp>
      <p:sp>
        <p:nvSpPr>
          <p:cNvPr id="16" name="Shape 13"/>
          <p:cNvSpPr/>
          <p:nvPr/>
        </p:nvSpPr>
        <p:spPr>
          <a:xfrm>
            <a:off x="822960" y="283464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2834640"/>
            <a:ext cx="54864" cy="658368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7552" y="29535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325880" y="297180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use the best result in the final presentation.</a:t>
            </a:r>
            <a:endParaRPr lang="en-US" sz="640" dirty="0"/>
          </a:p>
        </p:txBody>
      </p:sp>
      <p:sp>
        <p:nvSpPr>
          <p:cNvPr id="20" name="Shape 17"/>
          <p:cNvSpPr/>
          <p:nvPr/>
        </p:nvSpPr>
        <p:spPr>
          <a:xfrm>
            <a:off x="6217920" y="283464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7920" y="2834640"/>
            <a:ext cx="54864" cy="658368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82512" y="29535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720840" y="297180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testing and move to decoration.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reveal the engineering response.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6" name="Text 23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4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CHECK REVEAL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5.10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Problems as Evidence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 results are not something to hide; they are something to investigate.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4480560" cy="1325880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4864" cy="132588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3272" y="19751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69848" y="2331720"/>
            <a:ext cx="40965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all trials, identify the failure mode, revise the weak subsystem or test setup, and retest before making a final claim.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6035040" y="1828800"/>
            <a:ext cx="4480560" cy="1325880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1828800"/>
            <a:ext cx="54864" cy="132588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9632" y="19751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habit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236208" y="2331720"/>
            <a:ext cx="40965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final capstone defense is stronger when it honestly explains problems, evidence, and improvements.</a:t>
            </a:r>
            <a:endParaRPr lang="en-US" sz="620" dirty="0"/>
          </a:p>
        </p:txBody>
      </p:sp>
      <p:sp>
        <p:nvSpPr>
          <p:cNvPr id="16" name="Text 13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engineering story includes what changed and why it changed.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18" name="Text 15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4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71C31"/>
          </a:solidFill>
          <a:ln w="12700">
            <a:solidFill>
              <a:srgbClr val="071C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D7A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MISSION DEBRIEF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4572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" dirty="0">
                <a:solidFill>
                  <a:srgbClr val="B8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5 • Lesson 5.10</a:t>
            </a:r>
            <a:endParaRPr lang="en-US" sz="470" dirty="0"/>
          </a:p>
        </p:txBody>
      </p:sp>
      <p:pic>
        <p:nvPicPr>
          <p:cNvPr id="5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82296"/>
            <a:ext cx="960120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685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2252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today’s work moved your capstone forward.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173736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737360"/>
            <a:ext cx="54864" cy="210312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8836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32688" y="224028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did you complete or improve today?</a:t>
            </a:r>
            <a:endParaRPr lang="en-US" sz="620" dirty="0"/>
          </a:p>
        </p:txBody>
      </p:sp>
      <p:sp>
        <p:nvSpPr>
          <p:cNvPr id="12" name="Shape 9"/>
          <p:cNvSpPr/>
          <p:nvPr/>
        </p:nvSpPr>
        <p:spPr>
          <a:xfrm>
            <a:off x="4160520" y="173736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737360"/>
            <a:ext cx="54864" cy="210312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5112" y="18836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61688" y="224028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or reasoning supports that work?</a:t>
            </a:r>
            <a:endParaRPr lang="en-US" sz="620" dirty="0"/>
          </a:p>
        </p:txBody>
      </p:sp>
      <p:sp>
        <p:nvSpPr>
          <p:cNvPr id="16" name="Shape 13"/>
          <p:cNvSpPr/>
          <p:nvPr/>
        </p:nvSpPr>
        <p:spPr>
          <a:xfrm>
            <a:off x="7589520" y="1737360"/>
            <a:ext cx="3017520" cy="2103120"/>
          </a:xfrm>
          <a:prstGeom prst="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89520" y="1737360"/>
            <a:ext cx="54864" cy="210312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54112" y="18836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790688" y="2240280"/>
            <a:ext cx="263347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next risk, question, or action?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822960" y="58064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mission: Lesson 5.11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20040" y="6473952"/>
            <a:ext cx="3383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5</a:t>
            </a:r>
            <a:endParaRPr lang="en-US" sz="460" dirty="0"/>
          </a:p>
        </p:txBody>
      </p:sp>
      <p:sp>
        <p:nvSpPr>
          <p:cNvPr id="22" name="Text 19"/>
          <p:cNvSpPr/>
          <p:nvPr/>
        </p:nvSpPr>
        <p:spPr>
          <a:xfrm>
            <a:off x="11082528" y="64739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" dirty="0">
                <a:solidFill>
                  <a:srgbClr val="8396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5.10</a:t>
            </a:r>
            <a:endParaRPr lang="en-US" sz="4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D7AB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CARRY-FORWARD</a:t>
            </a:r>
            <a:endParaRPr lang="en-US" sz="62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final design is only as strong as the evidence you can explain.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94360" y="2743200"/>
            <a:ext cx="274320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743200"/>
            <a:ext cx="54864" cy="1188720"/>
          </a:xfrm>
          <a:prstGeom prst="rect">
            <a:avLst/>
          </a:prstGeom>
          <a:solidFill>
            <a:srgbClr val="D7AB3E"/>
          </a:solidFill>
          <a:ln w="12700">
            <a:solidFill>
              <a:srgbClr val="D7A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889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95528" y="3246120"/>
            <a:ext cx="235915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the work clearly.</a:t>
            </a:r>
            <a:endParaRPr lang="en-US" sz="620" dirty="0"/>
          </a:p>
        </p:txBody>
      </p:sp>
      <p:sp>
        <p:nvSpPr>
          <p:cNvPr id="8" name="Shape 6"/>
          <p:cNvSpPr/>
          <p:nvPr/>
        </p:nvSpPr>
        <p:spPr>
          <a:xfrm>
            <a:off x="3657600" y="2743200"/>
            <a:ext cx="274320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2743200"/>
            <a:ext cx="54864" cy="1188720"/>
          </a:xfrm>
          <a:prstGeom prst="rect">
            <a:avLst/>
          </a:prstGeom>
          <a:solidFill>
            <a:srgbClr val="0A5D87"/>
          </a:solidFill>
          <a:ln w="12700">
            <a:solidFill>
              <a:srgbClr val="0A5D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22192" y="2889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58768" y="3246120"/>
            <a:ext cx="235915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evidence honestly.</a:t>
            </a:r>
            <a:endParaRPr lang="en-US" sz="620" dirty="0"/>
          </a:p>
        </p:txBody>
      </p:sp>
      <p:sp>
        <p:nvSpPr>
          <p:cNvPr id="12" name="Shape 10"/>
          <p:cNvSpPr/>
          <p:nvPr/>
        </p:nvSpPr>
        <p:spPr>
          <a:xfrm>
            <a:off x="6720840" y="2743200"/>
            <a:ext cx="2743200" cy="118872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BE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0840" y="2743200"/>
            <a:ext cx="54864" cy="1188720"/>
          </a:xfrm>
          <a:prstGeom prst="rect">
            <a:avLst/>
          </a:prstGeom>
          <a:solidFill>
            <a:srgbClr val="2B9862"/>
          </a:solidFill>
          <a:ln w="12700">
            <a:solidFill>
              <a:srgbClr val="2B98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85432" y="2889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922008" y="3246120"/>
            <a:ext cx="235915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425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decisions to proof.</a:t>
            </a:r>
            <a:endParaRPr lang="en-US" sz="620" dirty="0"/>
          </a:p>
        </p:txBody>
      </p:sp>
      <p:pic>
        <p:nvPicPr>
          <p:cNvPr id="16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5989320"/>
            <a:ext cx="1143000" cy="256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POE Unit 5 Lesson 5.10: Prototype Build Day 1: Structure and Mechanism</dc:title>
  <dc:subject>POE Unit 5 Capstone Lesson Presentation</dc:subject>
  <dc:creator>LockwoodSTEM</dc:creator>
  <cp:lastModifiedBy>LockwoodSTEM</cp:lastModifiedBy>
  <cp:revision>1</cp:revision>
  <dcterms:created xsi:type="dcterms:W3CDTF">2026-07-17T23:50:21Z</dcterms:created>
  <dcterms:modified xsi:type="dcterms:W3CDTF">2026-07-17T23:50:21Z</dcterms:modified>
</cp:coreProperties>
</file>