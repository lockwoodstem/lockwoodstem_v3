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ockwoodstem-logo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347472"/>
            <a:ext cx="1463040" cy="685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123444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IED UNIT 5 • LESSON 5.9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1572768"/>
            <a:ext cx="758952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Prototype Build Day 1: Structure and Core Function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02920" y="294436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FD7F7"/>
                </a:solidFill>
              </a:rPr>
              <a:t>FOCUS QUESTION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02920" y="3200400"/>
            <a:ext cx="768096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do engineers move from a planned design to a physical prototype while documenting changes along the way?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94360" y="462686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1A83F"/>
                </a:solidFill>
              </a:rPr>
              <a:t>BUILD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94360" y="490118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6FF"/>
                </a:solidFill>
              </a:rPr>
              <a:t>the user need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743200" y="462686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1A83F"/>
                </a:solidFill>
              </a:rPr>
              <a:t>DOCUMENT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743200" y="490118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6FF"/>
                </a:solidFill>
              </a:rPr>
              <a:t>design evidence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892040" y="462686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1A83F"/>
                </a:solidFill>
              </a:rPr>
              <a:t>ADJUST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892040" y="490118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6FF"/>
                </a:solidFill>
              </a:rPr>
              <a:t>responsibly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02920" y="5998464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EAF7"/>
                </a:solidFill>
              </a:rPr>
              <a:t>Human-Centered Aerospace Design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MISSION BRIEFING</a:t>
            </a:r>
            <a:endParaRPr lang="en-US" sz="1050" dirty="0"/>
          </a:p>
        </p:txBody>
      </p:sp>
      <p:pic>
        <p:nvPicPr>
          <p:cNvPr id="3" name="Image 0" descr="/mnt/data/lockwoodstem-logo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9648" y="146304"/>
            <a:ext cx="74980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68580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45-Minute Flight Plan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84048" y="128016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25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full lesson for the Unit 5 capstone sequence.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6537960"/>
            <a:ext cx="6583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5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10588752" y="6537960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5.9</a:t>
            </a:r>
            <a:endParaRPr lang="en-US" sz="780" dirty="0"/>
          </a:p>
        </p:txBody>
      </p:sp>
      <p:sp>
        <p:nvSpPr>
          <p:cNvPr id="9" name="Shape 6"/>
          <p:cNvSpPr/>
          <p:nvPr/>
        </p:nvSpPr>
        <p:spPr>
          <a:xfrm>
            <a:off x="502920" y="1691640"/>
            <a:ext cx="5212080" cy="2468880"/>
          </a:xfrm>
          <a:prstGeom prst="roundRect">
            <a:avLst>
              <a:gd name="adj" fmla="val 4444"/>
            </a:avLst>
          </a:prstGeom>
          <a:solidFill>
            <a:srgbClr val="F7FBFF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18745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TARGETS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777240" y="2157984"/>
            <a:ext cx="4572000" cy="11155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Begin constructing the prototype from the approved plan.
</a:t>
            </a:r>
            <a:pPr indent="0" marL="0">
              <a:buNone/>
            </a:pPr>
            <a:r>
              <a:rPr lang="en-US" sz="122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 changes made during construction.
</a:t>
            </a:r>
            <a:pPr indent="0" marL="0">
              <a:buNone/>
            </a:pPr>
            <a:r>
              <a:rPr lang="en-US" sz="122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early build problems and possible fixes.</a:t>
            </a:r>
            <a:endParaRPr lang="en-US" sz="1220" dirty="0"/>
          </a:p>
        </p:txBody>
      </p:sp>
      <p:sp>
        <p:nvSpPr>
          <p:cNvPr id="12" name="Text 9"/>
          <p:cNvSpPr/>
          <p:nvPr/>
        </p:nvSpPr>
        <p:spPr>
          <a:xfrm>
            <a:off x="777240" y="349300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SUCCESS LOOKS LIKE...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777240" y="3730752"/>
            <a:ext cx="4617720" cy="42062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 can begin building the prototype structure or core function while documenting changes and issues.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989320" y="1691640"/>
            <a:ext cx="5413248" cy="3246120"/>
          </a:xfrm>
          <a:prstGeom prst="roundRect">
            <a:avLst>
              <a:gd name="adj" fmla="val 3380"/>
            </a:avLst>
          </a:prstGeom>
          <a:solidFill>
            <a:srgbClr val="FFFDF6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63640" y="187452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AGENDA + PACING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6263640" y="2157984"/>
            <a:ext cx="4663440" cy="1874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min  Opening prompt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min  Core skill briefing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min  Capstone evidence map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min  Team or individual planning move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min  Evidence challenge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min  Scenario/quick check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min  Exit debrief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OPENING PROMPT</a:t>
            </a:r>
            <a:endParaRPr lang="en-US" sz="1050" dirty="0"/>
          </a:p>
        </p:txBody>
      </p:sp>
      <p:pic>
        <p:nvPicPr>
          <p:cNvPr id="3" name="Image 0" descr="/mnt/data/lockwoodstem-logo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9648" y="146304"/>
            <a:ext cx="74980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68580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do engineers move from a planned design to a physical prototype while documenting changes along the way?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84048" y="128016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25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Think first. Then share one short response.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6537960"/>
            <a:ext cx="6583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5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10588752" y="6537960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5.9</a:t>
            </a:r>
            <a:endParaRPr lang="en-US" sz="780" dirty="0"/>
          </a:p>
        </p:txBody>
      </p:sp>
      <p:sp>
        <p:nvSpPr>
          <p:cNvPr id="9" name="Shape 6"/>
          <p:cNvSpPr/>
          <p:nvPr/>
        </p:nvSpPr>
        <p:spPr>
          <a:xfrm>
            <a:off x="594360" y="1828800"/>
            <a:ext cx="6766560" cy="2240280"/>
          </a:xfrm>
          <a:prstGeom prst="roundRect">
            <a:avLst>
              <a:gd name="adj" fmla="val 4898"/>
            </a:avLst>
          </a:prstGeom>
          <a:solidFill>
            <a:srgbClr val="F4F9FD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2121408"/>
            <a:ext cx="256032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class share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68680" y="2514600"/>
            <a:ext cx="5989320" cy="731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Raise your hand or jot a quick response. Connect your answer to a user, stakeholder, constraint, evidence, or design decision.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868680" y="3703320"/>
            <a:ext cx="530352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425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will reveal a useful engineering move on the next slide.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909560" y="2057400"/>
            <a:ext cx="914400" cy="329184"/>
          </a:xfrm>
          <a:prstGeom prst="roundRect">
            <a:avLst>
              <a:gd name="adj" fmla="val 41667"/>
            </a:avLst>
          </a:prstGeom>
          <a:solidFill>
            <a:srgbClr val="D9ECFF"/>
          </a:solidFill>
          <a:ln w="12700">
            <a:solidFill>
              <a:srgbClr val="D9EC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946136" y="2139696"/>
            <a:ext cx="841248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8979408" y="2057400"/>
            <a:ext cx="914400" cy="329184"/>
          </a:xfrm>
          <a:prstGeom prst="roundRect">
            <a:avLst>
              <a:gd name="adj" fmla="val 41667"/>
            </a:avLst>
          </a:prstGeom>
          <a:solidFill>
            <a:srgbClr val="D9ECFF"/>
          </a:solidFill>
          <a:ln w="12700">
            <a:solidFill>
              <a:srgbClr val="D9EC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015984" y="2139696"/>
            <a:ext cx="841248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10040112" y="2057400"/>
            <a:ext cx="1280160" cy="329184"/>
          </a:xfrm>
          <a:prstGeom prst="roundRect">
            <a:avLst>
              <a:gd name="adj" fmla="val 41667"/>
            </a:avLst>
          </a:prstGeom>
          <a:solidFill>
            <a:srgbClr val="D9ECFF"/>
          </a:solidFill>
          <a:ln w="12700">
            <a:solidFill>
              <a:srgbClr val="D9EC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076688" y="2139696"/>
            <a:ext cx="1207008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8412480" y="2743200"/>
            <a:ext cx="1280160" cy="329184"/>
          </a:xfrm>
          <a:prstGeom prst="roundRect">
            <a:avLst>
              <a:gd name="adj" fmla="val 41667"/>
            </a:avLst>
          </a:prstGeom>
          <a:solidFill>
            <a:srgbClr val="D9ECFF"/>
          </a:solidFill>
          <a:ln w="12700">
            <a:solidFill>
              <a:srgbClr val="D9EC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449056" y="2825496"/>
            <a:ext cx="1207008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9857232" y="2743200"/>
            <a:ext cx="1143000" cy="329184"/>
          </a:xfrm>
          <a:prstGeom prst="roundRect">
            <a:avLst>
              <a:gd name="adj" fmla="val 41667"/>
            </a:avLst>
          </a:prstGeom>
          <a:solidFill>
            <a:srgbClr val="D9ECFF"/>
          </a:solidFill>
          <a:ln w="12700">
            <a:solidFill>
              <a:srgbClr val="D9ECF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893808" y="2825496"/>
            <a:ext cx="1069848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IMPACT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OPENING DEBRIEF</a:t>
            </a:r>
            <a:endParaRPr lang="en-US" sz="1050" dirty="0"/>
          </a:p>
        </p:txBody>
      </p:sp>
      <p:pic>
        <p:nvPicPr>
          <p:cNvPr id="3" name="Image 0" descr="/mnt/data/lockwoodstem-logo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9648" y="146304"/>
            <a:ext cx="74980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68580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Useful Engineering Move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84048" y="128016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25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Human-centered engineering turns a need into evidence-based design decisions.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6537960"/>
            <a:ext cx="6583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5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10588752" y="6537960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5.9</a:t>
            </a:r>
            <a:endParaRPr lang="en-US" sz="780" dirty="0"/>
          </a:p>
        </p:txBody>
      </p:sp>
      <p:sp>
        <p:nvSpPr>
          <p:cNvPr id="9" name="Shape 6"/>
          <p:cNvSpPr/>
          <p:nvPr/>
        </p:nvSpPr>
        <p:spPr>
          <a:xfrm>
            <a:off x="621792" y="1645920"/>
            <a:ext cx="5029200" cy="1234440"/>
          </a:xfrm>
          <a:prstGeom prst="roundRect">
            <a:avLst>
              <a:gd name="adj" fmla="val 8889"/>
            </a:avLst>
          </a:prstGeom>
          <a:solidFill>
            <a:srgbClr val="F7FBFF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77824" y="187452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WITH PEOPLE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877824" y="2176272"/>
            <a:ext cx="4480560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Name who is affected and what they need.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108192" y="1645920"/>
            <a:ext cx="5029200" cy="1234440"/>
          </a:xfrm>
          <a:prstGeom prst="roundRect">
            <a:avLst>
              <a:gd name="adj" fmla="val 8889"/>
            </a:avLst>
          </a:prstGeom>
          <a:solidFill>
            <a:srgbClr val="F7FBFF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64224" y="187452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SUCCESS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6364224" y="2176272"/>
            <a:ext cx="4480560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criteria and constraints before choosing a solution.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21792" y="3337560"/>
            <a:ext cx="5029200" cy="1234440"/>
          </a:xfrm>
          <a:prstGeom prst="roundRect">
            <a:avLst>
              <a:gd name="adj" fmla="val 8889"/>
            </a:avLst>
          </a:prstGeom>
          <a:solidFill>
            <a:srgbClr val="F7FBFF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77824" y="356616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EVIDENCE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877824" y="3867912"/>
            <a:ext cx="4480560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sketches, CAD, tests, feedback, and revision notes.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108192" y="3337560"/>
            <a:ext cx="5029200" cy="1234440"/>
          </a:xfrm>
          <a:prstGeom prst="roundRect">
            <a:avLst>
              <a:gd name="adj" fmla="val 8889"/>
            </a:avLst>
          </a:prstGeom>
          <a:solidFill>
            <a:srgbClr val="F7FBFF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364224" y="356616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COMMUNICATE RESPONSIBLY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6364224" y="3867912"/>
            <a:ext cx="4480560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value, limitations, and future improvements.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85800" y="5623560"/>
            <a:ext cx="1078992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Today’s mission: connect the lesson skill to a user-centered design decision that can be defended with evidence.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INTERACTIVE VOTE</a:t>
            </a:r>
            <a:endParaRPr lang="en-US" sz="1050" dirty="0"/>
          </a:p>
        </p:txBody>
      </p:sp>
      <p:pic>
        <p:nvPicPr>
          <p:cNvPr id="3" name="Image 0" descr="/mnt/data/lockwoodstem-logo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9648" y="146304"/>
            <a:ext cx="74980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68580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Which Action Fits Human-Centered Engineering?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84048" y="128016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25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Hold up fingers 1–4 or vote silently. Then justify your choice.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6537960"/>
            <a:ext cx="6583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5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10588752" y="6537960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5.9</a:t>
            </a:r>
            <a:endParaRPr lang="en-US" sz="780" dirty="0"/>
          </a:p>
        </p:txBody>
      </p:sp>
      <p:sp>
        <p:nvSpPr>
          <p:cNvPr id="9" name="Text 6"/>
          <p:cNvSpPr/>
          <p:nvPr/>
        </p:nvSpPr>
        <p:spPr>
          <a:xfrm>
            <a:off x="594360" y="1783080"/>
            <a:ext cx="822960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Prompt: Which action best supports a responsible capstone design?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40080" y="2606040"/>
            <a:ext cx="5303520" cy="868680"/>
          </a:xfrm>
          <a:prstGeom prst="roundRect">
            <a:avLst>
              <a:gd name="adj" fmla="val 12632"/>
            </a:avLst>
          </a:prstGeom>
          <a:solidFill>
            <a:srgbClr val="F4F9FD"/>
          </a:solidFill>
          <a:ln w="12700">
            <a:solidFill>
              <a:srgbClr val="BFD3E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86384" y="2752344"/>
            <a:ext cx="329184" cy="329184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4108" y="2816352"/>
            <a:ext cx="164592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225296" y="2752344"/>
            <a:ext cx="4590288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the idea that is easiest for the team to build.</a:t>
            </a:r>
            <a:endParaRPr lang="en-US" sz="1220" dirty="0"/>
          </a:p>
        </p:txBody>
      </p:sp>
      <p:sp>
        <p:nvSpPr>
          <p:cNvPr id="14" name="Shape 11"/>
          <p:cNvSpPr/>
          <p:nvPr/>
        </p:nvSpPr>
        <p:spPr>
          <a:xfrm>
            <a:off x="6217920" y="2606040"/>
            <a:ext cx="5303520" cy="868680"/>
          </a:xfrm>
          <a:prstGeom prst="roundRect">
            <a:avLst>
              <a:gd name="adj" fmla="val 12632"/>
            </a:avLst>
          </a:prstGeom>
          <a:solidFill>
            <a:srgbClr val="F4F9FD"/>
          </a:solidFill>
          <a:ln w="12700">
            <a:solidFill>
              <a:srgbClr val="BFD3E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364224" y="2752344"/>
            <a:ext cx="329184" cy="329184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41948" y="2816352"/>
            <a:ext cx="164592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803136" y="2752344"/>
            <a:ext cx="4590288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what the user needs, define criteria, then build evidence.</a:t>
            </a:r>
            <a:endParaRPr lang="en-US" sz="1220" dirty="0"/>
          </a:p>
        </p:txBody>
      </p:sp>
      <p:sp>
        <p:nvSpPr>
          <p:cNvPr id="18" name="Shape 15"/>
          <p:cNvSpPr/>
          <p:nvPr/>
        </p:nvSpPr>
        <p:spPr>
          <a:xfrm>
            <a:off x="640080" y="3703320"/>
            <a:ext cx="5303520" cy="868680"/>
          </a:xfrm>
          <a:prstGeom prst="roundRect">
            <a:avLst>
              <a:gd name="adj" fmla="val 12632"/>
            </a:avLst>
          </a:prstGeom>
          <a:solidFill>
            <a:srgbClr val="F4F9FD"/>
          </a:solidFill>
          <a:ln w="12700">
            <a:solidFill>
              <a:srgbClr val="BFD3E6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86384" y="3849624"/>
            <a:ext cx="329184" cy="329184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64108" y="3913632"/>
            <a:ext cx="164592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225296" y="3849624"/>
            <a:ext cx="4590288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the prototype look finished before testing it.</a:t>
            </a:r>
            <a:endParaRPr lang="en-US" sz="1220" dirty="0"/>
          </a:p>
        </p:txBody>
      </p:sp>
      <p:sp>
        <p:nvSpPr>
          <p:cNvPr id="22" name="Shape 19"/>
          <p:cNvSpPr/>
          <p:nvPr/>
        </p:nvSpPr>
        <p:spPr>
          <a:xfrm>
            <a:off x="6217920" y="3703320"/>
            <a:ext cx="5303520" cy="868680"/>
          </a:xfrm>
          <a:prstGeom prst="roundRect">
            <a:avLst>
              <a:gd name="adj" fmla="val 12632"/>
            </a:avLst>
          </a:prstGeom>
          <a:solidFill>
            <a:srgbClr val="F4F9FD"/>
          </a:solidFill>
          <a:ln w="12700">
            <a:solidFill>
              <a:srgbClr val="BFD3E6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364224" y="3849624"/>
            <a:ext cx="329184" cy="329184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441948" y="3913632"/>
            <a:ext cx="164592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803136" y="3849624"/>
            <a:ext cx="4590288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Ignore stakeholder feedback because the team already has a plan.</a:t>
            </a:r>
            <a:endParaRPr lang="en-US" sz="1220" dirty="0"/>
          </a:p>
        </p:txBody>
      </p:sp>
      <p:sp>
        <p:nvSpPr>
          <p:cNvPr id="26" name="Text 23"/>
          <p:cNvSpPr/>
          <p:nvPr/>
        </p:nvSpPr>
        <p:spPr>
          <a:xfrm>
            <a:off x="640080" y="5212080"/>
            <a:ext cx="987552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425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first. Then we will reveal the strongest engineering choice.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REVEAL</a:t>
            </a:r>
            <a:endParaRPr lang="en-US" sz="1050" dirty="0"/>
          </a:p>
        </p:txBody>
      </p:sp>
      <p:pic>
        <p:nvPicPr>
          <p:cNvPr id="3" name="Image 0" descr="/mnt/data/lockwoodstem-logo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9648" y="146304"/>
            <a:ext cx="74980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68580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Best Answer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84048" y="128016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25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Human-centered engineering uses user needs and evidence to guide design decisions.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6537960"/>
            <a:ext cx="6583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5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10588752" y="6537960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5.9</a:t>
            </a:r>
            <a:endParaRPr lang="en-US" sz="780" dirty="0"/>
          </a:p>
        </p:txBody>
      </p:sp>
      <p:sp>
        <p:nvSpPr>
          <p:cNvPr id="9" name="Shape 6"/>
          <p:cNvSpPr/>
          <p:nvPr/>
        </p:nvSpPr>
        <p:spPr>
          <a:xfrm>
            <a:off x="685800" y="1600200"/>
            <a:ext cx="3749040" cy="3200400"/>
          </a:xfrm>
          <a:prstGeom prst="roundRect">
            <a:avLst>
              <a:gd name="adj" fmla="val 3429"/>
            </a:avLst>
          </a:prstGeom>
          <a:solidFill>
            <a:srgbClr val="061B31"/>
          </a:solidFill>
          <a:ln w="12700">
            <a:solidFill>
              <a:srgbClr val="35557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1920240"/>
            <a:ext cx="320040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2C1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answer: 2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960120" y="2423160"/>
            <a:ext cx="2971800" cy="777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what the user needs, define criteria, then build evidence.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4754880" y="1600200"/>
            <a:ext cx="3017520" cy="3200400"/>
          </a:xfrm>
          <a:prstGeom prst="roundRect">
            <a:avLst>
              <a:gd name="adj" fmla="val 3636"/>
            </a:avLst>
          </a:prstGeom>
          <a:solidFill>
            <a:srgbClr val="F7FBFF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29200" y="192024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FITS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5029200" y="2331720"/>
            <a:ext cx="2331720" cy="777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connects the design to people, constraints, and proof.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8092440" y="1600200"/>
            <a:ext cx="3017520" cy="3200400"/>
          </a:xfrm>
          <a:prstGeom prst="roundRect">
            <a:avLst>
              <a:gd name="adj" fmla="val 3636"/>
            </a:avLst>
          </a:prstGeom>
          <a:solidFill>
            <a:srgbClr val="F7FBFF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366760" y="192024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THE OTHERS MISS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8366760" y="2331720"/>
            <a:ext cx="2331720" cy="777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They focus on ease, appearance, or ignoring feedback.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777240" y="5486400"/>
            <a:ext cx="10561320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Carry-forward idea: your design decisions should be traceable to user needs, criteria, evidence, and responsible impact.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SKILL</a:t>
            </a:r>
            <a:endParaRPr lang="en-US" sz="1050" dirty="0"/>
          </a:p>
        </p:txBody>
      </p:sp>
      <p:pic>
        <p:nvPicPr>
          <p:cNvPr id="3" name="Image 0" descr="/mnt/data/lockwoodstem-logo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9648" y="146304"/>
            <a:ext cx="74980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68580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Prototype Build Day 1: Structure and Core Function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84048" y="128016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25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today’s lesson contributes to the capstone.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6537960"/>
            <a:ext cx="6583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5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10588752" y="6537960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5.9</a:t>
            </a:r>
            <a:endParaRPr lang="en-US" sz="780" dirty="0"/>
          </a:p>
        </p:txBody>
      </p:sp>
      <p:sp>
        <p:nvSpPr>
          <p:cNvPr id="9" name="Shape 6"/>
          <p:cNvSpPr/>
          <p:nvPr/>
        </p:nvSpPr>
        <p:spPr>
          <a:xfrm>
            <a:off x="594360" y="1783080"/>
            <a:ext cx="5212080" cy="3291840"/>
          </a:xfrm>
          <a:prstGeom prst="roundRect">
            <a:avLst>
              <a:gd name="adj" fmla="val 3333"/>
            </a:avLst>
          </a:prstGeom>
          <a:solidFill>
            <a:srgbClr val="F7FBFF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2048256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 YOU WILL PRACTICE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868680" y="2404872"/>
            <a:ext cx="4572000" cy="1371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4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Begin constructing the prototype from the approved plan.
</a:t>
            </a:r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4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 changes made during construction.
</a:t>
            </a:r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4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early build problems and possible fixes.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126480" y="1783080"/>
            <a:ext cx="5394960" cy="3291840"/>
          </a:xfrm>
          <a:prstGeom prst="roundRect">
            <a:avLst>
              <a:gd name="adj" fmla="val 3333"/>
            </a:avLst>
          </a:prstGeom>
          <a:solidFill>
            <a:srgbClr val="FFFDF6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0" y="2048256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CAPSTONE CONNECTION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6400800" y="2404872"/>
            <a:ext cx="4709160" cy="914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 can begin building the prototype structure or core function while documenting changes and issues.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6400800" y="3703320"/>
            <a:ext cx="4663440" cy="5669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425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evidence should help your team explain the user need, design choices, testing, revision, and final recommendation.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CAPSTONE CONNECTION MAP</a:t>
            </a:r>
            <a:endParaRPr lang="en-US" sz="1050" dirty="0"/>
          </a:p>
        </p:txBody>
      </p:sp>
      <p:pic>
        <p:nvPicPr>
          <p:cNvPr id="3" name="Image 0" descr="/mnt/data/lockwoodstem-logo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9648" y="146304"/>
            <a:ext cx="74980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68580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Lesson Skill to Final Portfolio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84048" y="128016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25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how today’s work becomes evidence later.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6537960"/>
            <a:ext cx="6583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5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10588752" y="6537960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5.9</a:t>
            </a:r>
            <a:endParaRPr lang="en-US" sz="780" dirty="0"/>
          </a:p>
        </p:txBody>
      </p:sp>
      <p:sp>
        <p:nvSpPr>
          <p:cNvPr id="9" name="Shape 6"/>
          <p:cNvSpPr/>
          <p:nvPr/>
        </p:nvSpPr>
        <p:spPr>
          <a:xfrm>
            <a:off x="594360" y="1874520"/>
            <a:ext cx="2423160" cy="2011680"/>
          </a:xfrm>
          <a:prstGeom prst="roundRect">
            <a:avLst>
              <a:gd name="adj" fmla="val 5455"/>
            </a:avLst>
          </a:prstGeom>
          <a:solidFill>
            <a:srgbClr val="F4F9FD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214884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NEED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777240" y="2606040"/>
            <a:ext cx="2057400" cy="731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needs something and why?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3456432" y="1874520"/>
            <a:ext cx="2423160" cy="2011680"/>
          </a:xfrm>
          <a:prstGeom prst="roundRect">
            <a:avLst>
              <a:gd name="adj" fmla="val 5455"/>
            </a:avLst>
          </a:prstGeom>
          <a:solidFill>
            <a:srgbClr val="F4F9FD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639312" y="214884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CHOICE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3639312" y="2606040"/>
            <a:ext cx="2057400" cy="731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will the team build or change?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318504" y="1874520"/>
            <a:ext cx="2423160" cy="2011680"/>
          </a:xfrm>
          <a:prstGeom prst="roundRect">
            <a:avLst>
              <a:gd name="adj" fmla="val 5455"/>
            </a:avLst>
          </a:prstGeom>
          <a:solidFill>
            <a:srgbClr val="F4F9FD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501384" y="214884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6501384" y="2606040"/>
            <a:ext cx="2057400" cy="731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proves the decision is reasonable?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9180576" y="1874520"/>
            <a:ext cx="2423160" cy="2011680"/>
          </a:xfrm>
          <a:prstGeom prst="roundRect">
            <a:avLst>
              <a:gd name="adj" fmla="val 5455"/>
            </a:avLst>
          </a:prstGeom>
          <a:solidFill>
            <a:srgbClr val="F4F9FD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363456" y="214884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PORTFOLIO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9363456" y="2606040"/>
            <a:ext cx="2057400" cy="731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will the story be communicated?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685800" y="5349240"/>
            <a:ext cx="10698480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Share-out target: one lesson artifact + one way it can support the final capstone presentation.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MINDSET SHIFT</a:t>
            </a:r>
            <a:endParaRPr lang="en-US" sz="1050" dirty="0"/>
          </a:p>
        </p:txBody>
      </p:sp>
      <p:pic>
        <p:nvPicPr>
          <p:cNvPr id="3" name="Image 0" descr="/mnt/data/lockwoodstem-logo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9648" y="146304"/>
            <a:ext cx="74980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68580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Task Completion vs. Engineering Evidence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84048" y="128016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25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goal is not just to finish; the goal is to defend design decisions.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6537960"/>
            <a:ext cx="6583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5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10588752" y="6537960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5.9</a:t>
            </a:r>
            <a:endParaRPr lang="en-US" sz="780" dirty="0"/>
          </a:p>
        </p:txBody>
      </p:sp>
      <p:sp>
        <p:nvSpPr>
          <p:cNvPr id="9" name="Shape 6"/>
          <p:cNvSpPr/>
          <p:nvPr/>
        </p:nvSpPr>
        <p:spPr>
          <a:xfrm>
            <a:off x="685800" y="1691640"/>
            <a:ext cx="5074920" cy="3246120"/>
          </a:xfrm>
          <a:prstGeom prst="roundRect">
            <a:avLst>
              <a:gd name="adj" fmla="val 3380"/>
            </a:avLst>
          </a:prstGeom>
          <a:solidFill>
            <a:srgbClr val="F7FBFF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196596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COMPLETION MINDSET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960120" y="2359152"/>
            <a:ext cx="4389120" cy="1508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Focuses on getting something done
</a:t>
            </a:r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May choose the fastest answer
</a:t>
            </a:r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Often hides mistakes or missing data
</a:t>
            </a:r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be hard for others to inspect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382512" y="1691640"/>
            <a:ext cx="5074920" cy="3246120"/>
          </a:xfrm>
          <a:prstGeom prst="roundRect">
            <a:avLst>
              <a:gd name="adj" fmla="val 3380"/>
            </a:avLst>
          </a:prstGeom>
          <a:solidFill>
            <a:srgbClr val="FFFDF6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656832" y="196596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MINDSET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6656832" y="2359152"/>
            <a:ext cx="4389120" cy="1508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Connects work to user needs and criteria
</a:t>
            </a:r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 data, feedback, sketches, and tests
</a:t>
            </a:r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Documents problems and revisions
</a:t>
            </a:r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Makes the design story clear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</a:t>
            </a:r>
            <a:endParaRPr lang="en-US" sz="1050" dirty="0"/>
          </a:p>
        </p:txBody>
      </p:sp>
      <p:pic>
        <p:nvPicPr>
          <p:cNvPr id="3" name="Image 0" descr="/mnt/data/lockwoodstem-logo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9648" y="146304"/>
            <a:ext cx="74980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68580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Evidence-Based Capstone Decisions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84048" y="128016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25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Engineers connect what they claim to proof that others can inspect.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6537960"/>
            <a:ext cx="6583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5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10588752" y="6537960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5.9</a:t>
            </a:r>
            <a:endParaRPr lang="en-US" sz="780" dirty="0"/>
          </a:p>
        </p:txBody>
      </p:sp>
      <p:sp>
        <p:nvSpPr>
          <p:cNvPr id="9" name="Shape 6"/>
          <p:cNvSpPr/>
          <p:nvPr/>
        </p:nvSpPr>
        <p:spPr>
          <a:xfrm>
            <a:off x="731520" y="1874520"/>
            <a:ext cx="2971800" cy="1874520"/>
          </a:xfrm>
          <a:prstGeom prst="roundRect">
            <a:avLst>
              <a:gd name="adj" fmla="val 5854"/>
            </a:avLst>
          </a:prstGeom>
          <a:solidFill>
            <a:srgbClr val="F4F9FD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05840" y="21488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05840" y="2606040"/>
            <a:ext cx="2331720" cy="5669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you believe about the design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3822192" y="2596896"/>
            <a:ext cx="384048" cy="384048"/>
          </a:xfrm>
          <a:prstGeom prst="chevron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26280" y="1874520"/>
            <a:ext cx="2971800" cy="1874520"/>
          </a:xfrm>
          <a:prstGeom prst="roundRect">
            <a:avLst>
              <a:gd name="adj" fmla="val 5854"/>
            </a:avLst>
          </a:prstGeom>
          <a:solidFill>
            <a:srgbClr val="FFFDF6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800600" y="21488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4800600" y="2606040"/>
            <a:ext cx="2331720" cy="5669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proves or challenges the claim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7616952" y="2596896"/>
            <a:ext cx="384048" cy="384048"/>
          </a:xfrm>
          <a:prstGeom prst="chevron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321040" y="1874520"/>
            <a:ext cx="2971800" cy="1874520"/>
          </a:xfrm>
          <a:prstGeom prst="roundRect">
            <a:avLst>
              <a:gd name="adj" fmla="val 5854"/>
            </a:avLst>
          </a:prstGeom>
          <a:solidFill>
            <a:srgbClr val="F4F9FD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595360" y="21488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8595360" y="2606040"/>
            <a:ext cx="2331720" cy="5669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you do next because of the evidence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777240" y="5120640"/>
            <a:ext cx="1065276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can include: stakeholder notes • sketches • CAD models • test data • observations • photos • feedback • revision notes</a:t>
            </a:r>
            <a:endParaRPr lang="en-US" sz="13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 CHALLENGE</a:t>
            </a:r>
            <a:endParaRPr lang="en-US" sz="1050" dirty="0"/>
          </a:p>
        </p:txBody>
      </p:sp>
      <p:pic>
        <p:nvPicPr>
          <p:cNvPr id="3" name="Image 0" descr="/mnt/data/lockwoodstem-logo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9648" y="146304"/>
            <a:ext cx="74980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68580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Evidence Would You Need?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84048" y="128016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25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the claim. Select the evidence that would best support it.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6537960"/>
            <a:ext cx="6583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5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10588752" y="6537960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5.9</a:t>
            </a:r>
            <a:endParaRPr lang="en-US" sz="780" dirty="0"/>
          </a:p>
        </p:txBody>
      </p:sp>
      <p:sp>
        <p:nvSpPr>
          <p:cNvPr id="9" name="Text 6"/>
          <p:cNvSpPr/>
          <p:nvPr/>
        </p:nvSpPr>
        <p:spPr>
          <a:xfrm>
            <a:off x="594360" y="1874520"/>
            <a:ext cx="10789920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Claim: “Our prototype build day 1: structure and core function work is ready to move forward.”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594360" y="2286000"/>
            <a:ext cx="548640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25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for the two strongest pieces of evidence.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2788920"/>
            <a:ext cx="5349240" cy="914400"/>
          </a:xfrm>
          <a:prstGeom prst="roundRect">
            <a:avLst>
              <a:gd name="adj" fmla="val 12000"/>
            </a:avLst>
          </a:prstGeom>
          <a:solidFill>
            <a:srgbClr val="F4F9FD"/>
          </a:solidFill>
          <a:ln w="12700">
            <a:solidFill>
              <a:srgbClr val="BFD3E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86384" y="2935224"/>
            <a:ext cx="329184" cy="329184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64108" y="2999232"/>
            <a:ext cx="164592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225296" y="2935224"/>
            <a:ext cx="4636008" cy="685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relevant sketch, model, user note, plan, or prototype view that shows the work.</a:t>
            </a:r>
            <a:endParaRPr lang="en-US" sz="1220" dirty="0"/>
          </a:p>
        </p:txBody>
      </p:sp>
      <p:sp>
        <p:nvSpPr>
          <p:cNvPr id="15" name="Shape 12"/>
          <p:cNvSpPr/>
          <p:nvPr/>
        </p:nvSpPr>
        <p:spPr>
          <a:xfrm>
            <a:off x="6199632" y="2788920"/>
            <a:ext cx="5349240" cy="914400"/>
          </a:xfrm>
          <a:prstGeom prst="roundRect">
            <a:avLst>
              <a:gd name="adj" fmla="val 12000"/>
            </a:avLst>
          </a:prstGeom>
          <a:solidFill>
            <a:srgbClr val="F4F9FD"/>
          </a:solidFill>
          <a:ln w="12700">
            <a:solidFill>
              <a:srgbClr val="BFD3E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345936" y="2935224"/>
            <a:ext cx="329184" cy="329184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23660" y="2999232"/>
            <a:ext cx="164592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784848" y="2935224"/>
            <a:ext cx="4636008" cy="685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teammate saying the work is probably good enough.</a:t>
            </a:r>
            <a:endParaRPr lang="en-US" sz="1220" dirty="0"/>
          </a:p>
        </p:txBody>
      </p:sp>
      <p:sp>
        <p:nvSpPr>
          <p:cNvPr id="19" name="Shape 16"/>
          <p:cNvSpPr/>
          <p:nvPr/>
        </p:nvSpPr>
        <p:spPr>
          <a:xfrm>
            <a:off x="640080" y="3977640"/>
            <a:ext cx="5349240" cy="914400"/>
          </a:xfrm>
          <a:prstGeom prst="roundRect">
            <a:avLst>
              <a:gd name="adj" fmla="val 12000"/>
            </a:avLst>
          </a:prstGeom>
          <a:solidFill>
            <a:srgbClr val="F4F9FD"/>
          </a:solidFill>
          <a:ln w="12700">
            <a:solidFill>
              <a:srgbClr val="BFD3E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86384" y="4123944"/>
            <a:ext cx="329184" cy="329184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64108" y="4187952"/>
            <a:ext cx="164592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225296" y="4123944"/>
            <a:ext cx="4636008" cy="685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Specific criteria, test results, feedback, measurements, or observations tied to the claim.</a:t>
            </a:r>
            <a:endParaRPr lang="en-US" sz="1220" dirty="0"/>
          </a:p>
        </p:txBody>
      </p:sp>
      <p:sp>
        <p:nvSpPr>
          <p:cNvPr id="23" name="Shape 20"/>
          <p:cNvSpPr/>
          <p:nvPr/>
        </p:nvSpPr>
        <p:spPr>
          <a:xfrm>
            <a:off x="6199632" y="3977640"/>
            <a:ext cx="5349240" cy="914400"/>
          </a:xfrm>
          <a:prstGeom prst="roundRect">
            <a:avLst>
              <a:gd name="adj" fmla="val 12000"/>
            </a:avLst>
          </a:prstGeom>
          <a:solidFill>
            <a:srgbClr val="F4F9FD"/>
          </a:solidFill>
          <a:ln w="12700">
            <a:solidFill>
              <a:srgbClr val="BFD3E6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345936" y="4123944"/>
            <a:ext cx="329184" cy="329184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423660" y="4187952"/>
            <a:ext cx="164592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6784848" y="4123944"/>
            <a:ext cx="4636008" cy="685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polished title page with no evidence or explanation.</a:t>
            </a:r>
            <a:endParaRPr lang="en-US" sz="1220" dirty="0"/>
          </a:p>
        </p:txBody>
      </p:sp>
      <p:sp>
        <p:nvSpPr>
          <p:cNvPr id="27" name="Text 24"/>
          <p:cNvSpPr/>
          <p:nvPr/>
        </p:nvSpPr>
        <p:spPr>
          <a:xfrm>
            <a:off x="640080" y="5349240"/>
            <a:ext cx="960120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425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first. Then we will reveal the strongest evidence pair.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REVEAL</a:t>
            </a:r>
            <a:endParaRPr lang="en-US" sz="1050" dirty="0"/>
          </a:p>
        </p:txBody>
      </p:sp>
      <p:pic>
        <p:nvPicPr>
          <p:cNvPr id="3" name="Image 0" descr="/mnt/data/lockwoodstem-logo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9648" y="146304"/>
            <a:ext cx="74980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68580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Best Evidence Pair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84048" y="128016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25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best evidence must connect directly to the design claim.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6537960"/>
            <a:ext cx="6583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5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10588752" y="6537960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5.9</a:t>
            </a:r>
            <a:endParaRPr lang="en-US" sz="780" dirty="0"/>
          </a:p>
        </p:txBody>
      </p:sp>
      <p:sp>
        <p:nvSpPr>
          <p:cNvPr id="9" name="Shape 6"/>
          <p:cNvSpPr/>
          <p:nvPr/>
        </p:nvSpPr>
        <p:spPr>
          <a:xfrm>
            <a:off x="685800" y="1600200"/>
            <a:ext cx="4572000" cy="3337560"/>
          </a:xfrm>
          <a:prstGeom prst="roundRect">
            <a:avLst>
              <a:gd name="adj" fmla="val 3288"/>
            </a:avLst>
          </a:prstGeom>
          <a:solidFill>
            <a:srgbClr val="061B31"/>
          </a:solidFill>
          <a:ln w="12700">
            <a:solidFill>
              <a:srgbClr val="35557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1901952"/>
            <a:ext cx="384048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2C1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support: A + C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960120" y="2468880"/>
            <a:ext cx="3794760" cy="12344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shows the work or design intent. C shows whether it meets the requirement or supports the decision.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5669280" y="1600200"/>
            <a:ext cx="5394960" cy="3337560"/>
          </a:xfrm>
          <a:prstGeom prst="roundRect">
            <a:avLst>
              <a:gd name="adj" fmla="val 3288"/>
            </a:avLst>
          </a:prstGeom>
          <a:solidFill>
            <a:srgbClr val="F7FBFF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0" y="19019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USEFUL, BUT NOT ENOUGH ALONE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5943600" y="2359152"/>
            <a:ext cx="4526280" cy="914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Opinions, appearance, and polished formatting can support communication, but they do not prove the engineering claim by themselves.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RESPONSE</a:t>
            </a:r>
            <a:endParaRPr lang="en-US" sz="1050" dirty="0"/>
          </a:p>
        </p:txBody>
      </p:sp>
      <p:pic>
        <p:nvPicPr>
          <p:cNvPr id="3" name="Image 0" descr="/mnt/data/lockwoodstem-logo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9648" y="146304"/>
            <a:ext cx="74980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68580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Should the Engineer Do Next?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84048" y="128016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25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the strongest next step and explain your reasoning.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6537960"/>
            <a:ext cx="6583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5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10588752" y="6537960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5.9</a:t>
            </a:r>
            <a:endParaRPr lang="en-US" sz="780" dirty="0"/>
          </a:p>
        </p:txBody>
      </p:sp>
      <p:sp>
        <p:nvSpPr>
          <p:cNvPr id="9" name="Text 6"/>
          <p:cNvSpPr/>
          <p:nvPr/>
        </p:nvSpPr>
        <p:spPr>
          <a:xfrm>
            <a:off x="594360" y="1783080"/>
            <a:ext cx="10607040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team notices that their capstone evidence does not fully support the design decision they want to make.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40080" y="2423160"/>
            <a:ext cx="5349240" cy="868680"/>
          </a:xfrm>
          <a:prstGeom prst="roundRect">
            <a:avLst>
              <a:gd name="adj" fmla="val 12632"/>
            </a:avLst>
          </a:prstGeom>
          <a:solidFill>
            <a:srgbClr val="F4F9FD"/>
          </a:solidFill>
          <a:ln w="12700">
            <a:solidFill>
              <a:srgbClr val="BFD3E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86384" y="2569464"/>
            <a:ext cx="329184" cy="329184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4108" y="2633472"/>
            <a:ext cx="164592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225296" y="2569464"/>
            <a:ext cx="4636008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Ignore the gap and keep the original conclusion.</a:t>
            </a:r>
            <a:endParaRPr lang="en-US" sz="1220" dirty="0"/>
          </a:p>
        </p:txBody>
      </p:sp>
      <p:sp>
        <p:nvSpPr>
          <p:cNvPr id="14" name="Shape 11"/>
          <p:cNvSpPr/>
          <p:nvPr/>
        </p:nvSpPr>
        <p:spPr>
          <a:xfrm>
            <a:off x="6199632" y="2423160"/>
            <a:ext cx="5349240" cy="868680"/>
          </a:xfrm>
          <a:prstGeom prst="roundRect">
            <a:avLst>
              <a:gd name="adj" fmla="val 12632"/>
            </a:avLst>
          </a:prstGeom>
          <a:solidFill>
            <a:srgbClr val="F4F9FD"/>
          </a:solidFill>
          <a:ln w="12700">
            <a:solidFill>
              <a:srgbClr val="BFD3E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345936" y="2569464"/>
            <a:ext cx="329184" cy="329184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23660" y="2633472"/>
            <a:ext cx="164592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784848" y="2569464"/>
            <a:ext cx="4636008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visuals so the work looks more complete.</a:t>
            </a:r>
            <a:endParaRPr lang="en-US" sz="1220" dirty="0"/>
          </a:p>
        </p:txBody>
      </p:sp>
      <p:sp>
        <p:nvSpPr>
          <p:cNvPr id="18" name="Shape 15"/>
          <p:cNvSpPr/>
          <p:nvPr/>
        </p:nvSpPr>
        <p:spPr>
          <a:xfrm>
            <a:off x="640080" y="3657600"/>
            <a:ext cx="5349240" cy="868680"/>
          </a:xfrm>
          <a:prstGeom prst="roundRect">
            <a:avLst>
              <a:gd name="adj" fmla="val 12632"/>
            </a:avLst>
          </a:prstGeom>
          <a:solidFill>
            <a:srgbClr val="F4F9FD"/>
          </a:solidFill>
          <a:ln w="12700">
            <a:solidFill>
              <a:srgbClr val="BFD3E6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86384" y="3803904"/>
            <a:ext cx="329184" cy="329184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64108" y="3867912"/>
            <a:ext cx="164592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225296" y="3803904"/>
            <a:ext cx="4636008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 the gap, identify what evidence is missing, revise, and check again.</a:t>
            </a:r>
            <a:endParaRPr lang="en-US" sz="1220" dirty="0"/>
          </a:p>
        </p:txBody>
      </p:sp>
      <p:sp>
        <p:nvSpPr>
          <p:cNvPr id="22" name="Shape 19"/>
          <p:cNvSpPr/>
          <p:nvPr/>
        </p:nvSpPr>
        <p:spPr>
          <a:xfrm>
            <a:off x="6199632" y="3657600"/>
            <a:ext cx="5349240" cy="868680"/>
          </a:xfrm>
          <a:prstGeom prst="roundRect">
            <a:avLst>
              <a:gd name="adj" fmla="val 12632"/>
            </a:avLst>
          </a:prstGeom>
          <a:solidFill>
            <a:srgbClr val="F4F9FD"/>
          </a:solidFill>
          <a:ln w="12700">
            <a:solidFill>
              <a:srgbClr val="BFD3E6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345936" y="3803904"/>
            <a:ext cx="329184" cy="329184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423660" y="3867912"/>
            <a:ext cx="164592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784848" y="3803904"/>
            <a:ext cx="4636008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Restart without writing down what happened.</a:t>
            </a:r>
            <a:endParaRPr lang="en-US" sz="1220" dirty="0"/>
          </a:p>
        </p:txBody>
      </p:sp>
      <p:sp>
        <p:nvSpPr>
          <p:cNvPr id="26" name="Text 23"/>
          <p:cNvSpPr/>
          <p:nvPr/>
        </p:nvSpPr>
        <p:spPr>
          <a:xfrm>
            <a:off x="640080" y="5166360"/>
            <a:ext cx="960120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425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first. Then we will reveal the strongest next step.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REVEAL</a:t>
            </a:r>
            <a:endParaRPr lang="en-US" sz="1050" dirty="0"/>
          </a:p>
        </p:txBody>
      </p:sp>
      <p:pic>
        <p:nvPicPr>
          <p:cNvPr id="3" name="Image 0" descr="/mnt/data/lockwoodstem-logo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9648" y="146304"/>
            <a:ext cx="74980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68580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Best Next Step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84048" y="128016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25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best next step turns a problem into useful evidence.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6537960"/>
            <a:ext cx="6583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5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10588752" y="6537960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5.9</a:t>
            </a:r>
            <a:endParaRPr lang="en-US" sz="780" dirty="0"/>
          </a:p>
        </p:txBody>
      </p:sp>
      <p:sp>
        <p:nvSpPr>
          <p:cNvPr id="9" name="Shape 6"/>
          <p:cNvSpPr/>
          <p:nvPr/>
        </p:nvSpPr>
        <p:spPr>
          <a:xfrm>
            <a:off x="731520" y="1783080"/>
            <a:ext cx="3291840" cy="2834640"/>
          </a:xfrm>
          <a:prstGeom prst="roundRect">
            <a:avLst>
              <a:gd name="adj" fmla="val 3871"/>
            </a:avLst>
          </a:prstGeom>
          <a:solidFill>
            <a:srgbClr val="061B31"/>
          </a:solidFill>
          <a:ln w="12700">
            <a:solidFill>
              <a:srgbClr val="35557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05840" y="2057400"/>
            <a:ext cx="274320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2C1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answer: C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005840" y="2560320"/>
            <a:ext cx="2560320" cy="10058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 the gap, identify missing evidence, revise, and check again.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4389120" y="1828800"/>
            <a:ext cx="6583680" cy="713232"/>
          </a:xfrm>
          <a:prstGeom prst="roundRect">
            <a:avLst>
              <a:gd name="adj" fmla="val 15385"/>
            </a:avLst>
          </a:prstGeom>
          <a:solidFill>
            <a:srgbClr val="F7FBFF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709160" y="2039112"/>
            <a:ext cx="5852160" cy="1371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 what happened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4389120" y="2816352"/>
            <a:ext cx="6583680" cy="713232"/>
          </a:xfrm>
          <a:prstGeom prst="roundRect">
            <a:avLst>
              <a:gd name="adj" fmla="val 15385"/>
            </a:avLst>
          </a:prstGeom>
          <a:solidFill>
            <a:srgbClr val="F7FBFF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09160" y="3026664"/>
            <a:ext cx="5852160" cy="1371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the missing evidence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4389120" y="3803904"/>
            <a:ext cx="6583680" cy="713232"/>
          </a:xfrm>
          <a:prstGeom prst="roundRect">
            <a:avLst>
              <a:gd name="adj" fmla="val 15385"/>
            </a:avLst>
          </a:prstGeom>
          <a:solidFill>
            <a:srgbClr val="F7FBFF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709160" y="4014216"/>
            <a:ext cx="5852160" cy="1371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Revise + check again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777240" y="5532120"/>
            <a:ext cx="10607040" cy="3017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Engineering move: use the problem as evidence, not as a reason to hide or guess.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CHECK</a:t>
            </a:r>
            <a:endParaRPr lang="en-US" sz="1050" dirty="0"/>
          </a:p>
        </p:txBody>
      </p:sp>
      <p:pic>
        <p:nvPicPr>
          <p:cNvPr id="3" name="Image 0" descr="/mnt/data/lockwoodstem-logo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9648" y="146304"/>
            <a:ext cx="74980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68580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Evidence or Opinion?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84048" y="128016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25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first. Then explain which statement is strongest and why.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6537960"/>
            <a:ext cx="6583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5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10588752" y="6537960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5.9</a:t>
            </a:r>
            <a:endParaRPr lang="en-US" sz="780" dirty="0"/>
          </a:p>
        </p:txBody>
      </p:sp>
      <p:sp>
        <p:nvSpPr>
          <p:cNvPr id="9" name="Shape 6"/>
          <p:cNvSpPr/>
          <p:nvPr/>
        </p:nvSpPr>
        <p:spPr>
          <a:xfrm>
            <a:off x="731520" y="1828800"/>
            <a:ext cx="10607040" cy="868680"/>
          </a:xfrm>
          <a:prstGeom prst="roundRect">
            <a:avLst>
              <a:gd name="adj" fmla="val 12632"/>
            </a:avLst>
          </a:prstGeom>
          <a:solidFill>
            <a:srgbClr val="F4F9FD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2084832"/>
            <a:ext cx="274320" cy="1371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417320" y="2029968"/>
            <a:ext cx="813816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“The design is good because it seems useful.”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9555480" y="2048256"/>
            <a:ext cx="141732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r" indent="0" marL="0">
              <a:buNone/>
            </a:pPr>
            <a:r>
              <a:rPr lang="en-US" sz="98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or opinion?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731520" y="2971800"/>
            <a:ext cx="10607040" cy="868680"/>
          </a:xfrm>
          <a:prstGeom prst="roundRect">
            <a:avLst>
              <a:gd name="adj" fmla="val 12632"/>
            </a:avLst>
          </a:prstGeom>
          <a:solidFill>
            <a:srgbClr val="F4F9FD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60120" y="3227832"/>
            <a:ext cx="274320" cy="1371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417320" y="3172968"/>
            <a:ext cx="813816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“Stakeholder feedback identified two usability issues that should be revised.”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9555480" y="3191256"/>
            <a:ext cx="141732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r" indent="0" marL="0">
              <a:buNone/>
            </a:pPr>
            <a:r>
              <a:rPr lang="en-US" sz="98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or opinion?</a:t>
            </a:r>
            <a:endParaRPr lang="en-US" sz="980" dirty="0"/>
          </a:p>
        </p:txBody>
      </p:sp>
      <p:sp>
        <p:nvSpPr>
          <p:cNvPr id="17" name="Shape 14"/>
          <p:cNvSpPr/>
          <p:nvPr/>
        </p:nvSpPr>
        <p:spPr>
          <a:xfrm>
            <a:off x="731520" y="4114800"/>
            <a:ext cx="10607040" cy="868680"/>
          </a:xfrm>
          <a:prstGeom prst="roundRect">
            <a:avLst>
              <a:gd name="adj" fmla="val 12632"/>
            </a:avLst>
          </a:prstGeom>
          <a:solidFill>
            <a:srgbClr val="F4F9FD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60120" y="4370832"/>
            <a:ext cx="274320" cy="1371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417320" y="4315968"/>
            <a:ext cx="813816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“The final concept scored highest against safety, usability, and buildability criteria.”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9555480" y="4334256"/>
            <a:ext cx="141732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r" indent="0" marL="0">
              <a:buNone/>
            </a:pPr>
            <a:r>
              <a:rPr lang="en-US" sz="98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or opinion?</a:t>
            </a:r>
            <a:endParaRPr lang="en-US" sz="980" dirty="0"/>
          </a:p>
        </p:txBody>
      </p:sp>
      <p:sp>
        <p:nvSpPr>
          <p:cNvPr id="21" name="Text 18"/>
          <p:cNvSpPr/>
          <p:nvPr/>
        </p:nvSpPr>
        <p:spPr>
          <a:xfrm>
            <a:off x="777240" y="5440680"/>
            <a:ext cx="987552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425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first. Then we will reveal which statements are strongest.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CHECK REVEAL</a:t>
            </a:r>
            <a:endParaRPr lang="en-US" sz="1050" dirty="0"/>
          </a:p>
        </p:txBody>
      </p:sp>
      <p:pic>
        <p:nvPicPr>
          <p:cNvPr id="3" name="Image 0" descr="/mnt/data/lockwoodstem-logo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9648" y="146304"/>
            <a:ext cx="74980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68580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Evidence or Opinion?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84048" y="128016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25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strong engineering answer connects a claim to specific evidence.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6537960"/>
            <a:ext cx="6583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5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10588752" y="6537960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5.9</a:t>
            </a:r>
            <a:endParaRPr lang="en-US" sz="780" dirty="0"/>
          </a:p>
        </p:txBody>
      </p:sp>
      <p:sp>
        <p:nvSpPr>
          <p:cNvPr id="9" name="Shape 6"/>
          <p:cNvSpPr/>
          <p:nvPr/>
        </p:nvSpPr>
        <p:spPr>
          <a:xfrm>
            <a:off x="731520" y="1828800"/>
            <a:ext cx="3154680" cy="2148840"/>
          </a:xfrm>
          <a:prstGeom prst="roundRect">
            <a:avLst>
              <a:gd name="adj" fmla="val 5106"/>
            </a:avLst>
          </a:prstGeom>
          <a:solidFill>
            <a:srgbClr val="FFFDF6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2148840"/>
            <a:ext cx="32004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417320" y="215798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OPINION-HEAVY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960120" y="2651760"/>
            <a:ext cx="2606040" cy="5669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 a vague judgment without specific evidence.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4480560" y="1828800"/>
            <a:ext cx="3154680" cy="2148840"/>
          </a:xfrm>
          <a:prstGeom prst="roundRect">
            <a:avLst>
              <a:gd name="adj" fmla="val 5106"/>
            </a:avLst>
          </a:prstGeom>
          <a:solidFill>
            <a:srgbClr val="F7FBFF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09160" y="2148840"/>
            <a:ext cx="32004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5166360" y="215798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EVIDENCE-BASED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4709160" y="2651760"/>
            <a:ext cx="2606040" cy="5669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 stakeholder feedback and names issues.</a:t>
            </a:r>
            <a:endParaRPr lang="en-US" sz="1450" dirty="0"/>
          </a:p>
        </p:txBody>
      </p:sp>
      <p:sp>
        <p:nvSpPr>
          <p:cNvPr id="17" name="Shape 14"/>
          <p:cNvSpPr/>
          <p:nvPr/>
        </p:nvSpPr>
        <p:spPr>
          <a:xfrm>
            <a:off x="8229600" y="1828800"/>
            <a:ext cx="3154680" cy="2148840"/>
          </a:xfrm>
          <a:prstGeom prst="roundRect">
            <a:avLst>
              <a:gd name="adj" fmla="val 5106"/>
            </a:avLst>
          </a:prstGeom>
          <a:solidFill>
            <a:srgbClr val="F7FBFF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458200" y="2148840"/>
            <a:ext cx="32004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8915400" y="215798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EVIDENCE-BASED REASONING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8458200" y="2651760"/>
            <a:ext cx="2606040" cy="5669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Connects concept selection to criteria.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777240" y="5394960"/>
            <a:ext cx="1065276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Takeaway: claim + specific evidence + responsible tradeoffs = stronger engineering communication.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MISSION DEBRIEF</a:t>
            </a:r>
            <a:endParaRPr lang="en-US" sz="1050" dirty="0"/>
          </a:p>
        </p:txBody>
      </p:sp>
      <p:pic>
        <p:nvPicPr>
          <p:cNvPr id="3" name="Image 0" descr="/mnt/data/lockwoodstem-logo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9648" y="146304"/>
            <a:ext cx="74980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68580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Exit Ticket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84048" y="128016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25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that you understand today’s capstone move before the next lesson.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6537960"/>
            <a:ext cx="6583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5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10588752" y="6537960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5.9</a:t>
            </a:r>
            <a:endParaRPr lang="en-US" sz="780" dirty="0"/>
          </a:p>
        </p:txBody>
      </p:sp>
      <p:sp>
        <p:nvSpPr>
          <p:cNvPr id="9" name="Shape 6"/>
          <p:cNvSpPr/>
          <p:nvPr/>
        </p:nvSpPr>
        <p:spPr>
          <a:xfrm>
            <a:off x="685800" y="1783080"/>
            <a:ext cx="10789920" cy="3337560"/>
          </a:xfrm>
          <a:prstGeom prst="roundRect">
            <a:avLst>
              <a:gd name="adj" fmla="val 3288"/>
            </a:avLst>
          </a:prstGeom>
          <a:solidFill>
            <a:srgbClr val="F7FBFF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2057400"/>
            <a:ext cx="841248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Respond in your notebook or on the assigned class format: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987552" y="2542032"/>
            <a:ext cx="32004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444752" y="2542032"/>
            <a:ext cx="905256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way today’s lesson connects to a user need or stakeholder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987552" y="3200400"/>
            <a:ext cx="32004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444752" y="3200400"/>
            <a:ext cx="905256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type of evidence your team should collect for Prototype Build Day 1: Structure and Core Function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987552" y="3858768"/>
            <a:ext cx="32004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444752" y="3858768"/>
            <a:ext cx="905256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question, concern, or next step for your capstone work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777240" y="5623560"/>
            <a:ext cx="106070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mission: Lesson 5.10 — Prototype Build Day 2: Integration and Refinement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LockwoodSTEM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IED Unit 5 Lesson 5.9: Prototype Build Day 1: Structure and Core Function</dc:title>
  <dc:subject>IED Unit 5 Lesson 5.9</dc:subject>
  <dc:creator>LockwoodSTEM</dc:creator>
  <cp:lastModifiedBy>LockwoodSTEM</cp:lastModifiedBy>
  <cp:revision>1</cp:revision>
  <dcterms:created xsi:type="dcterms:W3CDTF">2026-07-17T18:02:17Z</dcterms:created>
  <dcterms:modified xsi:type="dcterms:W3CDTF">2026-07-17T18:02:17Z</dcterms:modified>
</cp:coreProperties>
</file>