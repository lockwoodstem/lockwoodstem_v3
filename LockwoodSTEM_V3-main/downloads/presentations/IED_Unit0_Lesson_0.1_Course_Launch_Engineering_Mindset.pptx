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pic>
        <p:nvPicPr>
          <p:cNvPr id="3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02920"/>
            <a:ext cx="2194560" cy="6583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" y="1417320"/>
            <a:ext cx="2148840" cy="347472"/>
          </a:xfrm>
          <a:prstGeom prst="roundRect">
            <a:avLst>
              <a:gd name="adj" fmla="val 10526"/>
            </a:avLst>
          </a:prstGeom>
          <a:solidFill>
            <a:srgbClr val="FFC857">
              <a:alpha val="90000"/>
            </a:srgbClr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6384" y="149961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0 • LESSON 0.1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1874520"/>
            <a:ext cx="64008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Launch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Mindset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749808" y="3456432"/>
            <a:ext cx="6263640" cy="914400"/>
          </a:xfrm>
          <a:prstGeom prst="roundRect">
            <a:avLst>
              <a:gd name="adj" fmla="val 5000"/>
            </a:avLst>
          </a:prstGeom>
          <a:solidFill>
            <a:srgbClr val="113C65"/>
          </a:solidFill>
          <a:ln w="13970">
            <a:solidFill>
              <a:srgbClr val="4DDCFF">
                <a:alpha val="9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C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87552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think, document, and make evidence-based decisions?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726680" y="141732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4DD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3568" y="15636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DCFF"/>
                </a:solidFill>
              </a:rPr>
              <a:t>DEFINE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10928" y="157276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the problem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26680" y="271576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2EE6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28620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A6"/>
                </a:solidFill>
              </a:rPr>
              <a:t>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710928" y="28712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the idea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2668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123A63"/>
          </a:solidFill>
          <a:ln w="13970">
            <a:solidFill>
              <a:srgbClr val="FFC85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73568" y="416052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DECIDE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710928" y="416966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with evidence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49808" y="587959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Engineering Design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45-Minute Flight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launch the engineering mindset you will use all year.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572768"/>
            <a:ext cx="4892040" cy="4343400"/>
          </a:xfrm>
          <a:prstGeom prst="roundRect">
            <a:avLst>
              <a:gd name="adj" fmla="val 1684"/>
            </a:avLst>
          </a:prstGeom>
          <a:solidFill>
            <a:srgbClr val="0F3156"/>
          </a:solidFill>
          <a:ln w="15240">
            <a:solidFill>
              <a:srgbClr val="244D76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8470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targets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359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3682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purpose of IED through an aerospace lens.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87552" y="2816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280160" y="28254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how engineering problems differ from typical assignments.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87552" y="32735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DDCFF"/>
                </a:solidFill>
              </a:rPr>
              <a:t>•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280160" y="3282696"/>
            <a:ext cx="3959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evidence engineers use to support design decisions.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60120" y="3977640"/>
            <a:ext cx="4160520" cy="0"/>
          </a:xfrm>
          <a:prstGeom prst="line">
            <a:avLst/>
          </a:prstGeom>
          <a:noFill/>
          <a:ln w="12700">
            <a:solidFill>
              <a:srgbClr val="3A6F9D">
                <a:alpha val="6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DDCFF"/>
                </a:solidFill>
              </a:rPr>
              <a:t>Success looks like…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AF6FF"/>
                </a:solidFill>
              </a:rPr>
              <a:t>You can explain a design decision using more than “I think.”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989320" y="1572768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09360" y="1847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B"/>
                </a:solidFill>
              </a:rPr>
              <a:t>Agenda + pacing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291072" y="230428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45936" y="238658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5 min</a:t>
            </a:r>
            <a:endParaRPr lang="en-US" sz="690" dirty="0"/>
          </a:p>
        </p:txBody>
      </p:sp>
      <p:sp>
        <p:nvSpPr>
          <p:cNvPr id="22" name="Text 19"/>
          <p:cNvSpPr/>
          <p:nvPr/>
        </p:nvSpPr>
        <p:spPr>
          <a:xfrm>
            <a:off x="7242048" y="235000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Opening prompt: What do engineers do?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291072" y="274320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45936" y="282549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25" name="Text 22"/>
          <p:cNvSpPr/>
          <p:nvPr/>
        </p:nvSpPr>
        <p:spPr>
          <a:xfrm>
            <a:off x="7242048" y="278892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Engineer actions quick vote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6291072" y="3182112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45936" y="3264408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7 min</a:t>
            </a:r>
            <a:endParaRPr lang="en-US" sz="690" dirty="0"/>
          </a:p>
        </p:txBody>
      </p:sp>
      <p:sp>
        <p:nvSpPr>
          <p:cNvPr id="28" name="Text 25"/>
          <p:cNvSpPr/>
          <p:nvPr/>
        </p:nvSpPr>
        <p:spPr>
          <a:xfrm>
            <a:off x="7242048" y="322783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IED purpose + aerospace connection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6291072" y="3621024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3703320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8 min</a:t>
            </a:r>
            <a:endParaRPr lang="en-US" sz="690" dirty="0"/>
          </a:p>
        </p:txBody>
      </p:sp>
      <p:sp>
        <p:nvSpPr>
          <p:cNvPr id="31" name="Text 28"/>
          <p:cNvSpPr/>
          <p:nvPr/>
        </p:nvSpPr>
        <p:spPr>
          <a:xfrm>
            <a:off x="7242048" y="3666744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Assignment vs. engineering problem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6291072" y="4059936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45936" y="4142232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10 min</a:t>
            </a:r>
            <a:endParaRPr lang="en-US" sz="690" dirty="0"/>
          </a:p>
        </p:txBody>
      </p:sp>
      <p:sp>
        <p:nvSpPr>
          <p:cNvPr id="34" name="Text 31"/>
          <p:cNvSpPr/>
          <p:nvPr/>
        </p:nvSpPr>
        <p:spPr>
          <a:xfrm>
            <a:off x="7242048" y="41056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Evidence-based decision challenge</a:t>
            </a:r>
            <a:endParaRPr lang="en-US" sz="1220" dirty="0"/>
          </a:p>
        </p:txBody>
      </p:sp>
      <p:sp>
        <p:nvSpPr>
          <p:cNvPr id="35" name="Shape 32"/>
          <p:cNvSpPr/>
          <p:nvPr/>
        </p:nvSpPr>
        <p:spPr>
          <a:xfrm>
            <a:off x="6291072" y="4498848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45936" y="4581144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6 min</a:t>
            </a:r>
            <a:endParaRPr lang="en-US" sz="690" dirty="0"/>
          </a:p>
        </p:txBody>
      </p:sp>
      <p:sp>
        <p:nvSpPr>
          <p:cNvPr id="37" name="Text 34"/>
          <p:cNvSpPr/>
          <p:nvPr/>
        </p:nvSpPr>
        <p:spPr>
          <a:xfrm>
            <a:off x="7242048" y="4544568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Evidence or opinion quick check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6291072" y="4937760"/>
            <a:ext cx="749808" cy="274320"/>
          </a:xfrm>
          <a:prstGeom prst="roundRect">
            <a:avLst>
              <a:gd name="adj" fmla="val 10000"/>
            </a:avLst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45936" y="5020056"/>
            <a:ext cx="6400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</a:rPr>
              <a:t>3 min</a:t>
            </a:r>
            <a:endParaRPr lang="en-US" sz="690" dirty="0"/>
          </a:p>
        </p:txBody>
      </p:sp>
      <p:sp>
        <p:nvSpPr>
          <p:cNvPr id="40" name="Text 37"/>
          <p:cNvSpPr/>
          <p:nvPr/>
        </p:nvSpPr>
        <p:spPr>
          <a:xfrm>
            <a:off x="7242048" y="4983480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6283B"/>
                </a:solidFill>
              </a:rPr>
              <a:t>Exit debrief</a:t>
            </a:r>
            <a:endParaRPr lang="en-US" sz="1220" dirty="0"/>
          </a:p>
        </p:txBody>
      </p:sp>
      <p:sp>
        <p:nvSpPr>
          <p:cNvPr id="41" name="Shape 3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 engineers do?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as a quick class discussion while attendance is taken.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81328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Think first. What actions, habits, or decisions make someone an engineer?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60120" y="2240280"/>
            <a:ext cx="10241280" cy="2057400"/>
          </a:xfrm>
          <a:prstGeom prst="roundRect">
            <a:avLst>
              <a:gd name="adj" fmla="val 3556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DDCFF"/>
                </a:solidFill>
              </a:rPr>
              <a:t>Quick class share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25880" y="30632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AF6FF"/>
                </a:solidFill>
              </a:rPr>
              <a:t>Raise your hand and share one short answer. Try to use an action word.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417320" y="3675888"/>
            <a:ext cx="8869680" cy="320040"/>
          </a:xfrm>
          <a:prstGeom prst="roundRect">
            <a:avLst>
              <a:gd name="adj" fmla="val 11429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0200" y="3776472"/>
            <a:ext cx="8503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C857"/>
                </a:solidFill>
              </a:rPr>
              <a:t>Examples from students might sound like: design, build, test, fix, invent, solve, measure, or improve.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960120" y="5285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CFF"/>
                </a:solidFill>
              </a:rPr>
              <a:t>We will reveal a working definition on the next slide.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Engineers 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definition for the year.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10241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Engineers use knowledge, tools, and creativity to solve problems under real constraints.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CFF"/>
                </a:solidFill>
              </a:rPr>
              <a:t>Define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33272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Clarify the need, user, criteria, and constraints.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93592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22192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E6A6"/>
                </a:solidFill>
              </a:rPr>
              <a:t>Generate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849624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Create multiple possible solutions before choosing one.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9944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38544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</a:rPr>
              <a:t>Test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65976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Collect evidence from models, prototypes, data, and feedback.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226296" y="2743200"/>
            <a:ext cx="2468880" cy="1920240"/>
          </a:xfrm>
          <a:prstGeom prst="roundRect">
            <a:avLst>
              <a:gd name="adj" fmla="val 3810"/>
            </a:avLst>
          </a:prstGeom>
          <a:solidFill>
            <a:srgbClr val="0F3156"/>
          </a:solidFill>
          <a:ln w="15240">
            <a:solidFill>
              <a:srgbClr val="FF9E64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54896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E64"/>
                </a:solidFill>
              </a:rPr>
              <a:t>Communicate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482328" y="3584448"/>
            <a:ext cx="19659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6FF"/>
                </a:solidFill>
              </a:rPr>
              <a:t>Document decisions so others can understand and improve the work.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" y="534924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Today's mission: practice thinking about claims, evidence, and decisions like an engineer.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Actions: Which One Fits?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Prompt: Which action sounds most like engineering work?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584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4592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Copying exact instructions to make the same model as everyone else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64592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8296"/>
                </a:solidFill>
              </a:rPr>
              <a:t>Completion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09360" y="205740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231343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93408" y="244144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78040" y="224028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83B"/>
                </a:solidFill>
              </a:rPr>
              <a:t>Choosing the first idea because it seems easiest to build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78040" y="267004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8296"/>
                </a:solidFill>
              </a:rPr>
              <a:t>Shortcut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584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6128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592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83B"/>
                </a:solidFill>
              </a:rPr>
              <a:t>Testing two versions and comparing data before deciding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64592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8296"/>
                </a:solidFill>
              </a:rPr>
              <a:t>Engineering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309360" y="33832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6C8296"/>
          </a:solidFill>
          <a:ln w="12700">
            <a:solidFill>
              <a:srgbClr val="6C829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93408" y="3767328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178040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6283B"/>
                </a:solidFill>
              </a:rPr>
              <a:t>Making a design look impressive without checking if it works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7178040" y="39959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8296"/>
                </a:solidFill>
              </a:rPr>
              <a:t>Appearance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914400" y="5257800"/>
            <a:ext cx="10241280" cy="502920"/>
          </a:xfrm>
          <a:prstGeom prst="roundRect">
            <a:avLst>
              <a:gd name="adj" fmla="val 727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97280" y="5422392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C857"/>
                </a:solidFill>
              </a:rPr>
              <a:t>Vote first. Then we will reveal the strongest engineering choice.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 Actions: Best Answer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is using evidence to make and defend design decisions.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196596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267712"/>
            <a:ext cx="955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Testing two versions and comparing data before deciding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it fits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It uses comparison, data, and a decision based on evidence.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Why the others miss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They focus on copying, ease, or appearance rather than proof.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657600"/>
            <a:ext cx="2971800" cy="1051560"/>
          </a:xfrm>
          <a:prstGeom prst="roundRect">
            <a:avLst>
              <a:gd name="adj" fmla="val 6957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18704" y="385876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Carry-forward idea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24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In IED, your answer is stronger when it connects to evidence.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LAUNCH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IED Through an Aerospace Lens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will build transferable engineering habits using aerospace contexts and projects.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83B"/>
                </a:solidFill>
              </a:rPr>
              <a:t>Core engineering skills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280160" y="2432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Sketching and visual communication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8755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notebook documentation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8755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280160" y="3236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 modeling and technical drawings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8755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280160" y="36393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Prototyping, testing, and data analysis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98755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3FF"/>
                </a:solidFill>
              </a:rPr>
              <a:t>•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4041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reviews and evidence-based explanation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1627632"/>
            <a:ext cx="5166360" cy="4251960"/>
          </a:xfrm>
          <a:prstGeom prst="roundRect">
            <a:avLst>
              <a:gd name="adj" fmla="val 1720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9400" y="1901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Aerospace connections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5683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6949440" y="2432304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launch pad design challenge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656832" y="282549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49440" y="2834640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 models and assemblies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656832" y="322783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949440" y="3236976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Aircraft, drones, satellites, and rovers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656832" y="363016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949440" y="3639312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FabLab tools and manufacturing routines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656832" y="40325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DDCFF"/>
                </a:solidFill>
              </a:rPr>
              <a:t>•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6949440" y="40416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Human-centered aerospace capstone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108192" y="2011680"/>
            <a:ext cx="0" cy="3566160"/>
          </a:xfrm>
          <a:prstGeom prst="line">
            <a:avLst/>
          </a:prstGeom>
          <a:noFill/>
          <a:ln w="25400">
            <a:solidFill>
              <a:srgbClr val="4DDCFF">
                <a:alpha val="9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Aerospace Connection Map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course to real aerospace systems before projects begin.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600200"/>
            <a:ext cx="3337560" cy="4160520"/>
          </a:xfrm>
          <a:prstGeom prst="roundRect">
            <a:avLst>
              <a:gd name="adj" fmla="val 219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51560" y="1874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83B"/>
                </a:solidFill>
              </a:rPr>
              <a:t>Choose one system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8992" y="242316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2432304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Rocket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280720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2816352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Drone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31912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71600" y="3200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Satellite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357530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Rover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9593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371600" y="396849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Aircraft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" y="4626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83B"/>
                </a:solidFill>
              </a:rPr>
              <a:t>Then answer: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910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16283B"/>
                </a:solidFill>
              </a:rPr>
              <a:t>What design choices would an engineer need to make for that system?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4480560" y="1600200"/>
            <a:ext cx="690372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8745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Map your answer to engineering habits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4828032" y="2395728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2487168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81B33"/>
                </a:solidFill>
              </a:rPr>
              <a:t>Sketch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291072" y="245059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features or shapes might matter?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28032" y="2926080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19472" y="3017520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81B33"/>
                </a:solidFill>
              </a:rPr>
              <a:t>Model</a:t>
            </a:r>
            <a:endParaRPr lang="en-US" sz="760" dirty="0"/>
          </a:p>
        </p:txBody>
      </p:sp>
      <p:sp>
        <p:nvSpPr>
          <p:cNvPr id="28" name="Text 25"/>
          <p:cNvSpPr/>
          <p:nvPr/>
        </p:nvSpPr>
        <p:spPr>
          <a:xfrm>
            <a:off x="6291072" y="29809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could be represented in CAD or with a prototype?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4828032" y="3456432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19472" y="3547872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81B33"/>
                </a:solidFill>
              </a:rPr>
              <a:t>Measure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62910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dimensions, forces, distances, or data might matter?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4828032" y="3986784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2EE6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19472" y="4078224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81B33"/>
                </a:solidFill>
              </a:rPr>
              <a:t>Test</a:t>
            </a:r>
            <a:endParaRPr lang="en-US" sz="760" dirty="0"/>
          </a:p>
        </p:txBody>
      </p:sp>
      <p:sp>
        <p:nvSpPr>
          <p:cNvPr id="34" name="Text 31"/>
          <p:cNvSpPr/>
          <p:nvPr/>
        </p:nvSpPr>
        <p:spPr>
          <a:xfrm>
            <a:off x="6291072" y="40416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would prove that the design works?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4828032" y="4517136"/>
            <a:ext cx="1234440" cy="310896"/>
          </a:xfrm>
          <a:prstGeom prst="roundRect">
            <a:avLst>
              <a:gd name="adj" fmla="val 8824"/>
            </a:avLst>
          </a:prstGeom>
          <a:solidFill>
            <a:srgbClr val="4DDC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19472" y="4608576"/>
            <a:ext cx="10515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81B33"/>
                </a:solidFill>
              </a:rPr>
              <a:t>Communicate</a:t>
            </a:r>
            <a:endParaRPr lang="en-US" sz="760" dirty="0"/>
          </a:p>
        </p:txBody>
      </p:sp>
      <p:sp>
        <p:nvSpPr>
          <p:cNvPr id="37" name="Text 34"/>
          <p:cNvSpPr/>
          <p:nvPr/>
        </p:nvSpPr>
        <p:spPr>
          <a:xfrm>
            <a:off x="6291072" y="457200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Who needs to understand the design?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800600" y="52578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C857"/>
                </a:solidFill>
              </a:rPr>
              <a:t>Share-out target: one system + one design decision + one kind of evidence.</a:t>
            </a:r>
            <a:endParaRPr lang="en-US" sz="1450" dirty="0"/>
          </a:p>
        </p:txBody>
      </p:sp>
      <p:sp>
        <p:nvSpPr>
          <p:cNvPr id="39" name="Shape 36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MINDSET SHIFT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vs. Engineering Problem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just to finish; the goal is to make a design claim you can defend.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F4FAFF"/>
          </a:solidFill>
          <a:ln w="15240">
            <a:solidFill>
              <a:srgbClr val="D1EAF8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83B"/>
                </a:solidFill>
              </a:rPr>
              <a:t>Typical assignment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84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278"/>
                </a:solidFill>
              </a:rPr>
              <a:t>Completion mindset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2412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16736" y="2798064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has one expected answer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316736" y="3227832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completed and put away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2412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316736" y="3657600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judged by correct/incorrect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2412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8296"/>
                </a:solidFill>
              </a:rPr>
              <a:t>•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316736" y="4087368"/>
            <a:ext cx="3867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628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Mistakes are avoided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446520" y="160020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1920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Engineering problem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766560" y="2304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6"/>
                </a:solidFill>
              </a:rPr>
              <a:t>Evidence mindset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84848" y="27889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077456" y="2798064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multiple possible solutions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84848" y="3218688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077456" y="322783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satisfy criteria and constraints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84848" y="3648456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077456" y="365760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testing to compare designs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784848" y="4078224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E6A6"/>
                </a:solidFill>
              </a:rPr>
              <a:t>•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077456" y="4087368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Mistakes become evidence for improvement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5742432" y="3154680"/>
            <a:ext cx="640080" cy="640080"/>
          </a:xfrm>
          <a:prstGeom prst="chevron">
            <a:avLst/>
          </a:prstGeom>
          <a:solidFill>
            <a:srgbClr val="FFC857"/>
          </a:solidFill>
          <a:ln w="12700">
            <a:solidFill>
              <a:srgbClr val="FFC857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Engineering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Engineers connect what they claim to proof that others can inspect.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FFC857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Claim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9728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you believe about the design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02336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F4FAFF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83B"/>
                </a:solidFill>
              </a:rPr>
              <a:t>Evidence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84632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05B70"/>
                </a:solidFill>
              </a:rPr>
              <a:t>What proves or challenges the claim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0" y="2331720"/>
            <a:ext cx="438912" cy="411480"/>
          </a:xfrm>
          <a:prstGeom prst="chevron">
            <a:avLst/>
          </a:prstGeom>
          <a:solidFill>
            <a:srgbClr val="89DDF8"/>
          </a:solidFill>
          <a:ln w="12700">
            <a:solidFill>
              <a:srgbClr val="89DDF8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66760" y="1874520"/>
            <a:ext cx="3063240" cy="1325880"/>
          </a:xfrm>
          <a:prstGeom prst="roundRect">
            <a:avLst>
              <a:gd name="adj" fmla="val 5517"/>
            </a:avLst>
          </a:prstGeom>
          <a:solidFill>
            <a:srgbClr val="0F3156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2121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595360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What you do next because of the evidence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37673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Evidence can include…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6012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Sketches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5196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8912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Measurements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43800" y="4315968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441655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Test data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Observations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25196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Photos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543800" y="4882896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163D68"/>
          </a:solidFill>
          <a:ln w="12700">
            <a:solidFill>
              <a:srgbClr val="2F6B95">
                <a:alpha val="5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80960" y="498348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6FF"/>
                </a:solidFill>
              </a:rPr>
              <a:t>User feedback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claim. Select the evidence that would best support it.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36192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3FF"/>
                </a:solidFill>
              </a:rPr>
              <a:t>Claim: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920240" y="179222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283B"/>
                </a:solidFill>
              </a:rPr>
              <a:t>“Our launch pad design supports the rocket safely and is ready for testing.”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97280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278"/>
                </a:solidFill>
              </a:rPr>
              <a:t>Vote for the two strongest pieces of evidence.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2880360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980944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DCFF"/>
                </a:solidFill>
              </a:rPr>
              <a:t>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508760" y="2953512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F"/>
                </a:solidFill>
              </a:rPr>
              <a:t>A labeled sketch showing where the rocket contacts the support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05840" y="3355848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3456432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DCFF"/>
                </a:solidFill>
              </a:rPr>
              <a:t>B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508760" y="3429000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F"/>
                </a:solidFill>
              </a:rPr>
              <a:t>A photo that makes the prototype look finished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1005840" y="3831336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43000" y="3931920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DCFF"/>
                </a:solidFill>
              </a:rPr>
              <a:t>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508760" y="3904488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F"/>
                </a:solidFill>
              </a:rPr>
              <a:t>A stability test showing the pad does not tip with the rocket placed on it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5840" y="4306824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4407408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DCFF"/>
                </a:solidFill>
              </a:rPr>
              <a:t>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508760" y="4379976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F"/>
                </a:solidFill>
              </a:rPr>
              <a:t>A teammate saying the design is probably strong enough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005840" y="4782312"/>
            <a:ext cx="9966960" cy="347472"/>
          </a:xfrm>
          <a:prstGeom prst="roundRect">
            <a:avLst>
              <a:gd name="adj" fmla="val 7895"/>
            </a:avLst>
          </a:prstGeom>
          <a:solidFill>
            <a:srgbClr val="0F3156"/>
          </a:solidFill>
          <a:ln w="12700">
            <a:solidFill>
              <a:srgbClr val="2F6B95">
                <a:alpha val="8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43000" y="4882896"/>
            <a:ext cx="2194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DDCFF"/>
                </a:solidFill>
              </a:rPr>
              <a:t>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508760" y="4855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6FF"/>
                </a:solidFill>
              </a:rPr>
              <a:t>A list of the materials used to build the base and support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532120"/>
            <a:ext cx="9966960" cy="384048"/>
          </a:xfrm>
          <a:prstGeom prst="roundRect">
            <a:avLst>
              <a:gd name="adj" fmla="val 714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70432" y="5660136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857"/>
                </a:solidFill>
              </a:rPr>
              <a:t>Vote first. Then we will reveal the best evidence pair.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Evidence Would You Need?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evidence must connect directly to the design claim.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support: A +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574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33172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6"/>
                </a:solidFill>
              </a:rPr>
              <a:t>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258568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labeled sketch showing where the rocket contacts the support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66760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F"/>
                </a:solidFill>
              </a:rPr>
              <a:t>Shows design intent and support locations.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227832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350215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6"/>
                </a:solidFill>
              </a:rPr>
              <a:t>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645920" y="3429000"/>
            <a:ext cx="6492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 stability test showing the pad does not tip with the rocket placed on it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3667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6FF"/>
                </a:solidFill>
              </a:rPr>
              <a:t>Shows performance against a safety/stability criterion.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4800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C857"/>
                </a:solidFill>
              </a:rPr>
              <a:t>Useful, but not enough alone: photos, material lists, and teammate opinions can support the story, but they do not prove the claim by themselves.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strongest next step and explain your reasoning.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3619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 team builds a small rocket support. During the first test, it stands up, but the rocket leans to one side.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0120" y="2395728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07008" y="255117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3FF"/>
                </a:solidFill>
              </a:rPr>
              <a:t>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00200" y="2514600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83B"/>
                </a:solidFill>
              </a:rPr>
              <a:t>Keep it because the prototype did not fall over.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60120" y="3108960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7008" y="326440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3FF"/>
                </a:solidFill>
              </a:rPr>
              <a:t>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600200" y="3227832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83B"/>
                </a:solidFill>
              </a:rPr>
              <a:t>Add decorations so the design looks more complete.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3822192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07008" y="397764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3FF"/>
                </a:solidFill>
              </a:rPr>
              <a:t>C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600200" y="3941064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83B"/>
                </a:solidFill>
              </a:rPr>
              <a:t>Record the lean, identify where the support is uneven, revise, and retest.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535424"/>
            <a:ext cx="10058400" cy="493776"/>
          </a:xfrm>
          <a:prstGeom prst="roundRect">
            <a:avLst>
              <a:gd name="adj" fmla="val 14815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07008" y="46908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3FF"/>
                </a:solidFill>
              </a:rPr>
              <a:t>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600200" y="4654296"/>
            <a:ext cx="9006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83B"/>
                </a:solidFill>
              </a:rPr>
              <a:t>Start over without writing down what happened.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60120" y="5422392"/>
            <a:ext cx="10058400" cy="438912"/>
          </a:xfrm>
          <a:prstGeom prst="roundRect">
            <a:avLst>
              <a:gd name="adj" fmla="val 8333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5568696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C857"/>
                </a:solidFill>
              </a:rPr>
              <a:t>Vote first. Then we will reveal the strongest next step.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the Engineer Do Next?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next step turns a problem into useful evidence.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E6A6"/>
                </a:solidFill>
              </a:rPr>
              <a:t>Best answer: C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14400" y="201168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2304288"/>
            <a:ext cx="9555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Record the lean, identify where the support is uneven, revise, and retest.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14400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Record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70432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Write down what happened during the test.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5112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07992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Identify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81144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Find the likely cause of the lean.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35824" y="3703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18704" y="3913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Revise + Retest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91856" y="42793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05B70"/>
                </a:solidFill>
              </a:rPr>
              <a:t>Change the design and collect new evidence.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" y="53492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857"/>
                </a:solidFill>
              </a:rPr>
              <a:t>Engineering move: use the problem as evidence, not as a reason to hide or restart the work.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4440" y="1938528"/>
            <a:ext cx="420624" cy="420624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04825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385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6283B"/>
                </a:solidFill>
              </a:rPr>
              <a:t>“Our design is the best because it looks strong.”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9933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7F8E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60120" y="297180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34440" y="317296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28269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17296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“Version 2 traveled 12 ft farther than Version 1 in the official test.”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03920" y="32278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06240"/>
            <a:ext cx="10012680" cy="822960"/>
          </a:xfrm>
          <a:prstGeom prst="roundRect">
            <a:avLst>
              <a:gd name="adj" fmla="val 8889"/>
            </a:avLst>
          </a:prstGeom>
          <a:solidFill>
            <a:srgbClr val="0F3156"/>
          </a:solidFill>
          <a:ln w="15240">
            <a:solidFill>
              <a:srgbClr val="4DDCFF">
                <a:alpha val="8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4440" y="4407408"/>
            <a:ext cx="420624" cy="420624"/>
          </a:xfrm>
          <a:prstGeom prst="ellipse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4517136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4074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“We changed the wing fold because the first test curved left three times.”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4622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E6A6"/>
                </a:solidFill>
              </a:rPr>
              <a:t>Vote: evidence or opinion?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596128"/>
            <a:ext cx="10012680" cy="457200"/>
          </a:xfrm>
          <a:prstGeom prst="roundRect">
            <a:avLst>
              <a:gd name="adj" fmla="val 8000"/>
            </a:avLst>
          </a:prstGeom>
          <a:solidFill>
            <a:srgbClr val="163D68"/>
          </a:solidFill>
          <a:ln w="12700">
            <a:solidFill>
              <a:srgbClr val="163D6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5733288"/>
            <a:ext cx="9646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857"/>
                </a:solidFill>
              </a:rPr>
              <a:t>Vote first. Then we will reveal which statements are strongest.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or Opinion?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engineering answer connects a claim to specific evidence.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73736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4440" y="1920240"/>
            <a:ext cx="402336" cy="402336"/>
          </a:xfrm>
          <a:prstGeom prst="ellipse">
            <a:avLst/>
          </a:prstGeom>
          <a:solidFill>
            <a:srgbClr val="6D7F8E"/>
          </a:solidFill>
          <a:ln w="12700">
            <a:solidFill>
              <a:srgbClr val="6D7F8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02996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874520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283B"/>
                </a:solidFill>
              </a:rPr>
              <a:t>Opinion-heavy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937760" y="1938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05B70"/>
                </a:solidFill>
              </a:rPr>
              <a:t>Uses a vague judgment: “looks strong.”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292608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34440" y="310896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1600" y="321868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B33"/>
                </a:solidFill>
              </a:rPr>
              <a:t>B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74520" y="3090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Evidence-based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937760" y="31272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Uses a measurable result: 12 ft farther.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" y="4114800"/>
            <a:ext cx="10012680" cy="777240"/>
          </a:xfrm>
          <a:prstGeom prst="roundRect">
            <a:avLst>
              <a:gd name="adj" fmla="val 9412"/>
            </a:avLst>
          </a:prstGeom>
          <a:solidFill>
            <a:srgbClr val="123A63"/>
          </a:solidFill>
          <a:ln w="15240">
            <a:solidFill>
              <a:srgbClr val="2EE6A6">
                <a:alpha val="8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234440" y="4297680"/>
            <a:ext cx="402336" cy="402336"/>
          </a:xfrm>
          <a:prstGeom prst="ellipse">
            <a:avLst/>
          </a:prstGeom>
          <a:solidFill>
            <a:srgbClr val="2EE6A6"/>
          </a:solidFill>
          <a:ln w="12700">
            <a:solidFill>
              <a:srgbClr val="2EE6A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4407408"/>
            <a:ext cx="14630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81B33"/>
                </a:solidFill>
              </a:rPr>
              <a:t>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74520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Evidence-based reasoning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937760" y="431596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AF6FF"/>
                </a:solidFill>
              </a:rPr>
              <a:t>Connects a change to repeated test observations.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60120" y="539496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Takeaway: claim + specific evidence = stronger engineering communication.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DDCFF"/>
          </a:solidFill>
          <a:ln w="12700">
            <a:solidFill>
              <a:srgbClr val="4DDC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474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D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8368" y="107899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E6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mindset before we move into notebook setup.</a:t>
            </a:r>
            <a:endParaRPr lang="en-US" sz="1150" dirty="0"/>
          </a:p>
        </p:txBody>
      </p:sp>
      <p:pic>
        <p:nvPicPr>
          <p:cNvPr id="6" name="Image 0" descr="/mnt/data/lockwoodstem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411480"/>
            <a:ext cx="169164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1691640"/>
            <a:ext cx="10469880" cy="4069080"/>
          </a:xfrm>
          <a:prstGeom prst="roundRect">
            <a:avLst>
              <a:gd name="adj" fmla="val 1798"/>
            </a:avLst>
          </a:prstGeom>
          <a:solidFill>
            <a:srgbClr val="F4FAFF"/>
          </a:solidFill>
          <a:ln w="15240">
            <a:solidFill>
              <a:srgbClr val="A7D8F5">
                <a:alpha val="8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2029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83B"/>
                </a:solidFill>
              </a:rPr>
              <a:t>Respond in your notebook or on the assigned class format: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298448" y="2724912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63040" y="285292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029968" y="2825496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83B"/>
                </a:solidFill>
              </a:rPr>
              <a:t>One way engineering problems are different from typical school assignments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1298448" y="3474720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463040" y="3602736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029968" y="3575304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83B"/>
                </a:solidFill>
              </a:rPr>
              <a:t>One type of evidence you could use to support a design decision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1298448" y="4224528"/>
            <a:ext cx="457200" cy="457200"/>
          </a:xfrm>
          <a:prstGeom prst="ellipse">
            <a:avLst/>
          </a:prstGeom>
          <a:solidFill>
            <a:srgbClr val="00A3FF"/>
          </a:solidFill>
          <a:ln w="12700">
            <a:solidFill>
              <a:srgbClr val="00A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463040" y="435254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29968" y="4325112"/>
            <a:ext cx="8183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83B"/>
                </a:solidFill>
              </a:rPr>
              <a:t>One question you still have about IED, aerospace engineering, or this class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188720" y="5166360"/>
            <a:ext cx="9052560" cy="347472"/>
          </a:xfrm>
          <a:prstGeom prst="roundRect">
            <a:avLst>
              <a:gd name="adj" fmla="val 10526"/>
            </a:avLst>
          </a:prstGeom>
          <a:solidFill>
            <a:srgbClr val="E4F5FF"/>
          </a:solidFill>
          <a:ln w="12700">
            <a:solidFill>
              <a:srgbClr val="E4F5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25880" y="5276088"/>
            <a:ext cx="8732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83B"/>
                </a:solidFill>
              </a:rPr>
              <a:t>Next mission: Lesson 0.2 — Engineering Notebook Setup &amp; Course Resources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02920" y="6419088"/>
            <a:ext cx="11173968" cy="0"/>
          </a:xfrm>
          <a:prstGeom prst="line">
            <a:avLst/>
          </a:prstGeom>
          <a:noFill/>
          <a:ln w="12700">
            <a:solidFill>
              <a:srgbClr val="7AA6C8">
                <a:alpha val="3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6473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9692640" y="64739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FB7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0.1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0.1 Course Launch &amp; Engineering Mindset</dc:title>
  <dc:subject>IED Unit 0 Lesson 0.1</dc:subject>
  <dc:creator>LockwoodSTEM</dc:creator>
  <cp:lastModifiedBy>LockwoodSTEM</cp:lastModifiedBy>
  <cp:revision>1</cp:revision>
  <dcterms:created xsi:type="dcterms:W3CDTF">2026-07-16T18:24:39Z</dcterms:created>
  <dcterms:modified xsi:type="dcterms:W3CDTF">2026-07-16T18:24:39Z</dcterms:modified>
</cp:coreProperties>
</file>