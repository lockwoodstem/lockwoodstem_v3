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463040" cy="502920"/>
          </a:xfrm>
          <a:prstGeom prst="rect">
            <a:avLst/>
          </a:prstGeom>
        </p:spPr>
      </p:pic>
      <p:pic>
        <p:nvPicPr>
          <p:cNvPr id="3" name="Image 1" descr="/mnt/data/site_orig/LockwoodSTEM_V3-main/assets/img/course-icons/ied-course-icon.png">    </p:cNvPr>
          <p:cNvPicPr>
            <a:picLocks noChangeAspect="1"/>
          </p:cNvPicPr>
          <p:nvPr/>
        </p:nvPicPr>
        <p:blipFill>
          <a:blip r:embed="rId2">
            <a:alphaModFix amt="96000"/>
          </a:blip>
          <a:stretch>
            <a:fillRect/>
          </a:stretch>
        </p:blipFill>
        <p:spPr>
          <a:xfrm>
            <a:off x="9646920" y="457200"/>
            <a:ext cx="1417320" cy="1417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1225296"/>
            <a:ext cx="5486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IED UNIT 4 • LESSON 4.5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58368" y="1609344"/>
            <a:ext cx="7589520" cy="10789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Mechanisms and Types of Motion</a:t>
            </a:r>
            <a:endParaRPr lang="en-US" sz="3100" dirty="0"/>
          </a:p>
        </p:txBody>
      </p:sp>
      <p:sp>
        <p:nvSpPr>
          <p:cNvPr id="6" name="Text 2"/>
          <p:cNvSpPr/>
          <p:nvPr/>
        </p:nvSpPr>
        <p:spPr>
          <a:xfrm>
            <a:off x="658368" y="3063240"/>
            <a:ext cx="2011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58368" y="3364992"/>
            <a:ext cx="777240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mechanisms change or control motion in aerospace systems?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583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22960" y="4800600"/>
            <a:ext cx="1627632" cy="0"/>
          </a:xfrm>
          <a:prstGeom prst="line">
            <a:avLst/>
          </a:prstGeom>
          <a:noFill/>
          <a:ln w="12700">
            <a:solidFill>
              <a:srgbClr val="2ED3F6">
                <a:alpha val="6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1729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D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337560" y="4800600"/>
            <a:ext cx="1627632" cy="0"/>
          </a:xfrm>
          <a:prstGeom prst="line">
            <a:avLst/>
          </a:prstGeom>
          <a:noFill/>
          <a:ln w="12700">
            <a:solidFill>
              <a:srgbClr val="2ED3F6">
                <a:alpha val="6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875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852160" y="4800600"/>
            <a:ext cx="1627632" cy="0"/>
          </a:xfrm>
          <a:prstGeom prst="line">
            <a:avLst/>
          </a:prstGeom>
          <a:noFill/>
          <a:ln w="12700">
            <a:solidFill>
              <a:srgbClr val="2ED3F6">
                <a:alpha val="6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8368" y="6217920"/>
            <a:ext cx="77724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F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Mechanisms, Materials &amp; Electromechanical Systems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45-Minute Flight Plan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4.5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1133856"/>
            <a:ext cx="10058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build the system-thinking habits used throughout Unit 4.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1572768"/>
            <a:ext cx="3886200" cy="23317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737360"/>
            <a:ext cx="34655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86968" y="2139696"/>
            <a:ext cx="33832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linear, rotary, oscillating, and reciprocating motion.</a:t>
            </a:r>
            <a:endParaRPr lang="en-US" sz="1280" dirty="0"/>
          </a:p>
          <a:p>
            <a:pPr marL="165100" indent="-165100">
              <a:buSzPct val="100000"/>
              <a:buChar char="•"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how a mechanism changes direction, speed, force, or motion type.</a:t>
            </a:r>
            <a:endParaRPr lang="en-US" sz="1280" dirty="0"/>
          </a:p>
          <a:p>
            <a:pPr marL="165100" indent="-165100">
              <a:buSzPct val="100000"/>
              <a:buChar char="•"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motion choices to aerospace systems such as control surfaces, landing gear, or payload doors.</a:t>
            </a:r>
            <a:endParaRPr lang="en-US" sz="1280" dirty="0"/>
          </a:p>
        </p:txBody>
      </p:sp>
      <p:sp>
        <p:nvSpPr>
          <p:cNvPr id="11" name="Shape 8"/>
          <p:cNvSpPr/>
          <p:nvPr/>
        </p:nvSpPr>
        <p:spPr>
          <a:xfrm>
            <a:off x="4709160" y="1572768"/>
            <a:ext cx="3063240" cy="2331720"/>
          </a:xfrm>
          <a:prstGeom prst="roundRect">
            <a:avLst>
              <a:gd name="adj" fmla="val 5882"/>
            </a:avLst>
          </a:prstGeom>
          <a:solidFill>
            <a:srgbClr val="F7FBFF"/>
          </a:solidFill>
          <a:ln w="12700">
            <a:solidFill>
              <a:srgbClr val="C9E6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19472" y="1737360"/>
            <a:ext cx="26426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like…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2103120"/>
            <a:ext cx="2606040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identify motion types and explain how mechanisms transfer or transform motion.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01000" y="1572768"/>
            <a:ext cx="3520440" cy="4023360"/>
          </a:xfrm>
          <a:prstGeom prst="roundRect">
            <a:avLst>
              <a:gd name="adj" fmla="val 3896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11312" y="1737360"/>
            <a:ext cx="30998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+ pacing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93608" y="2139696"/>
            <a:ext cx="3017520" cy="3337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Opening prompt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Quick vote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min Unit 4 connection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Core skill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 Evidence challenge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Scenario check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 Exit debrief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713232" y="4709160"/>
            <a:ext cx="66751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end, your claim about today’s work should connect to evidence someone else can inspect.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mechanisms change or control motion in aerospace systems?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2331720"/>
            <a:ext cx="5166360" cy="1965960"/>
          </a:xfrm>
          <a:prstGeom prst="roundRect">
            <a:avLst>
              <a:gd name="adj" fmla="val 6977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1832" y="2496312"/>
            <a:ext cx="474573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862072"/>
            <a:ext cx="4709160" cy="1307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materials, forces, motion, circuit behavior, or data would help answer today’s focus question?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63640" y="2331720"/>
            <a:ext cx="4617720" cy="1965960"/>
          </a:xfrm>
          <a:prstGeom prst="roundRect">
            <a:avLst>
              <a:gd name="adj" fmla="val 697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73952" y="2496312"/>
            <a:ext cx="41970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class share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92240" y="2862072"/>
            <a:ext cx="4160520" cy="1307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one short answer. Try to use a specific engineering action word.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77240" y="5074920"/>
            <a:ext cx="9144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reveal a working lesson definition on the next slide.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Definition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13232" y="1298448"/>
            <a:ext cx="10716768" cy="1207008"/>
          </a:xfrm>
          <a:prstGeom prst="roundRect">
            <a:avLst>
              <a:gd name="adj" fmla="val 11364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3544" y="1463040"/>
            <a:ext cx="10296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working definition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1832" y="1828800"/>
            <a:ext cx="1025956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this lesson, engineers identify, transform, explain so an aerospace system can be built, tested, revised, and defended with evidence.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35608" y="2889504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182112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linear, rotary, oscillating, and reciprocating motion.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416052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6052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27448" y="2889504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727448" y="3182112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how a mechanism changes direction, speed, force, or motion type.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745236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5236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19288" y="2889504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19288" y="3182112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motion choices to aerospace systems such as control surfaces, landing gear, or payload doors.</a:t>
            </a:r>
            <a:endParaRPr lang="en-US" sz="1220" dirty="0"/>
          </a:p>
        </p:txBody>
      </p:sp>
      <p:sp>
        <p:nvSpPr>
          <p:cNvPr id="22" name="Text 19"/>
          <p:cNvSpPr/>
          <p:nvPr/>
        </p:nvSpPr>
        <p:spPr>
          <a:xfrm>
            <a:off x="868680" y="5193792"/>
            <a:ext cx="9875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idea: good systems combine structure, motion, electrical behavior, and data into one clear design story.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One Fits?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4.5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9509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627632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Which action best supports mechanisms and types of motion?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77240" y="2331720"/>
            <a:ext cx="48006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2496312"/>
            <a:ext cx="4379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the first example without checking the system goal</a:t>
            </a:r>
            <a:endParaRPr lang="en-US" sz="1260" dirty="0"/>
          </a:p>
        </p:txBody>
      </p:sp>
      <p:sp>
        <p:nvSpPr>
          <p:cNvPr id="12" name="Shape 9"/>
          <p:cNvSpPr/>
          <p:nvPr/>
        </p:nvSpPr>
        <p:spPr>
          <a:xfrm>
            <a:off x="6172200" y="2331720"/>
            <a:ext cx="48006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82512" y="2496312"/>
            <a:ext cx="4379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evidence and criteria to make a controlled decision</a:t>
            </a:r>
            <a:endParaRPr lang="en-US" sz="1260" dirty="0"/>
          </a:p>
        </p:txBody>
      </p:sp>
      <p:sp>
        <p:nvSpPr>
          <p:cNvPr id="15" name="Shape 12"/>
          <p:cNvSpPr/>
          <p:nvPr/>
        </p:nvSpPr>
        <p:spPr>
          <a:xfrm>
            <a:off x="777240" y="3657600"/>
            <a:ext cx="48006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87552" y="3822192"/>
            <a:ext cx="4379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584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the simplest option because it is fastest</a:t>
            </a:r>
            <a:endParaRPr lang="en-US" sz="1260" dirty="0"/>
          </a:p>
        </p:txBody>
      </p:sp>
      <p:sp>
        <p:nvSpPr>
          <p:cNvPr id="18" name="Shape 15"/>
          <p:cNvSpPr/>
          <p:nvPr/>
        </p:nvSpPr>
        <p:spPr>
          <a:xfrm>
            <a:off x="6172200" y="3657600"/>
            <a:ext cx="48006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82512" y="3822192"/>
            <a:ext cx="4379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prototype look finished before testing it</a:t>
            </a:r>
            <a:endParaRPr lang="en-US" sz="1260" dirty="0"/>
          </a:p>
        </p:txBody>
      </p:sp>
      <p:sp>
        <p:nvSpPr>
          <p:cNvPr id="21" name="Text 18"/>
          <p:cNvSpPr/>
          <p:nvPr/>
        </p:nvSpPr>
        <p:spPr>
          <a:xfrm>
            <a:off x="777240" y="5321808"/>
            <a:ext cx="8595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next slide reveals the strongest engineering choice.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" y="1417320"/>
            <a:ext cx="3703320" cy="2057400"/>
          </a:xfrm>
          <a:prstGeom prst="roundRect">
            <a:avLst>
              <a:gd name="adj" fmla="val 6667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3272" y="1581912"/>
            <a:ext cx="32826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947672"/>
            <a:ext cx="324612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— Identify the input, output, and function before choosing a mechanism.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800600" y="1417320"/>
            <a:ext cx="29260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10912" y="1581912"/>
            <a:ext cx="25054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uses lesson-specific evidence, criteria, or system behavior instead of guessing.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001000" y="1417320"/>
            <a:ext cx="29260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11312" y="1581912"/>
            <a:ext cx="25054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others miss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treat engineering as completion rather than controlled decision-making.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14400" y="4343400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IED, your answer is stronger when it connects a system claim to observable proof.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4 CONNECTION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Systems Evidence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4.5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4 connects materials, mechanisms, motion, data, circuits, and prototype testing into one working system.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85800" y="1755648"/>
            <a:ext cx="32461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1920240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Materials + structure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8408" y="2322576"/>
            <a:ext cx="274320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 and stiffness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Mass and durability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 limits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test evidence</a:t>
            </a:r>
            <a:endParaRPr lang="en-US" sz="1340" dirty="0"/>
          </a:p>
        </p:txBody>
      </p:sp>
      <p:sp>
        <p:nvSpPr>
          <p:cNvPr id="11" name="Shape 8"/>
          <p:cNvSpPr/>
          <p:nvPr/>
        </p:nvSpPr>
        <p:spPr>
          <a:xfrm>
            <a:off x="4434840" y="1755648"/>
            <a:ext cx="32461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45152" y="1920240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 + motion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27448" y="2322576"/>
            <a:ext cx="274320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and output motion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Friction and force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and alignment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checks</a:t>
            </a:r>
            <a:endParaRPr lang="en-US" sz="1340" dirty="0"/>
          </a:p>
        </p:txBody>
      </p:sp>
      <p:sp>
        <p:nvSpPr>
          <p:cNvPr id="14" name="Shape 11"/>
          <p:cNvSpPr/>
          <p:nvPr/>
        </p:nvSpPr>
        <p:spPr>
          <a:xfrm>
            <a:off x="8183880" y="1755648"/>
            <a:ext cx="32461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94192" y="1920240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Circuits + data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76488" y="2322576"/>
            <a:ext cx="274320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connections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or electrical function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protocol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Graphs and conclusions</a:t>
            </a:r>
            <a:endParaRPr lang="en-US" sz="1340" dirty="0"/>
          </a:p>
        </p:txBody>
      </p:sp>
      <p:sp>
        <p:nvSpPr>
          <p:cNvPr id="17" name="Text 14"/>
          <p:cNvSpPr/>
          <p:nvPr/>
        </p:nvSpPr>
        <p:spPr>
          <a:xfrm>
            <a:off x="822960" y="5074920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focus: You can identify motion types and explain how mechanisms transfer or transform motion.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+ TALK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Skill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4.5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system evidence source and connect it to today’s lesson.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16916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1856232"/>
            <a:ext cx="3236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evidence source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8408" y="2258568"/>
            <a:ext cx="315468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test result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 sketch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Friction observation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Circuit check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or data table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617720" y="1691640"/>
            <a:ext cx="6537960" cy="3291840"/>
          </a:xfrm>
          <a:prstGeom prst="roundRect">
            <a:avLst>
              <a:gd name="adj" fmla="val 416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28032" y="1856232"/>
            <a:ext cx="611733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answer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2221992"/>
            <a:ext cx="6080760" cy="2633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would this evidence help you identify, transform, or explain the prototype system?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731520" y="5349240"/>
            <a:ext cx="98755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Share-out target: one evidence source + one system decision + one reason it matters.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SKILL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Are Practicing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85800" y="1508760"/>
            <a:ext cx="324612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673352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039112"/>
            <a:ext cx="2788920" cy="1764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Mechanisms make motion useful and controlled.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389120" y="1508760"/>
            <a:ext cx="3246120" cy="2423160"/>
          </a:xfrm>
          <a:prstGeom prst="roundRect">
            <a:avLst>
              <a:gd name="adj" fmla="val 5660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99432" y="1673352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17720" y="2039112"/>
            <a:ext cx="2788920" cy="1764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 can be transferred, transformed, limited, or amplified.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8092440" y="1508760"/>
            <a:ext cx="324612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02752" y="1673352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21040" y="2039112"/>
            <a:ext cx="2788920" cy="1764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mechanism choice should match the function the system must perform.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143000" y="4526280"/>
            <a:ext cx="9921240" cy="868680"/>
          </a:xfrm>
          <a:prstGeom prst="roundRect">
            <a:avLst>
              <a:gd name="adj" fmla="val 15789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53312" y="4690872"/>
            <a:ext cx="95006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habit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371600" y="5056632"/>
            <a:ext cx="946404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just complete the prototype task. Save the evidence that explains how you know the system works or what should change next.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→ Evidence → Decision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914400" y="146304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52704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81328" y="144475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81328" y="173736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believe about the material, mechanism, circuit, data, or prototype.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4343400" y="146304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43400" y="152704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10328" y="144475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10328" y="173736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 or challenges the claim: tests, graphs, observations, photos, measurements.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7772400" y="146304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0" y="152704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339328" y="144475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39328" y="173736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do next because of the evidence.</a:t>
            </a:r>
            <a:endParaRPr lang="en-US" sz="1220" dirty="0"/>
          </a:p>
        </p:txBody>
      </p:sp>
      <p:sp>
        <p:nvSpPr>
          <p:cNvPr id="19" name="Text 16"/>
          <p:cNvSpPr/>
          <p:nvPr/>
        </p:nvSpPr>
        <p:spPr>
          <a:xfrm>
            <a:off x="1005840" y="3337560"/>
            <a:ext cx="9875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claim: “My mechanisms and types of motion work is ready to move forward.”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1005840" y="4069080"/>
            <a:ext cx="9144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prove the claim?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challenge it?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decision should happen next?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You Need?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4.5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2412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Claim: “My mechanisms and types of motion work is accurate and ready to move forward.”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777240" y="20574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22219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25877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photo, graph, sketch, or model view that shows the work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6172200" y="20574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82512" y="22219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0" y="25877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statement that it looks good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777240" y="29718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31363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05840" y="35021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measurements, test results, circuit checks, or observations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6172200" y="29718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82512" y="31363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35021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file name that does not identify the lesson or prototype</a:t>
            </a:r>
            <a:endParaRPr lang="en-US" sz="1260" dirty="0"/>
          </a:p>
        </p:txBody>
      </p:sp>
      <p:sp>
        <p:nvSpPr>
          <p:cNvPr id="20" name="Shape 17"/>
          <p:cNvSpPr/>
          <p:nvPr/>
        </p:nvSpPr>
        <p:spPr>
          <a:xfrm>
            <a:off x="777240" y="38862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" y="40507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05840" y="44165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teammate saying it is probably fine</a:t>
            </a:r>
            <a:endParaRPr lang="en-US" sz="1260" dirty="0"/>
          </a:p>
        </p:txBody>
      </p:sp>
      <p:sp>
        <p:nvSpPr>
          <p:cNvPr id="23" name="Text 20"/>
          <p:cNvSpPr/>
          <p:nvPr/>
        </p:nvSpPr>
        <p:spPr>
          <a:xfrm>
            <a:off x="777240" y="5440680"/>
            <a:ext cx="9418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for the two strongest pieces of evidence. The answer is on the next slide.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Evidence Pair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68680" y="1417320"/>
            <a:ext cx="4754880" cy="2011680"/>
          </a:xfrm>
          <a:prstGeom prst="roundRect">
            <a:avLst>
              <a:gd name="adj" fmla="val 6818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1581912"/>
            <a:ext cx="43342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support: A + 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1947672"/>
            <a:ext cx="4297680" cy="1353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shows what was created or observed. C shows whether it meets the requirement or supports the design decision.</a:t>
            </a:r>
            <a:endParaRPr lang="en-US" sz="1680" dirty="0"/>
          </a:p>
        </p:txBody>
      </p:sp>
      <p:sp>
        <p:nvSpPr>
          <p:cNvPr id="10" name="Shape 7"/>
          <p:cNvSpPr/>
          <p:nvPr/>
        </p:nvSpPr>
        <p:spPr>
          <a:xfrm>
            <a:off x="5989320" y="1417320"/>
            <a:ext cx="475488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99632" y="1581912"/>
            <a:ext cx="43342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Useful, but not enough alone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0" y="1947672"/>
            <a:ext cx="4297680" cy="1353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Appearance, vague confidence, or unclear file names can support the story, but they do not prove the claim by themselves.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960120" y="4389120"/>
            <a:ext cx="97840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should connect directly to the system claim you are making.</a:t>
            </a:r>
            <a:endParaRPr lang="en-US" sz="2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the Engineer Do Next?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4.5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77240" y="1234440"/>
            <a:ext cx="102412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Scenario: A student working on mechanisms and types of motion notices the result does not match the expected system behavior.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77240" y="2148840"/>
            <a:ext cx="4892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231343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2679192"/>
            <a:ext cx="4434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it and keep going because the task is almost finished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6172200" y="2148840"/>
            <a:ext cx="4892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82512" y="231343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0" y="2679192"/>
            <a:ext cx="4434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777240" y="3246120"/>
            <a:ext cx="4892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341071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05840" y="3776472"/>
            <a:ext cx="4434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the evidence and restart without notes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6172200" y="3246120"/>
            <a:ext cx="4892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82512" y="341071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3776472"/>
            <a:ext cx="4434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faster option even if it cannot be justified</a:t>
            </a:r>
            <a:endParaRPr lang="en-US" sz="1260" dirty="0"/>
          </a:p>
        </p:txBody>
      </p:sp>
      <p:sp>
        <p:nvSpPr>
          <p:cNvPr id="20" name="Text 17"/>
          <p:cNvSpPr/>
          <p:nvPr/>
        </p:nvSpPr>
        <p:spPr>
          <a:xfrm>
            <a:off x="822960" y="5257800"/>
            <a:ext cx="8595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next slide reveals the strongest next step.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Engineering Move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68680" y="141732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1581912"/>
            <a:ext cx="3236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1947672"/>
            <a:ext cx="3200400" cy="1353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892040" y="15087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92040" y="15727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58968" y="149047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58968" y="178308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what happened with a note, photo, graph, measurement, or test result.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4892040" y="24231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92040" y="24871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58968" y="240487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58968" y="269748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likely cause before changing the system.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4892040" y="33375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92040" y="34015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58968" y="331927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 + Check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58968" y="361188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a targeted change and collect new evidence.</a:t>
            </a:r>
            <a:endParaRPr lang="en-US" sz="1220" dirty="0"/>
          </a:p>
        </p:txBody>
      </p:sp>
      <p:sp>
        <p:nvSpPr>
          <p:cNvPr id="22" name="Text 19"/>
          <p:cNvSpPr/>
          <p:nvPr/>
        </p:nvSpPr>
        <p:spPr>
          <a:xfrm>
            <a:off x="1005840" y="5166360"/>
            <a:ext cx="9875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move: use the problem as evidence, not as a reason to hide the work.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4.5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43000"/>
            <a:ext cx="95097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explain which statement is strongest and why.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" y="1783080"/>
            <a:ext cx="1024128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1947672"/>
            <a:ext cx="98206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2313432"/>
            <a:ext cx="9784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mechanisms and types of motion work is good because it looks complete.”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77240" y="2788920"/>
            <a:ext cx="10241280" cy="822960"/>
          </a:xfrm>
          <a:prstGeom prst="roundRect">
            <a:avLst>
              <a:gd name="adj" fmla="val 16667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2953512"/>
            <a:ext cx="98206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3319272"/>
            <a:ext cx="9784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checked the relevant evidence and found the result matched the requirement.”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77240" y="3794760"/>
            <a:ext cx="10241280" cy="822960"/>
          </a:xfrm>
          <a:prstGeom prst="roundRect">
            <a:avLst>
              <a:gd name="adj" fmla="val 1666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3959352"/>
            <a:ext cx="98206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" y="4325112"/>
            <a:ext cx="9784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revised the design because the check showed a specific material, mechanism, circuit, or data issue.”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77240" y="5257800"/>
            <a:ext cx="67665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answer is on the next slide.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77240" y="1417320"/>
            <a:ext cx="329184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1581912"/>
            <a:ext cx="28712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1947672"/>
            <a:ext cx="2834640" cy="1536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Opinion-heavy. “Looks complete” is not enough evidence.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34840" y="1417320"/>
            <a:ext cx="3291840" cy="2194560"/>
          </a:xfrm>
          <a:prstGeom prst="roundRect">
            <a:avLst>
              <a:gd name="adj" fmla="val 6250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45152" y="1581912"/>
            <a:ext cx="28712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3440" y="1947672"/>
            <a:ext cx="2834640" cy="1536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Evidence-based. It references a check against a requirement.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092440" y="1417320"/>
            <a:ext cx="3291840" cy="2194560"/>
          </a:xfrm>
          <a:prstGeom prst="roundRect">
            <a:avLst>
              <a:gd name="adj" fmla="val 6250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02752" y="1581912"/>
            <a:ext cx="28712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21040" y="1947672"/>
            <a:ext cx="2834640" cy="1536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reasoning. It connects a revision to a specific check.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14400" y="4434840"/>
            <a:ext cx="10149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claim + specific evidence = stronger engineering communication.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Ticket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4.5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70432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the lesson before we move to the next system checkpoint.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68680" y="1737360"/>
            <a:ext cx="10149840" cy="3154680"/>
          </a:xfrm>
          <a:prstGeom prst="roundRect">
            <a:avLst>
              <a:gd name="adj" fmla="val 4348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78992" y="1901952"/>
            <a:ext cx="97292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 in your notebook or assigned class format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61288" y="2304288"/>
            <a:ext cx="964692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thing you learned about mechanisms and types of motion.</a:t>
            </a:r>
            <a:endParaRPr lang="en-US" sz="1800" dirty="0"/>
          </a:p>
          <a:p>
            <a:pPr marL="165100" indent="-165100"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type of evidence that could support today’s design or system decision.</a:t>
            </a:r>
            <a:endParaRPr lang="en-US" sz="1800" dirty="0"/>
          </a:p>
          <a:p>
            <a:pPr marL="165100" indent="-165100"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question, risk, or next step for the prototype system.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5212080"/>
            <a:ext cx="9875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mission: Lesson 4.6 — Mechanism Exploration: Linkages, Hinges, Cams, Gears, and Pulleys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IED Unit 4 Lesson 4.5: Mechanisms and Types of Motion</dc:title>
  <dc:subject>IED Unit 4 Lesson 4.5</dc:subject>
  <dc:creator>LockwoodSTEM</dc:creator>
  <cp:lastModifiedBy>LockwoodSTEM</cp:lastModifiedBy>
  <cp:revision>1</cp:revision>
  <dcterms:created xsi:type="dcterms:W3CDTF">2026-07-17T17:40:16Z</dcterms:created>
  <dcterms:modified xsi:type="dcterms:W3CDTF">2026-07-17T17:40:16Z</dcterms:modified>
</cp:coreProperties>
</file>