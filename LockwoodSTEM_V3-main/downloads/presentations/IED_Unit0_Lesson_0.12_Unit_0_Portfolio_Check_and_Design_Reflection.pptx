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19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02920"/>
            <a:ext cx="2194560" cy="6583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" y="1417320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C857">
              <a:alpha val="90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86384" y="1499616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0 • LESSON 0.12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1874520"/>
            <a:ext cx="6400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Check
&amp; Design Reflection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49808" y="3456432"/>
            <a:ext cx="6263640" cy="914400"/>
          </a:xfrm>
          <a:prstGeom prst="roundRect">
            <a:avLst>
              <a:gd name="adj" fmla="val 5000"/>
            </a:avLst>
          </a:prstGeom>
          <a:solidFill>
            <a:srgbClr val="113C65"/>
          </a:solidFill>
          <a:ln w="13970">
            <a:solidFill>
              <a:srgbClr val="4DDCFF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87552" y="36576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87552" y="3904488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reflection help engineers prepare for the next design challenge?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26680" y="1417320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4DDC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973568" y="15636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CFF"/>
                </a:solidFill>
              </a:rPr>
              <a:t>DEFINE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710928" y="157276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the problem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26680" y="2715768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2EE6A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973568" y="28620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E6A6"/>
                </a:solidFill>
              </a:rPr>
              <a:t>TEST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710928" y="287121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the idea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26680" y="4014216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FFC857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73568" y="41605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DECIDE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710928" y="4169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with evidence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58795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Engineering Design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the portfolio reflection habits needed for Unit 0 work.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572768"/>
            <a:ext cx="4892040" cy="4343400"/>
          </a:xfrm>
          <a:prstGeom prst="roundRect">
            <a:avLst>
              <a:gd name="adj" fmla="val 1684"/>
            </a:avLst>
          </a:prstGeom>
          <a:solidFill>
            <a:srgbClr val="0F3156"/>
          </a:solidFill>
          <a:ln w="15240">
            <a:solidFill>
              <a:srgbClr val="244D7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60120" y="1847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Learning targets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3591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80160" y="23682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 the complete Unit 0 notebook portfolio.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87552" y="2816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280160" y="28254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that launch pad documentation is complete.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87552" y="32735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280160" y="32826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 on teamwork, testing, improvement, and design growth.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60120" y="3977640"/>
            <a:ext cx="4160520" cy="0"/>
          </a:xfrm>
          <a:prstGeom prst="line">
            <a:avLst/>
          </a:prstGeom>
          <a:noFill/>
          <a:ln w="12700">
            <a:solidFill>
              <a:srgbClr val="3A6F9D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012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DDCFF"/>
                </a:solidFill>
              </a:rPr>
              <a:t>Success looks like…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60120" y="45902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</a:rPr>
              <a:t>You can use your portfolio to show what you learned and how your design changed.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989320" y="1572768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309360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B"/>
                </a:solidFill>
              </a:rPr>
              <a:t>Agenda + pacing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291072" y="230428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345936" y="238658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5 min</a:t>
            </a:r>
            <a:endParaRPr lang="en-US" sz="690" dirty="0"/>
          </a:p>
        </p:txBody>
      </p:sp>
      <p:sp>
        <p:nvSpPr>
          <p:cNvPr id="22" name="Text 19"/>
          <p:cNvSpPr/>
          <p:nvPr/>
        </p:nvSpPr>
        <p:spPr>
          <a:xfrm>
            <a:off x="7242048" y="235000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Opening prompt: What should a portfolio prove?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291072" y="274320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345936" y="282549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6 min</a:t>
            </a:r>
            <a:endParaRPr lang="en-US" sz="690" dirty="0"/>
          </a:p>
        </p:txBody>
      </p:sp>
      <p:sp>
        <p:nvSpPr>
          <p:cNvPr id="25" name="Text 22"/>
          <p:cNvSpPr/>
          <p:nvPr/>
        </p:nvSpPr>
        <p:spPr>
          <a:xfrm>
            <a:off x="7242048" y="278892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Portfolio evidence quick vote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6291072" y="3182112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345936" y="3264408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8 min</a:t>
            </a:r>
            <a:endParaRPr lang="en-US" sz="690" dirty="0"/>
          </a:p>
        </p:txBody>
      </p:sp>
      <p:sp>
        <p:nvSpPr>
          <p:cNvPr id="28" name="Text 25"/>
          <p:cNvSpPr/>
          <p:nvPr/>
        </p:nvSpPr>
        <p:spPr>
          <a:xfrm>
            <a:off x="7242048" y="322783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Unit 0 checklist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6291072" y="3621024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345936" y="3703320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12 min</a:t>
            </a:r>
            <a:endParaRPr lang="en-US" sz="690" dirty="0"/>
          </a:p>
        </p:txBody>
      </p:sp>
      <p:sp>
        <p:nvSpPr>
          <p:cNvPr id="31" name="Text 28"/>
          <p:cNvSpPr/>
          <p:nvPr/>
        </p:nvSpPr>
        <p:spPr>
          <a:xfrm>
            <a:off x="7242048" y="366674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Portfolio organization</a:t>
            </a:r>
            <a:endParaRPr lang="en-US" sz="1220" dirty="0"/>
          </a:p>
        </p:txBody>
      </p:sp>
      <p:sp>
        <p:nvSpPr>
          <p:cNvPr id="32" name="Shape 29"/>
          <p:cNvSpPr/>
          <p:nvPr/>
        </p:nvSpPr>
        <p:spPr>
          <a:xfrm>
            <a:off x="6291072" y="4059936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6345936" y="414223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8 min</a:t>
            </a:r>
            <a:endParaRPr lang="en-US" sz="690" dirty="0"/>
          </a:p>
        </p:txBody>
      </p:sp>
      <p:sp>
        <p:nvSpPr>
          <p:cNvPr id="34" name="Text 31"/>
          <p:cNvSpPr/>
          <p:nvPr/>
        </p:nvSpPr>
        <p:spPr>
          <a:xfrm>
            <a:off x="7242048" y="41056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Reflection writing</a:t>
            </a:r>
            <a:endParaRPr lang="en-US" sz="1220" dirty="0"/>
          </a:p>
        </p:txBody>
      </p:sp>
      <p:sp>
        <p:nvSpPr>
          <p:cNvPr id="35" name="Shape 32"/>
          <p:cNvSpPr/>
          <p:nvPr/>
        </p:nvSpPr>
        <p:spPr>
          <a:xfrm>
            <a:off x="6291072" y="449884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345936" y="458114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3 min</a:t>
            </a:r>
            <a:endParaRPr lang="en-US" sz="690" dirty="0"/>
          </a:p>
        </p:txBody>
      </p:sp>
      <p:sp>
        <p:nvSpPr>
          <p:cNvPr id="37" name="Text 34"/>
          <p:cNvSpPr/>
          <p:nvPr/>
        </p:nvSpPr>
        <p:spPr>
          <a:xfrm>
            <a:off x="7242048" y="454456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Reflection quality quick check</a:t>
            </a:r>
            <a:endParaRPr lang="en-US" sz="1220" dirty="0"/>
          </a:p>
        </p:txBody>
      </p:sp>
      <p:sp>
        <p:nvSpPr>
          <p:cNvPr id="38" name="Shape 35"/>
          <p:cNvSpPr/>
          <p:nvPr/>
        </p:nvSpPr>
        <p:spPr>
          <a:xfrm>
            <a:off x="6291072" y="493776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6345936" y="502005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3 min</a:t>
            </a:r>
            <a:endParaRPr lang="en-US" sz="690" dirty="0"/>
          </a:p>
        </p:txBody>
      </p:sp>
      <p:sp>
        <p:nvSpPr>
          <p:cNvPr id="40" name="Text 37"/>
          <p:cNvSpPr/>
          <p:nvPr/>
        </p:nvSpPr>
        <p:spPr>
          <a:xfrm>
            <a:off x="7242048" y="498348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Exit debrief</a:t>
            </a:r>
            <a:endParaRPr lang="en-US" sz="1220" dirty="0"/>
          </a:p>
        </p:txBody>
      </p:sp>
      <p:sp>
        <p:nvSpPr>
          <p:cNvPr id="41" name="Shape 3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you show growth through evidence?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a quick class discussion while attendance is taken.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813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Think first. Why does portfolio reflection matter in engineering work?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60120" y="2240280"/>
            <a:ext cx="10241280" cy="2057400"/>
          </a:xfrm>
          <a:prstGeom prst="roundRect">
            <a:avLst>
              <a:gd name="adj" fmla="val 3556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588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DDCFF"/>
                </a:solidFill>
              </a:rPr>
              <a:t>Quick class share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25880" y="306324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AF6FF"/>
                </a:solidFill>
              </a:rPr>
              <a:t>Raise your hand and share one way portfolio reflection could improve a project.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417320" y="3675888"/>
            <a:ext cx="8869680" cy="320040"/>
          </a:xfrm>
          <a:prstGeom prst="roundRect">
            <a:avLst>
              <a:gd name="adj" fmla="val 11429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600200" y="3776472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C857"/>
                </a:solidFill>
              </a:rPr>
              <a:t>Student answers might include: clearer decisions, better tests, stronger evidence, or better communication.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960120" y="52852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DCFF"/>
                </a:solidFill>
              </a:rPr>
              <a:t>We will reveal a working definition on the next slide.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Reflection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definition for this lesson.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Portfolio Reflection helps engineers make work clear, testable, and defendable.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77240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005840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DCFF"/>
                </a:solidFill>
              </a:rPr>
              <a:t>Clarify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3272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Make the goal and evidence easier to understand.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93592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22192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E6A6"/>
                </a:solidFill>
              </a:rPr>
              <a:t>Plan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849624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Decide what should happen before building.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9944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638544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857"/>
                </a:solidFill>
              </a:rPr>
              <a:t>Check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65976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Use criteria, data, or feedback to judge the work.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226296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9E64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454896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E64"/>
                </a:solidFill>
              </a:rPr>
              <a:t>Explain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482328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Communicate the decision with evidence.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53492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857"/>
                </a:solidFill>
              </a:rPr>
              <a:t>Today's mission: practice portfolio reflection so the next design step is stronger.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Reflection: Which One Fits?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Prompt: Which action best shows strong portfolio reflection?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0584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16128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64592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Guessing without recording a reason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64592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Guess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53796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69340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17804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Using evidence to guide the next step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17804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Evidence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724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0584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16128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64592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Waiting until the end to explain the work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64592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Too late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30936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53796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69340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17804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Choosing whatever is fastest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17804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Shortcut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14400" y="5257800"/>
            <a:ext cx="10241280" cy="502920"/>
          </a:xfrm>
          <a:prstGeom prst="roundRect">
            <a:avLst>
              <a:gd name="adj" fmla="val 727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097280" y="542239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C857"/>
                </a:solidFill>
              </a:rPr>
              <a:t>Vote first. Then we will reveal the strongest choice.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Reflection: Best Answer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engineering choices are clear, evidence-based, and documented.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2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196596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34440" y="2267712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Using evidence to guide the next step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97280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it fits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It connects the work to proof that others can inspect.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07992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the others miss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The other choices make the decision harder to justify.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18704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Carry-forward idea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In IED, every important decision should connect to evidence.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FOCUS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Reflection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today's tools to prepare for the next design step.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6012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B"/>
                </a:solidFill>
              </a:rPr>
              <a:t>Portfolio evidence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80160" y="24323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setup evidence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8755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280160" y="2834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airplane artifact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8755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280160" y="3236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definition work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8755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280160" y="36393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pad concepts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8755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280160" y="40416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Build/test/review notes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35508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62940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Reflection focus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65683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949440" y="2432304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process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65683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949440" y="283464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contribution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65683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949440" y="3236976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Biggest challenge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65683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949440" y="3639312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important improvement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65683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949440" y="4041648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design step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6108192" y="2011680"/>
            <a:ext cx="0" cy="3566160"/>
          </a:xfrm>
          <a:prstGeom prst="line">
            <a:avLst/>
          </a:prstGeom>
          <a:noFill/>
          <a:ln w="25400">
            <a:solidFill>
              <a:srgbClr val="4DDCFF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Reflection in Action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lesson idea to the Unit 0 launch pad challenge.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60020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51560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83B"/>
                </a:solidFill>
              </a:rPr>
              <a:t>Choose one focus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7899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43230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78992" y="280720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281635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8992" y="31912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32004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8992" y="35753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358444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8992" y="3959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396849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51560" y="46268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B"/>
                </a:solidFill>
              </a:rPr>
              <a:t>Then answer: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910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6283B"/>
                </a:solidFill>
              </a:rPr>
              <a:t>How would portfolio reflection improve that part of the challenge?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4480560" y="1600200"/>
            <a:ext cx="690372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00600" y="1874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Engineering habits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828032" y="2395728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919472" y="2487168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Identify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6291072" y="24505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Name what matters most.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828032" y="2926080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919472" y="3017520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Record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6291072" y="298094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Capture evidence clearly.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828032" y="3456432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919472" y="3547872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Compare</a:t>
            </a:r>
            <a:endParaRPr lang="en-US" sz="760" dirty="0"/>
          </a:p>
        </p:txBody>
      </p:sp>
      <p:sp>
        <p:nvSpPr>
          <p:cNvPr id="31" name="Text 28"/>
          <p:cNvSpPr/>
          <p:nvPr/>
        </p:nvSpPr>
        <p:spPr>
          <a:xfrm>
            <a:off x="6291072" y="35112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Check work against criteria.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828032" y="3986784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919472" y="4078224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Revise</a:t>
            </a:r>
            <a:endParaRPr lang="en-US" sz="760" dirty="0"/>
          </a:p>
        </p:txBody>
      </p:sp>
      <p:sp>
        <p:nvSpPr>
          <p:cNvPr id="34" name="Text 31"/>
          <p:cNvSpPr/>
          <p:nvPr/>
        </p:nvSpPr>
        <p:spPr>
          <a:xfrm>
            <a:off x="6291072" y="404164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Improve based on what changed.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828032" y="4517136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4919472" y="4608576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Share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6291072" y="45720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Communicate the result.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4800600" y="52578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C857"/>
                </a:solidFill>
              </a:rPr>
              <a:t>Share-out target: one design step + one kind of evidence.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Evidence to Reflection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to make engineering thinking visible and useful.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F4FAFF"/>
          </a:solidFill>
          <a:ln w="15240">
            <a:solidFill>
              <a:srgbClr val="D1EAF8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05840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83B"/>
                </a:solidFill>
              </a:rPr>
              <a:t>Pile of work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0584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278"/>
                </a:solidFill>
              </a:rPr>
              <a:t>Weak approach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2412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16736" y="2798064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purpose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16736" y="322783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Little evidence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2412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16736" y="3657600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inspect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2412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16736" y="4087368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Difficult to revise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4652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766560" y="1920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Learning portfolio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76656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E6A6"/>
                </a:solidFill>
              </a:rPr>
              <a:t>Strong approach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8484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077456" y="279806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purpose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78484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077456" y="322783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recorded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8484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77456" y="365760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inspect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78484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077456" y="408736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revision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742432" y="3154680"/>
            <a:ext cx="640080" cy="640080"/>
          </a:xfrm>
          <a:prstGeom prst="chevron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Reflection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engineering work connects actions, evidence, and decisions.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9728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6FF"/>
                </a:solidFill>
              </a:rPr>
              <a:t>Show the full path through Unit 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2336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1772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4FAFF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84632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83B"/>
                </a:solidFill>
              </a:rPr>
              <a:t>Reflect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84632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05B70"/>
                </a:solidFill>
              </a:rPr>
              <a:t>Explain what changed and why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36676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59536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Transfer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59536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6FF"/>
                </a:solidFill>
              </a:rPr>
              <a:t>Carry habits into Unit 1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60120" y="37673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Evidence can include…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6012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9728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Checklist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25196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8912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Notebook pages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4380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8096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Sketches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6012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9728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Photos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25196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38912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Test results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54380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68096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Reflection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Shows Growth?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supports.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536192"/>
            <a:ext cx="1065276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1810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Claim: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20240" y="179222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283B"/>
                </a:solidFill>
              </a:rPr>
              <a:t>“My Unit 0 portfolio shows how my engineering thinking improved.”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</a:rPr>
              <a:t>Vote for the two strongest supports.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2880360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143000" y="2980944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508760" y="2953512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Completed artifacts from each Unit 0 lesson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005840" y="3355848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43000" y="3456432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B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508760" y="3429000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Only the final prototype photo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05840" y="3831336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143000" y="3931920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508760" y="3904488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reflection that uses specific examples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005840" y="4306824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4407408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508760" y="4379976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statement that the project was fun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005840" y="4782312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143000" y="4882896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508760" y="4855464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Loose pages with no order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05840" y="5532120"/>
            <a:ext cx="9966960" cy="384048"/>
          </a:xfrm>
          <a:prstGeom prst="roundRect">
            <a:avLst>
              <a:gd name="adj" fmla="val 714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170432" y="5660136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C857"/>
                </a:solidFill>
              </a:rPr>
              <a:t>Vote first. Then we will reveal the best evidence pair.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Shows Growth?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support connects directly to the claim.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support: A +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5740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188720" y="233172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6A6"/>
                </a:solidFill>
              </a:rPr>
              <a:t>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45920" y="2258568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Completed artifacts from each Unit 0 lesson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366760" y="22768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6FF"/>
                </a:solidFill>
              </a:rPr>
              <a:t>Shows the process across the full unit.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3227832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188720" y="35021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6A6"/>
                </a:solidFill>
              </a:rPr>
              <a:t>C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645920" y="3429000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 reflection that uses specific examples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366760" y="3447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6FF"/>
                </a:solidFill>
              </a:rPr>
              <a:t>Shows what was learned and how thinking changed.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4800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C857"/>
                </a:solidFill>
              </a:rPr>
              <a:t>Useful, but not enough alone: a final photo or general feeling does not show growth by itself.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Student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3619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 student has all Unit 0 papers, but they are out of order and the reflection only says, “I learned a lot.”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60120" y="2395728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07008" y="25511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00200" y="2514600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Turn it in because everything is present.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3108960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207008" y="3264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B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600200" y="3227832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Remove older work to make it shorter.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3822192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07008" y="3977640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C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00200" y="3941064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Organize the artifacts, update the checklist, and revise the reflection with specific examples.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535424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07008" y="469087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600200" y="4654296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Write a longer reflection without mentioning evidence.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60120" y="5422392"/>
            <a:ext cx="10058400" cy="438912"/>
          </a:xfrm>
          <a:prstGeom prst="roundRect">
            <a:avLst>
              <a:gd name="adj" fmla="val 833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5568696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C857"/>
                </a:solidFill>
              </a:rPr>
              <a:t>Vote first. Then we will reveal the strongest next step.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Student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keeps the process evidence-based.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1168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34440" y="2304288"/>
            <a:ext cx="9555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Organize the artifacts, update the checklist, and revise the reflection with specific examples.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97280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Organize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Put evidence in the correct order.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07992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Check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Verify the portfolio is complete.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18704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Reflect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Use specific examples from the work.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14400" y="53492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857"/>
                </a:solidFill>
              </a:rPr>
              <a:t>Engineering move: reflection is strongest when it points to evidence and explains growth.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Specific or Vague?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234440" y="1938528"/>
            <a:ext cx="420624" cy="420624"/>
          </a:xfrm>
          <a:prstGeom prst="ellipse">
            <a:avLst/>
          </a:prstGeom>
          <a:solidFill>
            <a:srgbClr val="6D7F8E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71600" y="204825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385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283B"/>
                </a:solidFill>
              </a:rPr>
              <a:t>“I helped improve the base after our stability test failed.”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03920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7F8E"/>
                </a:solidFill>
              </a:rPr>
              <a:t>Vote: specific or vague?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60120" y="297180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234440" y="317296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71600" y="328269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172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“The project was good and we did fine.”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03920" y="32278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specific or vague?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60120" y="420624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34440" y="440740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451713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4074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“Next time I would test earlier because our first support bent.”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03920" y="44622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specific or vague?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60120" y="5596128"/>
            <a:ext cx="10012680" cy="457200"/>
          </a:xfrm>
          <a:prstGeom prst="roundRect">
            <a:avLst>
              <a:gd name="adj" fmla="val 8000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15568" y="5733288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857"/>
                </a:solidFill>
              </a:rPr>
              <a:t>Vote first. Then we will reveal which statements are strongest.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Specific or Vague?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answers use specific evidence and clear reasoning.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234440" y="1920240"/>
            <a:ext cx="402336" cy="402336"/>
          </a:xfrm>
          <a:prstGeom prst="ellipse">
            <a:avLst/>
          </a:prstGeom>
          <a:solidFill>
            <a:srgbClr val="6D7F8E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71600" y="202996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283B"/>
                </a:solidFill>
              </a:rPr>
              <a:t>Specific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937760" y="1938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05B70"/>
                </a:solidFill>
              </a:rPr>
              <a:t>It names a contribution and evidence.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60120" y="292608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234440" y="310896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71600" y="321868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090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Vague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937760" y="31272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It gives no example or evidence.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11480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34440" y="429768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440740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Specific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937760" y="4315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It connects a future action to a past result.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60120" y="5394960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857"/>
                </a:solidFill>
              </a:rPr>
              <a:t>Takeaway: strong reflections use clear examples from the portfolio.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today's lesson before the next mission.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691640"/>
            <a:ext cx="10469880" cy="4069080"/>
          </a:xfrm>
          <a:prstGeom prst="roundRect">
            <a:avLst>
              <a:gd name="adj" fmla="val 1798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88720" y="2029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3B"/>
                </a:solidFill>
              </a:rPr>
              <a:t>Respond in your notebook or on the assigned class format: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298448" y="2724912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63040" y="285292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29968" y="2825496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Unit 0 artifact that shows your best evidence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298448" y="3474720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63040" y="3602736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029968" y="3575304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design habit you improved during Unit 0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298448" y="4224528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63040" y="4352544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29968" y="4325112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goal you want to carry into Unit 1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188720" y="5166360"/>
            <a:ext cx="9052560" cy="347472"/>
          </a:xfrm>
          <a:prstGeom prst="roundRect">
            <a:avLst>
              <a:gd name="adj" fmla="val 10526"/>
            </a:avLst>
          </a:prstGeom>
          <a:solidFill>
            <a:srgbClr val="E4F5FF"/>
          </a:solidFill>
          <a:ln w="12700">
            <a:solidFill>
              <a:srgbClr val="E4F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25880" y="5276088"/>
            <a:ext cx="8732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83B"/>
                </a:solidFill>
              </a:rPr>
              <a:t>Next mission: Unit 1 — Technical Sketching and Engineering Documentation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1669</Words>
  <Application>Microsoft Office PowerPoint</Application>
  <PresentationFormat>Widescreen</PresentationFormat>
  <Paragraphs>319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0.1 Course Launch &amp; Engineering Mindset</dc:title>
  <dc:subject>IED Unit 0 Lesson 0.1</dc:subject>
  <dc:creator>LockwoodSTEM</dc:creator>
  <cp:lastModifiedBy>Jonathan Lockwood</cp:lastModifiedBy>
  <cp:revision>1</cp:revision>
  <dcterms:created xsi:type="dcterms:W3CDTF">2026-07-16T18:24:39Z</dcterms:created>
  <dcterms:modified xsi:type="dcterms:W3CDTF">2026-07-16T20:37:06Z</dcterms:modified>
</cp:coreProperties>
</file>