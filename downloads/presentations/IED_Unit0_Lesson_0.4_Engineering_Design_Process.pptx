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19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02920"/>
            <a:ext cx="2194560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" y="141732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86384" y="149961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0 • LESSON 0.4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1874520"/>
            <a:ext cx="6400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Design
Process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49808" y="3456432"/>
            <a:ext cx="6263640" cy="914400"/>
          </a:xfrm>
          <a:prstGeom prst="roundRect">
            <a:avLst>
              <a:gd name="adj" fmla="val 5000"/>
            </a:avLst>
          </a:prstGeom>
          <a:solidFill>
            <a:srgbClr val="113C65"/>
          </a:solidFill>
          <a:ln w="13970">
            <a:solidFill>
              <a:srgbClr val="4DDCFF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87552" y="36576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7552" y="39044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use testing and revision to improve a design?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26680" y="1417320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4DDC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973568" y="15636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CFF"/>
                </a:solidFill>
              </a:rPr>
              <a:t>DEFINE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10928" y="15727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problem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2715768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2EE6A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973568" y="28620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E6A6"/>
                </a:solidFill>
              </a:rPr>
              <a:t>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10928" y="28712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the idea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26680" y="4014216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FFC85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73568" y="41605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857"/>
                </a:solidFill>
              </a:rPr>
              <a:t>DECIDE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10928" y="4169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EAF6FF"/>
                </a:solidFill>
              </a:rPr>
              <a:t>with evidence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58795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practice the design process through a fast test-and-revise challenge.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572768"/>
            <a:ext cx="4892040" cy="4343400"/>
          </a:xfrm>
          <a:prstGeom prst="roundRect">
            <a:avLst>
              <a:gd name="adj" fmla="val 1684"/>
            </a:avLst>
          </a:prstGeom>
          <a:solidFill>
            <a:srgbClr val="0F3156"/>
          </a:solidFill>
          <a:ln w="15240">
            <a:solidFill>
              <a:srgbClr val="244D7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847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targets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3591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80160" y="23682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design process as a flexible cycle.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87552" y="2816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80160" y="28254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cycle to a paper airplane distance challenge.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87552" y="32735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280160" y="32826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test evidence to revise a design.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0120" y="3977640"/>
            <a:ext cx="4160520" cy="0"/>
          </a:xfrm>
          <a:prstGeom prst="line">
            <a:avLst/>
          </a:prstGeom>
          <a:noFill/>
          <a:ln w="12700">
            <a:solidFill>
              <a:srgbClr val="3A6F9D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012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DDCFF"/>
                </a:solidFill>
              </a:rPr>
              <a:t>Success looks like…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0120" y="4590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6FF"/>
                </a:solidFill>
              </a:rPr>
              <a:t>You can explain how test results affected a revision decision.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989320" y="1572768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30936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Agenda + pacing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91072" y="230428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345936" y="238658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22" name="Text 19"/>
          <p:cNvSpPr/>
          <p:nvPr/>
        </p:nvSpPr>
        <p:spPr>
          <a:xfrm>
            <a:off x="7242048" y="23500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Opening prompt: How do designs improve?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291072" y="274320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345936" y="282549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6 min</a:t>
            </a:r>
            <a:endParaRPr lang="en-US" sz="690" dirty="0"/>
          </a:p>
        </p:txBody>
      </p:sp>
      <p:sp>
        <p:nvSpPr>
          <p:cNvPr id="25" name="Text 22"/>
          <p:cNvSpPr/>
          <p:nvPr/>
        </p:nvSpPr>
        <p:spPr>
          <a:xfrm>
            <a:off x="7242048" y="278892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Design process quick vote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291072" y="3182112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345936" y="3264408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7 min</a:t>
            </a:r>
            <a:endParaRPr lang="en-US" sz="690" dirty="0"/>
          </a:p>
        </p:txBody>
      </p:sp>
      <p:sp>
        <p:nvSpPr>
          <p:cNvPr id="28" name="Text 25"/>
          <p:cNvSpPr/>
          <p:nvPr/>
        </p:nvSpPr>
        <p:spPr>
          <a:xfrm>
            <a:off x="7242048" y="322783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Design process stages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6291072" y="3621024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345936" y="370332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12 min</a:t>
            </a:r>
            <a:endParaRPr lang="en-US" sz="690" dirty="0"/>
          </a:p>
        </p:txBody>
      </p:sp>
      <p:sp>
        <p:nvSpPr>
          <p:cNvPr id="31" name="Text 28"/>
          <p:cNvSpPr/>
          <p:nvPr/>
        </p:nvSpPr>
        <p:spPr>
          <a:xfrm>
            <a:off x="7242048" y="36667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Paper airplane Version 1 test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6291072" y="4059936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345936" y="414223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34" name="Text 31"/>
          <p:cNvSpPr/>
          <p:nvPr/>
        </p:nvSpPr>
        <p:spPr>
          <a:xfrm>
            <a:off x="7242048" y="41056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Revision and Version 2 plan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6291072" y="449884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345936" y="45811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4 min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7242048" y="454456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Evidence quick check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6291072" y="493776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6345936" y="50200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7242048" y="49834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6283B"/>
                </a:solidFill>
              </a:rPr>
              <a:t>Exit debrief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designs improve?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attendance is taken.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81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Think first. What should an engineer do after a first prototype does not work perfectly?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0120" y="2240280"/>
            <a:ext cx="10241280" cy="2057400"/>
          </a:xfrm>
          <a:prstGeom prst="roundRect">
            <a:avLst>
              <a:gd name="adj" fmla="val 3556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588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DDCFF"/>
                </a:solidFill>
              </a:rPr>
              <a:t>Quick class share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25880" y="30632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AF6FF"/>
                </a:solidFill>
              </a:rPr>
              <a:t>Raise your hand and share one action that can improve a design.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417320" y="3675888"/>
            <a:ext cx="8869680" cy="320040"/>
          </a:xfrm>
          <a:prstGeom prst="roundRect">
            <a:avLst>
              <a:gd name="adj" fmla="val 11429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600200" y="3776472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C857"/>
                </a:solidFill>
              </a:rPr>
              <a:t>Student answers might include: test, measure, compare, revise, ask users, or try again.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60120" y="52852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We will reveal how those actions fit into the design process on the next slide.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Process Cycle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definition for the year.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The engineering design process is a flexible cycle for defining, building, testing, revising, and communicating solutions.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584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DCFF"/>
                </a:solidFill>
              </a:rPr>
              <a:t>Define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3272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Clarify the goal, criteria, and constraints.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93592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22192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E6A6"/>
                </a:solidFill>
              </a:rPr>
              <a:t>Generate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49624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Create more than one possible solution.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9944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38544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857"/>
                </a:solidFill>
              </a:rPr>
              <a:t>Test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65976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Collect evidence from prototypes or models.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226296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9E64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454896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E64"/>
                </a:solidFill>
              </a:rPr>
              <a:t>Revise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482328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6FF"/>
                </a:solidFill>
              </a:rPr>
              <a:t>Improve the design based on evidence.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53492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Today's mission: use a paper airplane challenge to make the design cycle visible.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Process: Which One Fits?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Prompt: Which action best shows the design process in action?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0584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6128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4592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Building once and calling it finished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64592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One try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3796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69340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7804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Testing, recording distance, revising, and retesting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7804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Cycle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0584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6128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4592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Choosing the neatest-looking design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4592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Appearance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0936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53796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69340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7804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283B"/>
                </a:solidFill>
              </a:rPr>
              <a:t>Changing the design without recording why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17804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296"/>
                </a:solidFill>
              </a:rPr>
              <a:t>Unclear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14400" y="5257800"/>
            <a:ext cx="10241280" cy="502920"/>
          </a:xfrm>
          <a:prstGeom prst="roundRect">
            <a:avLst>
              <a:gd name="adj" fmla="val 727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097280" y="542239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C857"/>
                </a:solidFill>
              </a:rPr>
              <a:t>Vote first. Then we will reveal the strongest choice.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Process: Best Answer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process becomes useful when testing leads to a documented revision.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2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196596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26771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Testing, recording distance, revising, and retesting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it fits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It connects prototype evidence to the next design decision.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the others miss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The other choices skip evidence, documentation, or improvement.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Carry-forward idea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In IED, the first version is evidence for the next version.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CYCLE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Design Process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is flexible, not a strict checklist.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6012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83B"/>
                </a:solidFill>
              </a:rPr>
              <a:t>Core stages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24323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problem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8755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80160" y="2834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concepts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8755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3236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a solution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8755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8016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and test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8755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80160" y="4041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results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5508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6294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challenge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5683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49440" y="2432304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one idea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5683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49440" y="2834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Version 1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65683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949440" y="3236976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test distance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65683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949440" y="3639312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the design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65683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949440" y="4041648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Version 2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108192" y="2011680"/>
            <a:ext cx="0" cy="3566160"/>
          </a:xfrm>
          <a:prstGeom prst="line">
            <a:avLst/>
          </a:prstGeom>
          <a:noFill/>
          <a:ln w="25400">
            <a:solidFill>
              <a:srgbClr val="4DDCFF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SETUP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Airplane Distance Challenge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fast cycle with measurable evidence.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60020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5156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Challenge rules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899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432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sheet for Version 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28072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81635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official test flight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31912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200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distance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8992" y="35753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58444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sheet for Version 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992" y="3959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96849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evidence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560" y="4626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B"/>
                </a:solidFill>
              </a:rPr>
              <a:t>Then answer: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910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6283B"/>
                </a:solidFill>
              </a:rPr>
              <a:t>What would make the second airplane a true revision instead of a random rebuild?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4480560" y="1600200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00600" y="1874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Process habits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828032" y="2395728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919472" y="2487168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Sketch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291072" y="2450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Show the initial concept.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28032" y="2926080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919472" y="3017520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Build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291072" y="29809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Create Version 1.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828032" y="3456432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919472" y="3547872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Measure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6291072" y="35112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Record flight distance.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828032" y="3986784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919472" y="4078224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Revise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6291072" y="40416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Change one or more features.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828032" y="4517136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919472" y="4608576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81B33"/>
                </a:solidFill>
              </a:rPr>
              <a:t>Explain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6291072" y="4572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Connect the change to evidence.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800600" y="52578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C857"/>
                </a:solidFill>
              </a:rPr>
              <a:t>Share-out target: one design change + the evidence that would justify it.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Trial-and-Error vs. Engineering Revision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random changes; the goal is evidence-based improvement.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4FAFF"/>
          </a:solidFill>
          <a:ln w="15240">
            <a:solidFill>
              <a:srgbClr val="D1EAF8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058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83B"/>
                </a:solidFill>
              </a:rPr>
              <a:t>Trial-and-error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278"/>
                </a:solidFill>
              </a:rPr>
              <a:t>Unclear learning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16736" y="2798064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are random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16736" y="322783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may not be recorded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16736" y="365760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is hard to explain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412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16736" y="4087368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is difficult to prove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4652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76656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Engineering revision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76656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E6A6"/>
                </a:solidFill>
              </a:rPr>
              <a:t>Evidence-based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8484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77456" y="27980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have a reason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8484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77456" y="322783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results are recorded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8484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77456" y="365760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can be discussed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78484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77456" y="408736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can be defended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742432" y="3154680"/>
            <a:ext cx="640080" cy="640080"/>
          </a:xfrm>
          <a:prstGeom prst="chevron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→ Evaluate → Revise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only matters if the team uses the results to make a decision.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Test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Measure the actual performance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2336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1772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4FAFF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84632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283B"/>
                </a:solidFill>
              </a:rPr>
              <a:t>Evaluate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84632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405B70"/>
                </a:solidFill>
              </a:rPr>
              <a:t>Compare results to the goal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36676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5953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Revise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9536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6FF"/>
                </a:solidFill>
              </a:rPr>
              <a:t>Change the design with a reason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0120" y="3767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 can include…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6012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9728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Distance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5196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8912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Direction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4380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8096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Stability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6012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9728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Fold changes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5196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38912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Observations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54380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68096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6FF"/>
                </a:solidFill>
              </a:rPr>
              <a:t>Comparison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Support a Revision?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supports.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536192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9728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3FF"/>
                </a:solidFill>
              </a:rPr>
              <a:t>Claim: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179222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283B"/>
                </a:solidFill>
              </a:rPr>
              <a:t>“Version 2 improved because we changed the wing fold after testing Version 1.”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</a:rPr>
              <a:t>Vote for the two strongest supports.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2880360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143000" y="2980944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508760" y="2953512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Version 1 and Version 2 flight distances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05840" y="3355848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43000" y="3456432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508760" y="3429000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statement that Version 2 looks cooler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3831336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43000" y="3931920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508760" y="3904488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Notes describing the wing-fold change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05840" y="4306824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4407408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508760" y="437997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teammate saying it felt better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05840" y="4782312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143000" y="4882896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DDCFF"/>
                </a:solidFill>
              </a:rPr>
              <a:t>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508760" y="4855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6FF"/>
                </a:solidFill>
              </a:rPr>
              <a:t>A photo with no labels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532120"/>
            <a:ext cx="9966960" cy="384048"/>
          </a:xfrm>
          <a:prstGeom prst="roundRect">
            <a:avLst>
              <a:gd name="adj" fmla="val 714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70432" y="5660136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C857"/>
                </a:solidFill>
              </a:rPr>
              <a:t>Vote first. Then we will reveal the best evidence pair.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Support a Revision?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support connects performance data to the design change.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support: A +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574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188720" y="233172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25856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Version 1 and Version 2 flight distances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66760" y="2276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whether performance changed.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227832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188720" y="35021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E6A6"/>
                </a:solidFill>
              </a:rPr>
              <a:t>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45920" y="342900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Notes describing the wing-fold change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36676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6FF"/>
                </a:solidFill>
              </a:rPr>
              <a:t>Shows what was revised and why it matters.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C857"/>
                </a:solidFill>
              </a:rPr>
              <a:t>Useful, but not enough alone: photos and opinions help only when connected to measurements or observations.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3619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Version 1 flies far but curves sharply left every time. The team wants to improve Version 2.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2395728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07008" y="25511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00200" y="2514600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Make random changes until it looks different.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07008" y="3264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00200" y="3227832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Keep the design because it traveled far once.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3822192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07008" y="397764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00200" y="3941064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Record the curve, identify a likely cause, change the folds, and retest.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535424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07008" y="469087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FF"/>
                </a:solidFill>
              </a:rPr>
              <a:t>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600200" y="4654296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283B"/>
                </a:solidFill>
              </a:rPr>
              <a:t>Ignore the direction because only distance matters.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0120" y="5422392"/>
            <a:ext cx="10058400" cy="438912"/>
          </a:xfrm>
          <a:prstGeom prst="roundRect">
            <a:avLst>
              <a:gd name="adj" fmla="val 833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5568696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C857"/>
                </a:solidFill>
              </a:rPr>
              <a:t>Vote first. Then we will reveal the strongest next step.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Team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turns repeated behavior into useful evidence.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34440" y="2304288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Record the curve, identify a likely cause, change the folds, and retest.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972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Record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Write down repeated flight behavior.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07992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Identify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Choose a likely cause to revise.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918704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83B"/>
                </a:solidFill>
              </a:rPr>
              <a:t>Retest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05B70"/>
                </a:solidFill>
              </a:rPr>
              <a:t>Compare Version 2 to Version 1.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857"/>
                </a:solidFill>
              </a:rPr>
              <a:t>Engineering move: use repeated observations to guide a specific design change.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or Guessing?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38528"/>
            <a:ext cx="420624" cy="420624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4825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38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283B"/>
                </a:solidFill>
              </a:rPr>
              <a:t>“We changed it because we wanted it to look different.”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7F8E"/>
                </a:solidFill>
              </a:rPr>
              <a:t>Vote: process or guessing?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" y="297180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7296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8269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172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“Version 2 went 5 ft farther after we adjusted the nose fold.”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0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process or guessing?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420624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40740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51713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4074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“The first test curved right, so we adjusted the wing fold and retested.”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03920" y="44622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process or guessing?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0120" y="5596128"/>
            <a:ext cx="10012680" cy="457200"/>
          </a:xfrm>
          <a:prstGeom prst="roundRect">
            <a:avLst>
              <a:gd name="adj" fmla="val 8000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15568" y="5733288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857"/>
                </a:solidFill>
              </a:rPr>
              <a:t>Vote first. Then we will reveal which statements are strongest.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or Guessing?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design-process statements connect change to evidence.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34440" y="1920240"/>
            <a:ext cx="402336" cy="402336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71600" y="202996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Guessing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937760" y="1938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05B70"/>
                </a:solidFill>
              </a:rPr>
              <a:t>The reason is appearance, not evidence.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292608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234440" y="310896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71600" y="321868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090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Process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937760" y="3127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connects a change to measured performance.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11480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34440" y="429768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71600" y="440740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Process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937760" y="4315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6FF"/>
                </a:solidFill>
              </a:rPr>
              <a:t>It uses an observation to guide revision.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60120" y="5394960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C857"/>
                </a:solidFill>
              </a:rPr>
              <a:t>Takeaway: a design cycle is strongest when every change has a reason.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the design process before documentation basics.</a:t>
            </a:r>
            <a:endParaRPr lang="en-US" sz="1150" dirty="0"/>
          </a:p>
        </p:txBody>
      </p:sp>
      <p:pic>
        <p:nvPicPr>
          <p:cNvPr id="6" name="Image 0" descr="/mnt/data/lockwoodste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691640"/>
            <a:ext cx="10469880" cy="4069080"/>
          </a:xfrm>
          <a:prstGeom prst="roundRect">
            <a:avLst>
              <a:gd name="adj" fmla="val 1798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188720" y="2029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3B"/>
                </a:solidFill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98448" y="2724912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63040" y="285292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29968" y="282549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stage of the design process used today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298448" y="3474720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63040" y="360273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29968" y="357530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piece of evidence from the airplane challenge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98448" y="4224528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63040" y="435254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29968" y="432511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6283B"/>
                </a:solidFill>
              </a:rPr>
              <a:t>One revision you would make if given another test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188720" y="5166360"/>
            <a:ext cx="9052560" cy="347472"/>
          </a:xfrm>
          <a:prstGeom prst="roundRect">
            <a:avLst>
              <a:gd name="adj" fmla="val 10526"/>
            </a:avLst>
          </a:prstGeom>
          <a:solidFill>
            <a:srgbClr val="E4F5FF"/>
          </a:solidFill>
          <a:ln w="12700">
            <a:solidFill>
              <a:srgbClr val="E4F5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25880" y="5276088"/>
            <a:ext cx="8732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83B"/>
                </a:solidFill>
              </a:rPr>
              <a:t>Next mission: Lesson 0.5 — Engineering Notebook &amp; Documentation Basics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Microsoft Office PowerPoint</Application>
  <PresentationFormat>Widescreen</PresentationFormat>
  <Paragraphs>319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0.1 Course Launch &amp; Engineering Mindset</dc:title>
  <dc:subject>IED Unit 0 Lesson 0.1</dc:subject>
  <dc:creator>LockwoodSTEM</dc:creator>
  <cp:lastModifiedBy>Jonathan Lockwood</cp:lastModifiedBy>
  <cp:revision>1</cp:revision>
  <dcterms:created xsi:type="dcterms:W3CDTF">2026-07-16T18:24:39Z</dcterms:created>
  <dcterms:modified xsi:type="dcterms:W3CDTF">2026-07-16T20:37:06Z</dcterms:modified>
</cp:coreProperties>
</file>