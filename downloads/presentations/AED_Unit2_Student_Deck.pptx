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J_2If5zVp84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SY1fGI7XAz4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_kIqMPNQNSw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wFKuCesQiA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13258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1480"/>
            <a:ext cx="841248" cy="251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143000"/>
            <a:ext cx="6126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Aerospace Engineering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685800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ptos"/>
              </a:defRPr>
            </a:pPr>
            <a:r>
              <a:t>Unit 2: CAD Modeling, Parametric Design &amp; 3D Printing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Student learning deck • LockwoodSTEM aerospace-aligned AED curriculum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74720"/>
            <a:ext cx="9966960" cy="18288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03320"/>
            <a:ext cx="2880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703320"/>
            <a:ext cx="64008" cy="96012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849624"/>
            <a:ext cx="25603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F47520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096511"/>
            <a:ext cx="2468879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1F2A37"/>
                </a:solidFill>
                <a:latin typeface="Aptos"/>
              </a:defRPr>
            </a:pPr>
            <a:r>
              <a:t>Fusion setup, sketches, constraints, features, parametric edits, and slicer prep.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703320"/>
            <a:ext cx="2880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3703320"/>
            <a:ext cx="64008" cy="960120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7" y="3849624"/>
            <a:ext cx="25603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D6A635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4096511"/>
            <a:ext cx="2468879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1F2A37"/>
                </a:solidFill>
                <a:latin typeface="Aptos"/>
              </a:defRPr>
            </a:pPr>
            <a:r>
              <a:t>CAD screenshots, exported files, slicer settings, test prints, and revision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703320"/>
            <a:ext cx="2880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3703320"/>
            <a:ext cx="64008" cy="96012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3849624"/>
            <a:ext cx="25603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67E5B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4096511"/>
            <a:ext cx="2468879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1F2A37"/>
                </a:solidFill>
                <a:latin typeface="Aptos"/>
              </a:defRPr>
            </a:pPr>
            <a:r>
              <a:t>Design and justify a 3D printed tolerance tester for rocket assembly.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D6A635"/>
                </a:solidFill>
                <a:latin typeface="Aptos"/>
              </a:defRPr>
            </a:pPr>
            <a:r>
              <a:t>Model • Print • Test • Revise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5943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 i="0">
                <a:solidFill>
                  <a:srgbClr val="0A264E"/>
                </a:solidFill>
                <a:latin typeface="Aptos"/>
              </a:defRPr>
            </a:pPr>
            <a:r>
              <a:t>Unit 2 Learning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132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5B6770"/>
                </a:solidFill>
                <a:latin typeface="Aptos"/>
              </a:defRPr>
            </a:pPr>
            <a:r>
              <a:t>CAD turns documented ideas into accurate, editable, printable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2514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13716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03704"/>
            <a:ext cx="21945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F47520"/>
                </a:solidFill>
                <a:latin typeface="Aptos"/>
              </a:defRPr>
            </a:pPr>
            <a:r>
              <a:t>Start with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2"/>
            <a:ext cx="210312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Use sketches and measurements as inputs.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057400"/>
            <a:ext cx="2514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057400"/>
            <a:ext cx="64008" cy="1371600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203704"/>
            <a:ext cx="21945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D6A635"/>
                </a:solidFill>
                <a:latin typeface="Aptos"/>
              </a:defRPr>
            </a:pPr>
            <a:r>
              <a:t>Build controlled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450592"/>
            <a:ext cx="210312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Use planes, constraints, dimensions, and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57400"/>
            <a:ext cx="2514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64008" cy="13716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203704"/>
            <a:ext cx="21945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67E5B"/>
                </a:solidFill>
                <a:latin typeface="Aptos"/>
              </a:defRPr>
            </a:pPr>
            <a:r>
              <a:t>Prepare for printing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50592"/>
            <a:ext cx="210312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Check the CAD model and slicer setup.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057400"/>
            <a:ext cx="2514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057400"/>
            <a:ext cx="64008" cy="13716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2203704"/>
            <a:ext cx="21945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F47520"/>
                </a:solidFill>
                <a:latin typeface="Aptos"/>
              </a:defRPr>
            </a:pPr>
            <a:r>
              <a:t>Use the print as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2450592"/>
            <a:ext cx="210312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Test fit and recommend clearances for Unit 3.</a:t>
            </a:r>
          </a:p>
        </p:txBody>
      </p:sp>
      <p:pic>
        <p:nvPicPr>
          <p:cNvPr id="25" name="Picture 24" descr="wide_studio_product_tech_scene_on_a_clean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886200"/>
            <a:ext cx="6217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Unit 2 Deliverables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Track these artifacts as the unit develops.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CAD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Fusion project setup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Constrained and dimensioned sketches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Extrudes, cuts, fillets, revolves, and patterns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Screenshots showing revisions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Print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STL/exported files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Slicer preview and settings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Tolerance tester print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Fit test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deliverables should prove how your design decisions were made.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Unit 2 Deliverables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Track these artifacts as the unit develops.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CAD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Fusion project setup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Constrained and dimensioned sketches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Extrudes, cuts, fillets, revolves, and patterns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Screenshots showing revisions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Print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STL/exported files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Slicer preview and settings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Tolerance tester print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Fit test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deliverables should prove how your design decisions were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583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 i="0">
                <a:solidFill>
                  <a:srgbClr val="0A264E"/>
                </a:solidFill>
                <a:latin typeface="Aptos"/>
              </a:defRPr>
            </a:pPr>
            <a:r>
              <a:t>Unit 2 Project: Tolerance Tester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772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5B6770"/>
                </a:solidFill>
                <a:latin typeface="Aptos"/>
              </a:defRPr>
            </a:pPr>
            <a:r>
              <a:t>Your final print is a test tool, not just a decoration.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studio_product_shot_3d_render_style_imag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120640" cy="3200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0" y="1828800"/>
            <a:ext cx="4297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64008" cy="9144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75104"/>
            <a:ext cx="397764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F47520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21992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Measure and compare fit between printed features and rocket assembly parts.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4297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64008" cy="914400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3118104"/>
            <a:ext cx="397764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D6A635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364992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Use repeated holes, pegs, slots, or couplers to identify reliable clearances.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114800"/>
            <a:ext cx="4297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64008" cy="9144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261104"/>
            <a:ext cx="397764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67E5B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507992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Aptos"/>
              </a:defRPr>
            </a:pPr>
            <a:r>
              <a:t>Use test results to recommend a clearance for Unit 3 rocket assembly.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From Engineering Documentation to CAD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turn sketches and measurements into digital models?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From Engineering Documentation to CAD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wide_clean_studio_product_desk_scene_on_a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From Engineering Documentation to 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CAD models should be based on documented measurements, not guesses.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Unit 1 sketches become a modeling plan.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Good planning prevents wrong-size digital parts.</a:t>
            </a:r>
          </a:p>
        </p:txBody>
      </p:sp>
      <p:pic>
        <p:nvPicPr>
          <p:cNvPr id="22" name="Picture 21" descr="wide_clean_studio_product_desk_scene_on_a_white_b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From Engineering Documentation to 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your sketch as the source, not your memory.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Identify which dimensions control the shape.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Name files so they can be found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From Engineering Documentation to 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Notebook entry connects sketch evidence to a planned CAD model.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CAD file or screenshot is saved with a clear name.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Model decisions are explained with measurements.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Fusion 360 Interface and File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set up a CAD workspace so work is organized and accurate?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Fusion 360 Interface and File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wide_clean_studio_product_desk_scene_on_a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Fusion 360 Interface and File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The interface is a tool system: browser, timeline, sketch tools, view cube, and units.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File setup affects every model made afterward.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clean project folder prevents lost or duplicated work.</a:t>
            </a:r>
          </a:p>
        </p:txBody>
      </p:sp>
      <p:pic>
        <p:nvPicPr>
          <p:cNvPr id="22" name="Picture 21" descr="wide_clean_studio_product_desk_scene_on_a_white_b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Fusion 360 Interface and File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Create/open the correct project location.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Set units before modeling.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Save early with a professional file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Fusion 360 Interface and File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Fusion project is created or located.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Test file is saved correctly.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can identify key interface areas.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Sketch Planes and 2D Sketching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Why does every CAD model start with a carefully planned 2D sketch?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Sketch Planes and 2D Sketching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measurement_tools_for_precision_tasks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Planes and 2D Sketching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The sketch plane controls where geometry begins.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2D sketches define the base shape of most 3D parts.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Poor sketch placement creates confusing models.</a:t>
            </a:r>
          </a:p>
        </p:txBody>
      </p:sp>
      <p:pic>
        <p:nvPicPr>
          <p:cNvPr id="22" name="Picture 21" descr="measurement_tools_for_precision_tasks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Planes and 2D Sketching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Choose a plane that matches the intended view.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Start with simple geometry before details.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Keep sketches readable and organized.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Planes and 2D Sketching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Sketch plane is selected intentionally.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Base sketch is visible and understandable.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explains why the plane was chosen.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Sketch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control how a CAD sketch behaves when dimensions change?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Sketch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wide_clean_studio_product_desk_scene_on_a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Constraints describe relationships between sketch entities.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fully defined sketch behaves predictably.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Uncontrolled sketches can shift unexpectedly.</a:t>
            </a:r>
          </a:p>
        </p:txBody>
      </p:sp>
      <p:pic>
        <p:nvPicPr>
          <p:cNvPr id="22" name="Picture 21" descr="wide_clean_studio_product_desk_scene_on_a_white_b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Apply horizontal, vertical, parallel, perpendicular, tangent, and coincident constraints.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Watch how constraints change degrees of freedom.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Test the sketch by changing a dimension.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Constrained sketch is saved.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At least three constraint types are identified.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explains why constraints improve model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Sketch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132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Optional video resource to reinforce the lesson ideas.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56616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480560" cy="2971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0A264E"/>
                </a:solidFill>
                <a:latin typeface="Aptos"/>
              </a:defRPr>
            </a:pPr>
            <a:r>
              <a:t>What to watch for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Fusion 360: Sketch Constraints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how constraints control sketch behavior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why fully defined sketches are more predictable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what happens when a dimension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4114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5740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 i="0">
                <a:solidFill>
                  <a:srgbClr val="0A264E"/>
                </a:solidFill>
                <a:latin typeface="Aptos"/>
              </a:defRPr>
            </a:pPr>
            <a:r>
              <a:t>Scan or open</a:t>
            </a:r>
          </a:p>
        </p:txBody>
      </p:sp>
      <p:pic>
        <p:nvPicPr>
          <p:cNvPr id="14" name="Picture 13" descr="https_www_youtube_com_watch_v_J_2If5zVp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487168"/>
            <a:ext cx="1325880" cy="1325880"/>
          </a:xfrm>
          <a:prstGeom prst="rect">
            <a:avLst/>
          </a:prstGeom>
        </p:spPr>
      </p:pic>
      <p:sp>
        <p:nvSpPr>
          <p:cNvPr id="15" name="Rounded Rectangle 14">
            <a:hlinkClick r:id="rId4"/>
          </p:cNvPr>
          <p:cNvSpPr/>
          <p:nvPr/>
        </p:nvSpPr>
        <p:spPr>
          <a:xfrm>
            <a:off x="7315200" y="4160520"/>
            <a:ext cx="2057400" cy="475488"/>
          </a:xfrm>
          <a:prstGeom prst="round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7024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Open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0060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750" b="0" i="0">
                <a:solidFill>
                  <a:srgbClr val="5B6770"/>
                </a:solidFill>
                <a:latin typeface="Aptos"/>
              </a:defRPr>
            </a:pPr>
            <a:r>
              <a:t>https://www.youtube.com/watch?v=J_2If5zVp84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Dimensioned CAD Sketches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dimensions turn a rough CAD sketch into an accurate engineering model?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Dimensioned CAD Sketches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measurement_tools_for_precision_tasks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Dimensioned CAD Sketches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Dimensions convert rough geometry into measurable engineering intent.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Key dimensions should come from sketches, requirements, or measured objects.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Over-dimensioning can make sketches hard to edit.</a:t>
            </a:r>
          </a:p>
        </p:txBody>
      </p:sp>
      <p:pic>
        <p:nvPicPr>
          <p:cNvPr id="22" name="Picture 21" descr="measurement_tools_for_precision_tasks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Dimensioned CAD Sketches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Add dimensions to control size and spacing.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consistent units.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Revise dimensions when the design intent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Dimensioned CAD Sketches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Sketch includes necessary dimensions.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Dimensions match documentation or requirements.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can identify controlling dimensions.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Extrude Basics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does a 2D sketch become a 3D CAD model?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Extrude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studio_product_shot_3d_render_style_imag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Extrude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Extrude adds depth to a closed profile.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Extrude distance controls thickness, length, or height.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Extrude direction matters for assembly and print planning.</a:t>
            </a:r>
          </a:p>
        </p:txBody>
      </p:sp>
      <p:pic>
        <p:nvPicPr>
          <p:cNvPr id="22" name="Picture 21" descr="a_clean_studio_product_shot_3d_render_style_imag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Extrude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Select a closed profile.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Choose join, new body, or cut intentionally.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Check the 3D view after the feature is created.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Extrude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Basic extruded part is complete.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Feature is named or easy to identify.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can explain sketch-to-solid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Cut Features and Holes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remove material from a CAD model to create functional features?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Cut Features and Holes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studio_product_shot_3d_render_style_imag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Cut Features and Holes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Cuts create holes, slots, pockets, and clearance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Functional openings must be placed and dimensioned accurately.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Cut direction and depth affect whether the feature works.</a:t>
            </a:r>
          </a:p>
        </p:txBody>
      </p:sp>
      <p:pic>
        <p:nvPicPr>
          <p:cNvPr id="22" name="Picture 21" descr="a_clean_studio_product_shot_3d_render_style_imag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Cut Features and Holes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Sketch the removal area on the correct face.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cut distance or through-all when appropriate.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Inspect the model from multiple 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Cut Features and Holes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Part includes at least one accurate cut feature.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Holes or slots are dimensioned.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checks that the feature goes where intended.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Fillets, Chamfers, and Design Intent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Why do engineers modify sharp edges in a CAD model?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Fillets, Chamfers, and Design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studio_product_shot_3d_render_style_imag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Fillets, Chamfers, and Design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Fillets and chamfers can improve safety, strength, fit, and printability.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Edge treatment should support the function, not just appearance.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Design intent explains why a feature exists.</a:t>
            </a:r>
          </a:p>
        </p:txBody>
      </p:sp>
      <p:pic>
        <p:nvPicPr>
          <p:cNvPr id="22" name="Picture 21" descr="a_clean_studio_product_shot_3d_render_style_imag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Fillets, Chamfers, and Design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Identify edges that need treatment.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Apply fillets or chamfers with reasonable sizes.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Avoid changing critical fit surfaces without a reason.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Fillets, Chamfers, and Design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Part includes intentional edge treatment.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explains why each treatment was added.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Critical dimensions are still protected.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Revolve Features: Nose Cone and Nozzle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can engineers create round 3D parts from a 2D sketch?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Revolve Features: Nose Cone and Nozzle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technical_illustration_exploded_view_di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Revolve Features: Nose Cone and Nozzle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Revolve creates circular parts from a profile and axis.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Profiles must be planned around the centerline.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Nose cones and nozzles are natural revolve examples.</a:t>
            </a:r>
          </a:p>
        </p:txBody>
      </p:sp>
      <p:pic>
        <p:nvPicPr>
          <p:cNvPr id="22" name="Picture 21" descr="a_clean_technical_illustration_exploded_view_di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Revolve Features: Nose Cone and Nozzle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Sketch half of the profile.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Add a centerline or axis.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revolve angle to create the 3D body.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Revolve Features: Nose Cone and Nozzle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Revolved part is complete.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Axis and profile are visible or explainable.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connects the feature to a rocket component.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Revolve Features: Nose Cone and Nozzle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132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Optional video resource to reinforce the lesson ideas.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56616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480560" cy="2971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0A264E"/>
                </a:solidFill>
                <a:latin typeface="Aptos"/>
              </a:defRPr>
            </a:pPr>
            <a:r>
              <a:t>What to watch for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Using the REVOLVE TOOL in Autodesk Fusion 360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how a 2D profile turns into a round part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where the revolve axis is selected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why nose cones and nozzles are good revolve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4114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5740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 i="0">
                <a:solidFill>
                  <a:srgbClr val="0A264E"/>
                </a:solidFill>
                <a:latin typeface="Aptos"/>
              </a:defRPr>
            </a:pPr>
            <a:r>
              <a:t>Scan or open</a:t>
            </a:r>
          </a:p>
        </p:txBody>
      </p:sp>
      <p:pic>
        <p:nvPicPr>
          <p:cNvPr id="14" name="Picture 13" descr="https_www_youtube_com_watch_v_SY1fGI7XAz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487168"/>
            <a:ext cx="1325880" cy="1325880"/>
          </a:xfrm>
          <a:prstGeom prst="rect">
            <a:avLst/>
          </a:prstGeom>
        </p:spPr>
      </p:pic>
      <p:sp>
        <p:nvSpPr>
          <p:cNvPr id="15" name="Rounded Rectangle 14">
            <a:hlinkClick r:id="rId4"/>
          </p:cNvPr>
          <p:cNvSpPr/>
          <p:nvPr/>
        </p:nvSpPr>
        <p:spPr>
          <a:xfrm>
            <a:off x="7315200" y="4160520"/>
            <a:ext cx="2057400" cy="475488"/>
          </a:xfrm>
          <a:prstGeom prst="round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7024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Open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0060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750" b="0" i="0">
                <a:solidFill>
                  <a:srgbClr val="5B6770"/>
                </a:solidFill>
                <a:latin typeface="Aptos"/>
              </a:defRPr>
            </a:pPr>
            <a:r>
              <a:t>https://www.youtube.com/watch?v=SY1fGI7XAz4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Patterns and Symmetry: Rocket Fins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create repeated parts that are evenly spaced and aligned?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Patterns and Symmetry: Rocket Fins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technical_infographic_diagram_on_a_white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Patterns and Symmetry: Rocket Fins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Patterns create consistent repeated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Symmetry improves alignment and reduces modeling errors.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Rocket fins must be evenly placed for balanced design.</a:t>
            </a:r>
          </a:p>
        </p:txBody>
      </p:sp>
      <p:pic>
        <p:nvPicPr>
          <p:cNvPr id="22" name="Picture 21" descr="a_clean_technical_infographic_diagram_on_a_white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Patterns and Symmetry: Rocket Fins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Create or place one accurate fin feature first.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circular pattern when spacing around a centerline.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Check fin count, angle, and alignment.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Patterns and Symmetry: Rocket Fins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Fin pattern or symmetry model is complete.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explains the pattern method used.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Alignment is checked visually and with CAD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Parametric Rocket Part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can engineers design CAD models so they are easy to change later?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Parametric Rocket Part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wide_clean_studio_product_desk_scene_on_a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Parametric Rocket Part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Parameters allow key values to update the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parametric model is easier to revise than a fixed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Useful parameters connect to real design requirements.</a:t>
            </a:r>
          </a:p>
        </p:txBody>
      </p:sp>
      <p:pic>
        <p:nvPicPr>
          <p:cNvPr id="22" name="Picture 21" descr="wide_clean_studio_product_desk_scene_on_a_white_b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Parametric Rocket Part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Identify values that may change later.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named dimensions or editable parameters.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Test by changing one value and observing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Parametric Rocket Part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Model includes editable dimensions or parameters.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identifies which values control the design.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 quick revision test is documented.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CAD Model Check and Revision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check whether a CAD model is correct before moving forward?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CAD Model Check and Revision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well_lit_engineering_workbench_scene_phot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CAD Model Check and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CAD review prevents printing the wrong part.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Models should be checked for size, units, features, and printability.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Revision is normal engineering work.</a:t>
            </a:r>
          </a:p>
        </p:txBody>
      </p:sp>
      <p:pic>
        <p:nvPicPr>
          <p:cNvPr id="22" name="Picture 21" descr="a_clean_well_lit_engineering_workbench_scene_phot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CAD Model Check and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Inspect dimensions and units.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Compare the model to the design intent.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Revise the model before exporting.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CAD Model Check and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CAD check list is complete.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At least one revision is documented.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Final screenshot shows the corrected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Preparing CAD Files for 3D Printing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engineers prepare a CAD model so it can be printed reliably?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Preparing CAD Files for 3D Printing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wide_studio_product_tech_scene_on_a_clean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Preparing CAD Files for 3D 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printable model must be exported correctly.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Orientation and geometry affect support, strength, and surface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STL files should represent the final checked design.</a:t>
            </a:r>
          </a:p>
        </p:txBody>
      </p:sp>
      <p:pic>
        <p:nvPicPr>
          <p:cNvPr id="22" name="Picture 21" descr="wide_studio_product_tech_scene_on_a_clean_white_b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Preparing CAD Files for 3D 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Inspect the model before export.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Export the correct body or component.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Use clear file naming for print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Preparing CAD Files for 3D 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STL/export file is prepared.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Print orientation is considered.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can explain why the file is 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Slicer Basics and Print Settings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do slicer settings affect print success, time, material, and accuracy?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Slicer Basics and Print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wide_studio_product_tech_scene_on_a_clean_white_ba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Slicer Basics and Print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slicer converts a model into machine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Layer height, infill, walls, and supports change print performance.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Preview mode helps catch problems before printing.</a:t>
            </a:r>
          </a:p>
        </p:txBody>
      </p:sp>
      <p:pic>
        <p:nvPicPr>
          <p:cNvPr id="22" name="Picture 21" descr="wide_studio_product_tech_scene_on_a_clean_white_ba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Slicer Basics and Print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Import and orient the model.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Check supports, estimated time, and material use.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Preview layers before submitting.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Slicer Basics and Print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Slicer screenshot is captured.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Settings are recorded or justified.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explains one trade-off in the settings.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Slicer Basics and Print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132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Optional video resource to reinforce the lesson ideas.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56616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480560" cy="2971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0A264E"/>
                </a:solidFill>
                <a:latin typeface="Aptos"/>
              </a:defRPr>
            </a:pPr>
            <a:r>
              <a:t>What to watch for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PrusaSlicer Beginner Tutorial: Learn the Basics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how a model is imported and oriented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where print settings affect time and material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how preview helps catch problems before printing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4114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5740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 i="0">
                <a:solidFill>
                  <a:srgbClr val="0A264E"/>
                </a:solidFill>
                <a:latin typeface="Aptos"/>
              </a:defRPr>
            </a:pPr>
            <a:r>
              <a:t>Scan or open</a:t>
            </a:r>
          </a:p>
        </p:txBody>
      </p:sp>
      <p:pic>
        <p:nvPicPr>
          <p:cNvPr id="14" name="Picture 13" descr="https_www_youtube_com_watch_v_kIqMPNQNS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487168"/>
            <a:ext cx="1325880" cy="1325880"/>
          </a:xfrm>
          <a:prstGeom prst="rect">
            <a:avLst/>
          </a:prstGeom>
        </p:spPr>
      </p:pic>
      <p:sp>
        <p:nvSpPr>
          <p:cNvPr id="15" name="Rounded Rectangle 14">
            <a:hlinkClick r:id="rId4"/>
          </p:cNvPr>
          <p:cNvSpPr/>
          <p:nvPr/>
        </p:nvSpPr>
        <p:spPr>
          <a:xfrm>
            <a:off x="7315200" y="4160520"/>
            <a:ext cx="2057400" cy="475488"/>
          </a:xfrm>
          <a:prstGeom prst="round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7024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Open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0060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750" b="0" i="0">
                <a:solidFill>
                  <a:srgbClr val="5B6770"/>
                </a:solidFill>
                <a:latin typeface="Aptos"/>
              </a:defRPr>
            </a:pPr>
            <a:r>
              <a:t>https://www.youtube.com/watch?v=_kIqMPNQNSw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FabLab 3D Printer Certification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What must students know before using the 3D printers safely and responsibly?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FabLab 3D Printer 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highly_detailed_studio_product_desktop_sc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FabLab 3D Printer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Certification protects people, tools, and materials.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Safe printer use includes setup, monitoring, and cleanup.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Responsible use means respecting the queue and documenting prints.</a:t>
            </a:r>
          </a:p>
        </p:txBody>
      </p:sp>
      <p:pic>
        <p:nvPicPr>
          <p:cNvPr id="22" name="Picture 21" descr="a_clean_highly_detailed_studio_product_desktop_sc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FabLab 3D Printer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Review printer safety expectations.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Identify what to do before, during, and after a print.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Check print request or certification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FabLab 3D Printer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Certification evidence is complete.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can describe safe printer behavior.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understands print queue expectations.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Final 3D Printed Tolerance Tester Workday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How can a printed test tool help make better rocket assembly decisions?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Final 3D Printed Tolerance Tester Workday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studio_product_shot_3d_render_style_imag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Final 3D Printed Tolerance Tester 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Tolerance testers help compare real fits, not assumptions.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useful tester includes multiple sizes or clear labeled features.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The print should produce data for the next design decision.</a:t>
            </a:r>
          </a:p>
        </p:txBody>
      </p:sp>
      <p:pic>
        <p:nvPicPr>
          <p:cNvPr id="22" name="Picture 21" descr="a_clean_studio_product_shot_3d_render_style_imag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Final 3D Printed Tolerance Tester 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Finalize the CAD model.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Check labels, clearances, and print orientation.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Submit or prepare the final print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Final 3D Printed Tolerance Tester 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Final tolerance tester file is ready or submitted.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Tester features are labeled or documented.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predicts what data the tester will provide.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3D Printing Post-Processing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Why is a 3D print not always finished when it comes off the printer?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3D Printing Post-Processing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highly_detailed_studio_product_desktop_sc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3D Printing Post-Processing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Supports, brim, stringing, and rough edges can affect the final part.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Post-processing can change dimensions and fit.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Cleanup should be documented as part of fabrication.</a:t>
            </a:r>
          </a:p>
        </p:txBody>
      </p:sp>
      <p:pic>
        <p:nvPicPr>
          <p:cNvPr id="22" name="Picture 21" descr="a_clean_highly_detailed_studio_product_desktop_sc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3D Printing Post-Processing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Remove supports carefully.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Clean only what should be cleaned.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Measure again after cleanup if fit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3D Printing Post-Processing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Post-processing steps are documented.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Part is inspected for damage or dimensional change.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records any cleanup that affects 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3D Printing Post-Processing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132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Optional video resource to reinforce the lesson ideas.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56616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480560" cy="2971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0A264E"/>
                </a:solidFill>
                <a:latin typeface="Aptos"/>
              </a:defRPr>
            </a:pPr>
            <a:r>
              <a:t>What to watch for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How to Remove 3D Print Support Marks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how supports affect the final part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why sanding or cleanup can change dimensions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what should be documented after cleanup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4114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5740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 i="0">
                <a:solidFill>
                  <a:srgbClr val="0A264E"/>
                </a:solidFill>
                <a:latin typeface="Aptos"/>
              </a:defRPr>
            </a:pPr>
            <a:r>
              <a:t>Scan or open</a:t>
            </a:r>
          </a:p>
        </p:txBody>
      </p:sp>
      <p:pic>
        <p:nvPicPr>
          <p:cNvPr id="14" name="Picture 13" descr="https_www_youtube_com_watch_v_iwFKuCesQ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487168"/>
            <a:ext cx="1325880" cy="1325880"/>
          </a:xfrm>
          <a:prstGeom prst="rect">
            <a:avLst/>
          </a:prstGeom>
        </p:spPr>
      </p:pic>
      <p:sp>
        <p:nvSpPr>
          <p:cNvPr id="15" name="Rounded Rectangle 14">
            <a:hlinkClick r:id="rId4"/>
          </p:cNvPr>
          <p:cNvSpPr/>
          <p:nvPr/>
        </p:nvSpPr>
        <p:spPr>
          <a:xfrm>
            <a:off x="7315200" y="4160520"/>
            <a:ext cx="2057400" cy="475488"/>
          </a:xfrm>
          <a:prstGeom prst="round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7024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Open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0060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750" b="0" i="0">
                <a:solidFill>
                  <a:srgbClr val="5B6770"/>
                </a:solidFill>
                <a:latin typeface="Aptos"/>
              </a:defRPr>
            </a:pPr>
            <a:r>
              <a:t>https://www.youtube.com/watch?v=iwFKuCesQiA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F47520"/>
                </a:solidFill>
                <a:latin typeface="Aptos"/>
              </a:defRPr>
            </a:pPr>
            <a:r>
              <a:t>Lesson 2.18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0A264E"/>
                </a:solidFill>
                <a:latin typeface="Aptos"/>
              </a:defRPr>
            </a:pPr>
            <a:r>
              <a:t>Final Tolerance Tester Review and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 i="0">
                <a:solidFill>
                  <a:srgbClr val="0A264E"/>
                </a:solidFill>
                <a:latin typeface="Aptos"/>
              </a:defRPr>
            </a:pPr>
            <a:r>
              <a:t>What clearance should be recommended for the next rocket assembly project?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38862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37360"/>
            <a:ext cx="64008" cy="155448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83664"/>
            <a:ext cx="356616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F47520"/>
                </a:solidFill>
                <a:latin typeface="Aptos"/>
              </a:defRPr>
            </a:pPr>
            <a:r>
              <a:t>Lesson 2.18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30552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 i="0">
                <a:solidFill>
                  <a:srgbClr val="1F2A37"/>
                </a:solidFill>
                <a:latin typeface="Aptos"/>
              </a:defRPr>
            </a:pPr>
            <a:r>
              <a:t>Final Tolerance Tester Review and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0" i="1">
                <a:solidFill>
                  <a:srgbClr val="5B6770"/>
                </a:solidFill>
                <a:latin typeface="Aptos"/>
              </a:defRPr>
            </a:pPr>
            <a:r>
              <a:t>Connect today's work to your Unit 2 CAD and 3D printing evidence.</a:t>
            </a:r>
          </a:p>
        </p:txBody>
      </p:sp>
      <p:pic>
        <p:nvPicPr>
          <p:cNvPr id="15" name="Picture 14" descr="a_clean_studio_product_shot_3d_render_style_imag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4290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Final Tolerance Tester Review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Big ideas you should understand before you start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1" i="0">
                <a:solidFill>
                  <a:srgbClr val="0A264E"/>
                </a:solidFill>
                <a:latin typeface="Aptos"/>
              </a:defRPr>
            </a:pPr>
            <a:r>
              <a:t>Big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64008" cy="804672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F475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96312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A recommendation should be based on fit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64408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64008" cy="804672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D6A6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29000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Testing should identify too tight, too loose, and acceptable fits.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166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97096"/>
            <a:ext cx="64008" cy="804672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6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361688"/>
            <a:ext cx="41605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50" b="0" i="0">
                <a:solidFill>
                  <a:srgbClr val="1F2A37"/>
                </a:solidFill>
                <a:latin typeface="Aptos"/>
              </a:defRPr>
            </a:pPr>
            <a:r>
              <a:t>The final conclusion connects Unit 2 to the rocket assembly unit.</a:t>
            </a:r>
          </a:p>
        </p:txBody>
      </p:sp>
      <p:pic>
        <p:nvPicPr>
          <p:cNvPr id="22" name="Picture 21" descr="a_clean_studio_product_shot_3d_render_style_imag_4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206240" cy="2971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5120640"/>
            <a:ext cx="4023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Ask yourself: How does this CAD decision improve accuracy, editability, or printability?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Final Tolerance Tester Review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Use the lesson skill to make a more accurate, editable, or printable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Modeling moves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Test each feature consistently.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Record observations and measurements.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Choose a recommended clearance with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Quality checks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Does the model match the intended measurements?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Can another student understand the feature?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Will the part be printable or testable?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Good CAD work is controlled enough to revise and clear enough to explain.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713232" cy="21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44200" y="1371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5B6770"/>
                </a:solidFill>
                <a:latin typeface="Aptos"/>
              </a:defRPr>
            </a:pPr>
            <a:r>
              <a:t>Lesson 2.18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0"/>
            <a:ext cx="31089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t>LockwoodSTEM  |  Aerospace Engineering Design  |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6766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0A264E"/>
                </a:solidFill>
                <a:latin typeface="Aptos"/>
              </a:defRPr>
            </a:pPr>
            <a:r>
              <a:t>Final Tolerance Tester Review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5B6770"/>
                </a:solidFill>
                <a:latin typeface="Aptos"/>
              </a:defRPr>
            </a:pPr>
            <a:r>
              <a:t>Save the strongest artifact from today for your Unit 2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201400" cy="27432"/>
          </a:xfrm>
          <a:prstGeom prst="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53896"/>
            <a:ext cx="11201400" cy="18288"/>
          </a:xfrm>
          <a:prstGeom prst="rect">
            <a:avLst/>
          </a:prstGeom>
          <a:solidFill>
            <a:srgbClr val="CD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38862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73152" cy="38862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F47520"/>
                </a:solidFill>
                <a:latin typeface="Aptos"/>
              </a:defRPr>
            </a:pPr>
            <a:r>
              <a:t>Deliverable checklist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Final recommendation is written.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Evidence table or photos support the claim.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Student explains how the result will guide Unit 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663440" cy="3337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67E5B"/>
                </a:solidFill>
                <a:latin typeface="Aptos"/>
              </a:defRPr>
            </a:pPr>
            <a:r>
              <a:t>Portfolio evidence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Dated notebook entry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Screenshot or exported file</a:t>
            </a:r>
          </a:p>
          <a:p>
            <a:pPr>
              <a:spcBef>
                <a:spcPts val="400"/>
              </a:spcBef>
              <a:defRPr sz="1600">
                <a:solidFill>
                  <a:srgbClr val="1F2A37"/>
                </a:solidFill>
                <a:latin typeface="Aptos"/>
              </a:defRPr>
            </a:pPr>
            <a:r>
              <a:t>Short claim explaining what the evidence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1">
                <a:solidFill>
                  <a:srgbClr val="0A264E"/>
                </a:solidFill>
                <a:latin typeface="Aptos"/>
              </a:defRPr>
            </a:pPr>
            <a:r>
              <a:t>Your final portfolio should show how the model improved across the unit.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13258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1480"/>
            <a:ext cx="841248" cy="251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143000"/>
            <a:ext cx="5943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 i="0">
                <a:solidFill>
                  <a:srgbClr val="D6A635"/>
                </a:solidFill>
                <a:latin typeface="Aptos"/>
              </a:defRPr>
            </a:pPr>
            <a:r>
              <a:t>Unit 2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CAD evidence becomes fabrication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Your tolerance tester should help make a real design recommendation for the next rocket assembly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03320"/>
            <a:ext cx="28346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03320"/>
            <a:ext cx="64008" cy="914400"/>
          </a:xfrm>
          <a:prstGeom prst="rect">
            <a:avLst/>
          </a:prstGeom>
          <a:solidFill>
            <a:srgbClr val="F47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849624"/>
            <a:ext cx="25146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F4752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96511"/>
            <a:ext cx="2423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 i="0">
                <a:solidFill>
                  <a:srgbClr val="1F2A37"/>
                </a:solidFill>
                <a:latin typeface="Aptos"/>
              </a:defRPr>
            </a:pPr>
            <a:r>
              <a:t>A controlled CAD model with meaningful features.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703320"/>
            <a:ext cx="28346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3703320"/>
            <a:ext cx="64008" cy="914400"/>
          </a:xfrm>
          <a:prstGeom prst="rect">
            <a:avLst/>
          </a:prstGeom>
          <a:solidFill>
            <a:srgbClr val="D6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3849624"/>
            <a:ext cx="25146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D6A635"/>
                </a:solidFill>
                <a:latin typeface="Aptos"/>
              </a:defRPr>
            </a:pPr>
            <a:r>
              <a:t>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4096511"/>
            <a:ext cx="2423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 i="0">
                <a:solidFill>
                  <a:srgbClr val="1F2A37"/>
                </a:solidFill>
                <a:latin typeface="Aptos"/>
              </a:defRPr>
            </a:pPr>
            <a:r>
              <a:t>A test part prepared with documented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703320"/>
            <a:ext cx="28346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6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703320"/>
            <a:ext cx="64008" cy="9144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8" y="3849624"/>
            <a:ext cx="25146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67E5B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4096511"/>
            <a:ext cx="2423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 i="0">
                <a:solidFill>
                  <a:srgbClr val="1F2A37"/>
                </a:solidFill>
                <a:latin typeface="Aptos"/>
              </a:defRPr>
            </a:pPr>
            <a:r>
              <a:t>A fit decision supported by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