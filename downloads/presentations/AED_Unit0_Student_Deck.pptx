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12" r:id="rId63"/>
    <p:sldId id="260" r:id="rId6"/>
    <p:sldId id="261" r:id="rId7"/>
    <p:sldId id="262" r:id="rId8"/>
    <p:sldId id="263" r:id="rId9"/>
    <p:sldId id="313" r:id="rId64"/>
    <p:sldId id="264" r:id="rId10"/>
    <p:sldId id="265" r:id="rId11"/>
    <p:sldId id="266" r:id="rId12"/>
    <p:sldId id="267" r:id="rId13"/>
    <p:sldId id="314" r:id="rId65"/>
    <p:sldId id="268" r:id="rId14"/>
    <p:sldId id="269" r:id="rId15"/>
    <p:sldId id="270" r:id="rId16"/>
    <p:sldId id="271" r:id="rId17"/>
    <p:sldId id="325" r:id="rId76"/>
    <p:sldId id="315" r:id="rId66"/>
    <p:sldId id="272" r:id="rId18"/>
    <p:sldId id="273" r:id="rId19"/>
    <p:sldId id="274" r:id="rId20"/>
    <p:sldId id="275" r:id="rId21"/>
    <p:sldId id="276" r:id="rId22"/>
    <p:sldId id="326" r:id="rId77"/>
    <p:sldId id="316" r:id="rId67"/>
    <p:sldId id="277" r:id="rId23"/>
    <p:sldId id="278" r:id="rId24"/>
    <p:sldId id="279" r:id="rId25"/>
    <p:sldId id="280" r:id="rId26"/>
    <p:sldId id="317" r:id="rId68"/>
    <p:sldId id="281" r:id="rId27"/>
    <p:sldId id="282" r:id="rId28"/>
    <p:sldId id="283" r:id="rId29"/>
    <p:sldId id="284" r:id="rId30"/>
    <p:sldId id="318" r:id="rId69"/>
    <p:sldId id="285" r:id="rId31"/>
    <p:sldId id="286" r:id="rId32"/>
    <p:sldId id="287" r:id="rId33"/>
    <p:sldId id="288" r:id="rId34"/>
    <p:sldId id="289" r:id="rId35"/>
    <p:sldId id="328" r:id="rId79"/>
    <p:sldId id="319" r:id="rId70"/>
    <p:sldId id="290" r:id="rId36"/>
    <p:sldId id="291" r:id="rId37"/>
    <p:sldId id="292" r:id="rId38"/>
    <p:sldId id="293" r:id="rId39"/>
    <p:sldId id="320" r:id="rId71"/>
    <p:sldId id="294" r:id="rId40"/>
    <p:sldId id="295" r:id="rId41"/>
    <p:sldId id="296" r:id="rId42"/>
    <p:sldId id="297" r:id="rId43"/>
    <p:sldId id="321" r:id="rId72"/>
    <p:sldId id="298" r:id="rId44"/>
    <p:sldId id="299" r:id="rId45"/>
    <p:sldId id="300" r:id="rId46"/>
    <p:sldId id="301" r:id="rId47"/>
    <p:sldId id="302" r:id="rId48"/>
    <p:sldId id="322" r:id="rId73"/>
    <p:sldId id="303" r:id="rId49"/>
    <p:sldId id="304" r:id="rId50"/>
    <p:sldId id="305" r:id="rId51"/>
    <p:sldId id="306" r:id="rId52"/>
    <p:sldId id="323" r:id="rId74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2.xml"/><Relationship Id="rId19" Type="http://schemas.openxmlformats.org/officeDocument/2006/relationships/slide" Target="slides/slide23.xml"/><Relationship Id="rId20" Type="http://schemas.openxmlformats.org/officeDocument/2006/relationships/slide" Target="slides/slide24.xml"/><Relationship Id="rId21" Type="http://schemas.openxmlformats.org/officeDocument/2006/relationships/slide" Target="slides/slide25.xml"/><Relationship Id="rId22" Type="http://schemas.openxmlformats.org/officeDocument/2006/relationships/slide" Target="slides/slide26.xml"/><Relationship Id="rId23" Type="http://schemas.openxmlformats.org/officeDocument/2006/relationships/slide" Target="slides/slide29.xml"/><Relationship Id="rId24" Type="http://schemas.openxmlformats.org/officeDocument/2006/relationships/slide" Target="slides/slide30.xml"/><Relationship Id="rId25" Type="http://schemas.openxmlformats.org/officeDocument/2006/relationships/slide" Target="slides/slide31.xml"/><Relationship Id="rId26" Type="http://schemas.openxmlformats.org/officeDocument/2006/relationships/slide" Target="slides/slide32.xml"/><Relationship Id="rId27" Type="http://schemas.openxmlformats.org/officeDocument/2006/relationships/slide" Target="slides/slide34.xml"/><Relationship Id="rId28" Type="http://schemas.openxmlformats.org/officeDocument/2006/relationships/slide" Target="slides/slide35.xml"/><Relationship Id="rId29" Type="http://schemas.openxmlformats.org/officeDocument/2006/relationships/slide" Target="slides/slide36.xml"/><Relationship Id="rId30" Type="http://schemas.openxmlformats.org/officeDocument/2006/relationships/slide" Target="slides/slide37.xml"/><Relationship Id="rId31" Type="http://schemas.openxmlformats.org/officeDocument/2006/relationships/slide" Target="slides/slide39.xml"/><Relationship Id="rId32" Type="http://schemas.openxmlformats.org/officeDocument/2006/relationships/slide" Target="slides/slide40.xml"/><Relationship Id="rId33" Type="http://schemas.openxmlformats.org/officeDocument/2006/relationships/slide" Target="slides/slide41.xml"/><Relationship Id="rId34" Type="http://schemas.openxmlformats.org/officeDocument/2006/relationships/slide" Target="slides/slide42.xml"/><Relationship Id="rId35" Type="http://schemas.openxmlformats.org/officeDocument/2006/relationships/slide" Target="slides/slide43.xml"/><Relationship Id="rId36" Type="http://schemas.openxmlformats.org/officeDocument/2006/relationships/slide" Target="slides/slide46.xml"/><Relationship Id="rId37" Type="http://schemas.openxmlformats.org/officeDocument/2006/relationships/slide" Target="slides/slide47.xml"/><Relationship Id="rId38" Type="http://schemas.openxmlformats.org/officeDocument/2006/relationships/slide" Target="slides/slide48.xml"/><Relationship Id="rId39" Type="http://schemas.openxmlformats.org/officeDocument/2006/relationships/slide" Target="slides/slide49.xml"/><Relationship Id="rId40" Type="http://schemas.openxmlformats.org/officeDocument/2006/relationships/slide" Target="slides/slide51.xml"/><Relationship Id="rId41" Type="http://schemas.openxmlformats.org/officeDocument/2006/relationships/slide" Target="slides/slide52.xml"/><Relationship Id="rId42" Type="http://schemas.openxmlformats.org/officeDocument/2006/relationships/slide" Target="slides/slide53.xml"/><Relationship Id="rId43" Type="http://schemas.openxmlformats.org/officeDocument/2006/relationships/slide" Target="slides/slide54.xml"/><Relationship Id="rId44" Type="http://schemas.openxmlformats.org/officeDocument/2006/relationships/slide" Target="slides/slide56.xml"/><Relationship Id="rId45" Type="http://schemas.openxmlformats.org/officeDocument/2006/relationships/slide" Target="slides/slide57.xml"/><Relationship Id="rId46" Type="http://schemas.openxmlformats.org/officeDocument/2006/relationships/slide" Target="slides/slide58.xml"/><Relationship Id="rId47" Type="http://schemas.openxmlformats.org/officeDocument/2006/relationships/slide" Target="slides/slide59.xml"/><Relationship Id="rId48" Type="http://schemas.openxmlformats.org/officeDocument/2006/relationships/slide" Target="slides/slide60.xml"/><Relationship Id="rId49" Type="http://schemas.openxmlformats.org/officeDocument/2006/relationships/slide" Target="slides/slide62.xml"/><Relationship Id="rId50" Type="http://schemas.openxmlformats.org/officeDocument/2006/relationships/slide" Target="slides/slide63.xml"/><Relationship Id="rId51" Type="http://schemas.openxmlformats.org/officeDocument/2006/relationships/slide" Target="slides/slide64.xml"/><Relationship Id="rId52" Type="http://schemas.openxmlformats.org/officeDocument/2006/relationships/slide" Target="slides/slide65.xml"/><Relationship Id="rId53" Type="http://schemas.openxmlformats.org/officeDocument/2006/relationships/slide" Target="slides/slide67.xml"/><Relationship Id="rId54" Type="http://schemas.openxmlformats.org/officeDocument/2006/relationships/slide" Target="slides/slide68.xml"/><Relationship Id="rId55" Type="http://schemas.openxmlformats.org/officeDocument/2006/relationships/slide" Target="slides/slide69.xml"/><Relationship Id="rId56" Type="http://schemas.openxmlformats.org/officeDocument/2006/relationships/slide" Target="slides/slide70.xml"/><Relationship Id="rId57" Type="http://schemas.openxmlformats.org/officeDocument/2006/relationships/slide" Target="slides/slide71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openxmlformats.org/officeDocument/2006/relationships/slide" Target="slides/slide5.xml"/><Relationship Id="rId64" Type="http://schemas.openxmlformats.org/officeDocument/2006/relationships/slide" Target="slides/slide10.xml"/><Relationship Id="rId65" Type="http://schemas.openxmlformats.org/officeDocument/2006/relationships/slide" Target="slides/slide15.xml"/><Relationship Id="rId66" Type="http://schemas.openxmlformats.org/officeDocument/2006/relationships/slide" Target="slides/slide21.xml"/><Relationship Id="rId67" Type="http://schemas.openxmlformats.org/officeDocument/2006/relationships/slide" Target="slides/slide28.xml"/><Relationship Id="rId68" Type="http://schemas.openxmlformats.org/officeDocument/2006/relationships/slide" Target="slides/slide33.xml"/><Relationship Id="rId69" Type="http://schemas.openxmlformats.org/officeDocument/2006/relationships/slide" Target="slides/slide38.xml"/><Relationship Id="rId70" Type="http://schemas.openxmlformats.org/officeDocument/2006/relationships/slide" Target="slides/slide45.xml"/><Relationship Id="rId71" Type="http://schemas.openxmlformats.org/officeDocument/2006/relationships/slide" Target="slides/slide50.xml"/><Relationship Id="rId72" Type="http://schemas.openxmlformats.org/officeDocument/2006/relationships/slide" Target="slides/slide55.xml"/><Relationship Id="rId73" Type="http://schemas.openxmlformats.org/officeDocument/2006/relationships/slide" Target="slides/slide61.xml"/><Relationship Id="rId74" Type="http://schemas.openxmlformats.org/officeDocument/2006/relationships/slide" Target="slides/slide66.xml"/><Relationship Id="rId76" Type="http://schemas.openxmlformats.org/officeDocument/2006/relationships/slide" Target="slides/slide20.xml"/><Relationship Id="rId77" Type="http://schemas.openxmlformats.org/officeDocument/2006/relationships/slide" Target="slides/slide27.xml"/><Relationship Id="rId79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deck as the student-facing visual companion to the Unit 0 one-page teacher guides.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0.1: Course Launch &amp; Engineering Mindset.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0.2: Engineering Notebook Setup &amp; Course Resources.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0.3: Safety Acknowledgment, PPE &amp; FabLab Orientation.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0.4: Engineering Design Process.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0.5: Engineering Notebook &amp; Documentation Basics.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0.6: Problem Definition, Criteria &amp; Constraints.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0.7: Rocket Launch Pad Design Challenge Launch.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0.8: Launch Pad Build Plan.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0.9: Launch Pad Prototype Build Day.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0.10: Launch Pad Testing and Improvement.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0.11: Launch Pad Final Documentation and Design Review.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opener for Lesson 0.12: Unit 0 Portfolio Check and Design Reflection. Use the focus question to set the purpose before moving into the main teaching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NA4aPX5SuM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bbxjA5e2hw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fqKbSEO_Axg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-1-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" y="502920"/>
            <a:ext cx="1965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360" y="640080"/>
            <a:ext cx="1286561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7830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Aerospace Engineering Design</a:t>
            </a:r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0: Engineering Foundations &amp; Rocket Launch Pad Challenge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Student learning deck • LockwoodSTEM aerospace-aligned AED curriculum</a:t>
            </a:r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9966960" cy="0"/>
          </a:xfrm>
          <a:prstGeom prst="line">
            <a:avLst/>
          </a:prstGeom>
          <a:noFill/>
          <a:ln w="3048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22960" y="43159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Mindset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681728"/>
            <a:ext cx="31546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0F8"/>
                </a:solidFill>
              </a:rPr>
              <a:t>Think like an engineer: define, test, revise, communicate.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43159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Systems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26280" y="4681728"/>
            <a:ext cx="31546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0F8"/>
                </a:solidFill>
              </a:rPr>
              <a:t>Notebook routines, safety, course resources, and FabLab expectations.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0" y="431596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Challenge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0" y="4681728"/>
            <a:ext cx="315468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0F8"/>
                </a:solidFill>
              </a:rPr>
              <a:t>Team launch pad prototype supported by evidence and reflection.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Unit 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 Learning Arc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From engineering mindset to tested launch pad prototype and portfolio evidence.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0408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Mindset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246888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57860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57860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Notebook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45312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45312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Safety</a:t>
            </a:r>
            <a:endParaRPr lang="en-US" sz="1070" dirty="0"/>
          </a:p>
        </p:txBody>
      </p:sp>
      <p:sp>
        <p:nvSpPr>
          <p:cNvPr id="18" name="Shape 15"/>
          <p:cNvSpPr/>
          <p:nvPr/>
        </p:nvSpPr>
        <p:spPr>
          <a:xfrm>
            <a:off x="621792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32764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2764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Design Process</a:t>
            </a:r>
            <a:endParaRPr lang="en-US" sz="1070" dirty="0"/>
          </a:p>
        </p:txBody>
      </p:sp>
      <p:sp>
        <p:nvSpPr>
          <p:cNvPr id="21" name="Shape 18"/>
          <p:cNvSpPr/>
          <p:nvPr/>
        </p:nvSpPr>
        <p:spPr>
          <a:xfrm>
            <a:off x="809244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20216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0216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Documentation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9966960" y="1508760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076688" y="1618488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07668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Problem Definition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59436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0408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0.7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0408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Launch Pad Brief</a:t>
            </a:r>
            <a:endParaRPr lang="en-US" sz="1070" dirty="0"/>
          </a:p>
        </p:txBody>
      </p:sp>
      <p:sp>
        <p:nvSpPr>
          <p:cNvPr id="30" name="Shape 27"/>
          <p:cNvSpPr/>
          <p:nvPr/>
        </p:nvSpPr>
        <p:spPr>
          <a:xfrm>
            <a:off x="246888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257860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0.8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57860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Build Plan</a:t>
            </a:r>
            <a:endParaRPr lang="en-US" sz="1070" dirty="0"/>
          </a:p>
        </p:txBody>
      </p:sp>
      <p:sp>
        <p:nvSpPr>
          <p:cNvPr id="33" name="Shape 30"/>
          <p:cNvSpPr/>
          <p:nvPr/>
        </p:nvSpPr>
        <p:spPr>
          <a:xfrm>
            <a:off x="434340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445312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0.9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5312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Prototype</a:t>
            </a:r>
            <a:endParaRPr lang="en-US" sz="1070" dirty="0"/>
          </a:p>
        </p:txBody>
      </p:sp>
      <p:sp>
        <p:nvSpPr>
          <p:cNvPr id="36" name="Shape 33"/>
          <p:cNvSpPr/>
          <p:nvPr/>
        </p:nvSpPr>
        <p:spPr>
          <a:xfrm>
            <a:off x="621792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632764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0.10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32764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Test + Improve</a:t>
            </a:r>
            <a:endParaRPr lang="en-US" sz="1070" dirty="0"/>
          </a:p>
        </p:txBody>
      </p:sp>
      <p:sp>
        <p:nvSpPr>
          <p:cNvPr id="39" name="Shape 36"/>
          <p:cNvSpPr/>
          <p:nvPr/>
        </p:nvSpPr>
        <p:spPr>
          <a:xfrm>
            <a:off x="809244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820216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0.11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820216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Design Review</a:t>
            </a:r>
            <a:endParaRPr lang="en-US" sz="1070" dirty="0"/>
          </a:p>
        </p:txBody>
      </p:sp>
      <p:sp>
        <p:nvSpPr>
          <p:cNvPr id="42" name="Shape 39"/>
          <p:cNvSpPr/>
          <p:nvPr/>
        </p:nvSpPr>
        <p:spPr>
          <a:xfrm>
            <a:off x="9966960" y="3136392"/>
            <a:ext cx="1554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076688" y="3246120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B20"/>
                </a:solidFill>
              </a:rPr>
              <a:t>0.12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10076688" y="35478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0B1F3A"/>
                </a:solidFill>
              </a:rPr>
              <a:t>Portfolio</a:t>
            </a:r>
            <a:endParaRPr lang="en-US" sz="1070" dirty="0"/>
          </a:p>
        </p:txBody>
      </p:sp>
      <p:sp>
        <p:nvSpPr>
          <p:cNvPr id="45" name="Shape 42"/>
          <p:cNvSpPr/>
          <p:nvPr/>
        </p:nvSpPr>
        <p:spPr>
          <a:xfrm>
            <a:off x="731520" y="489204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FFF8E8"/>
          </a:solidFill>
          <a:ln w="889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960120" y="5102352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Unit throughline: You will learn engineering habits first, then use those habits to solve a small but complete aerospace design challenge.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Unit 0</a:t>
            </a:r>
          </a:p>
        </p:txBody>
      </p:sp>
      <p:sp>
        <p:nvSpPr>
          <p:cNvPr id="48" name="Text 45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</a:t>
            </a:r>
            <a:endParaRPr lang="en-US" sz="6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Unit 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 Deliverables Map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this map to track the evidence you will build throughout Unit 0.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18288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Lesson(s)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423160" y="1325880"/>
            <a:ext cx="36576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496312" y="143560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Evidence / Deliverable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080760" y="1325880"/>
            <a:ext cx="54864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53912" y="1435608"/>
            <a:ext cx="5340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Purpose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594360" y="1837944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191109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0.2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2423160" y="18379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496312" y="191109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Notebook setup + course resource access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080760" y="1837944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153912" y="1911096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Establish organization and digital access.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350008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42316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0.4–0.5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423160" y="235000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496312" y="242316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Paper airplane design process worksheet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080760" y="2350008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153912" y="2423160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First numbered notebook artifact; revise for quality.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94360" y="2862072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67512" y="293522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0.6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2423160" y="28620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496312" y="293522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Problem / criteria / constraints worksheet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080760" y="2862072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153912" y="2935224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Clarifies how to define design problems.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94360" y="3374136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67512" y="344728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0.7–0.8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2423160" y="3374136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496312" y="344728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Launch pad concept + build plan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6080760" y="3374136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153912" y="3447288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Moves from ideas to build-ready documentation.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594360" y="3886200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67512" y="3959352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0.9–0.10</a:t>
            </a: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2423160" y="3886200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2496312" y="395935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Prototype build notes + testing/improvement evidence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6080760" y="3886200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6153912" y="3959352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Shows iteration through testing.</a:t>
            </a:r>
            <a:endParaRPr lang="en-US" sz="960" dirty="0"/>
          </a:p>
        </p:txBody>
      </p:sp>
      <p:sp>
        <p:nvSpPr>
          <p:cNvPr id="45" name="Shape 42"/>
          <p:cNvSpPr/>
          <p:nvPr/>
        </p:nvSpPr>
        <p:spPr>
          <a:xfrm>
            <a:off x="594360" y="4398264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667512" y="447141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0.11–0.12</a:t>
            </a:r>
            <a:endParaRPr lang="en-US" sz="960" dirty="0"/>
          </a:p>
        </p:txBody>
      </p:sp>
      <p:sp>
        <p:nvSpPr>
          <p:cNvPr id="47" name="Shape 44"/>
          <p:cNvSpPr/>
          <p:nvPr/>
        </p:nvSpPr>
        <p:spPr>
          <a:xfrm>
            <a:off x="2423160" y="439826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2496312" y="447141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Final design review + Unit 0 portfolio reflection</a:t>
            </a:r>
            <a:endParaRPr lang="en-US" sz="960" dirty="0"/>
          </a:p>
        </p:txBody>
      </p:sp>
      <p:sp>
        <p:nvSpPr>
          <p:cNvPr id="49" name="Shape 46"/>
          <p:cNvSpPr/>
          <p:nvPr/>
        </p:nvSpPr>
        <p:spPr>
          <a:xfrm>
            <a:off x="6080760" y="4398264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6153912" y="4471416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Communicates final design and individual learning.</a:t>
            </a:r>
            <a:endParaRPr lang="en-US" sz="960" dirty="0"/>
          </a:p>
        </p:txBody>
      </p:sp>
      <p:sp>
        <p:nvSpPr>
          <p:cNvPr id="51" name="Text 4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Unit 0</a:t>
            </a:r>
          </a:p>
        </p:txBody>
      </p:sp>
      <p:sp>
        <p:nvSpPr>
          <p:cNvPr id="52" name="Text 4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</a:t>
            </a:r>
            <a:endParaRPr lang="en-US" sz="6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Unit 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Unit 0 Works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a consistent engineering rhythm: define, document, build, test, improve, and communicate.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7B20"/>
                </a:solidFill>
              </a:rPr>
              <a:t>UNIT 0 HABITS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Tie every activity back to evidence: sketches, notes, photos, measurements, test results, and reflections.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Avoid rewarding only the best-looking prototype; reward clear problem definition, documentation, testing, and improvement.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Use aerospace examples frequently: rockets, aircraft, drones, satellites, launch systems, and ground support equipment.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Explain what changed, why it changed, and what evidence supports the decision.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Unit 0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</a:t>
            </a:r>
            <a:endParaRPr lang="en-US" sz="6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Course Launch &amp; Engineering Mindset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engineers think, document, and make evidence-based decisions?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Course purpose and aerospace engineering mindset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Engineering problems vs. school assignments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Evidence as the foundation of design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Launch &amp; Engineering Mindset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does it mean to think and work like an engineer?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it mean to think and work like an engineer?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• Describe what AED is and how it connects to aerospace engineering.</a:t>
            </a:r>
          </a:p>
          <a:p>
            <a:r>
              <a:t>• Explain why engineers use evidence, constraints, testing, and communication.</a:t>
            </a:r>
          </a:p>
          <a:p>
            <a:r>
              <a:t>• Compare finishing an assignment with solving an engineering problem.</a:t>
            </a:r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Launch &amp; Engineering Mindset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</a:t>
            </a:r>
            <a:endParaRPr lang="en-US" sz="6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School Assignment vs. Engineering Problem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Set the mindset for the year.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A typical assignment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2940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An engineering problem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Often has one expected answer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Can be finished and forgotten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Usually judged by completion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Mistakes are avoided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2940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Has multiple possible solutions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Requires criteria and constraints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Uses testing to improve ideas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Mistakes become evidence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6</a:t>
            </a:r>
            <a:endParaRPr lang="en-US" sz="6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AED Course Focus</a:t>
            </a:r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will build engineering habits through an aerospace lens.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Core engineering skills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Aerospace connections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Sketching and visual communication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CAD modeling and technical drawings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Fabrication and prototyping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Testing and data analysis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Design reviews and documentation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Rocket launch pad challenge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Rocket models and assemblies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Aircraft, drone, satellite, and rover examples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FabLab tools and manufacturing routines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Human-centered aerospace capstone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7</a:t>
            </a:r>
            <a:endParaRPr lang="en-US" sz="6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Evidence-Based Engineering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key idea for day one.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KEY IDEA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Engineers do not just say “I think this works.”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Engineers use evidence: sketches, measurements, test data, observations, photos, prototypes, and user feedback.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Every design claim should connect to proof.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The first version is not the finish line; it is the first source of evidence.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8</a:t>
            </a:r>
            <a:endParaRPr lang="en-US" sz="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Engineering Notebook Setup &amp; Course Resources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will you organize evidence so your engineering work can be understood later?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Engineering notebook expectations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Course resources and file organization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Digital naming habits that support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Notebook Setup &amp; Course Resources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will you organize engineering work and access course resources?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will you organize engineering work and access course resources?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Set up the binder-based engineering notebook system.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Explain chronological organization and table of contents routines.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Locate key course resources, templates, downloads, and submissions.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Notebook Setup &amp; Course Resources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0.2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9</a:t>
            </a:r>
            <a:endParaRPr lang="en-US" sz="6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Notebook System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notebook is a chronological evidence record.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Notebook rules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Why it matters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Use a 1.5 inch binder as the engineering notebook.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The first page is the printed Table of Contents.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Do not number the Table of Contents.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Page numbering starts with the first actual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Add work in the order it is completed.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Makes design thinking visible.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Helps teams trace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Creates evidence for design reviews.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Supports revision and inspection.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Builds professional documentation habits.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0.2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10</a:t>
            </a:r>
            <a:endParaRPr lang="en-US" sz="6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Course Resource Access Check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Confirm you can find everything you need before projects begin.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Digital access routine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1. Log in to Google Classroom.</a:t>
            </a:r>
          </a:p>
          <a:p>
            <a:r>
              <a:t>2. Open and bookmark the LockwoodSTEM AED Course Hub.</a:t>
            </a:r>
          </a:p>
          <a:p>
            <a:r>
              <a:t>3. Find lesson pages, downloads, templates, and certifications.</a:t>
            </a:r>
          </a:p>
          <a:p>
            <a:r>
              <a:t>4. Confirm shared Drive or submission access.</a:t>
            </a:r>
          </a:p>
          <a:p>
            <a:r>
              <a:t>5. Review file naming expectations.</a:t>
            </a:r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 formal notebook submission. Complete the access checks live in class.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0.2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11</a:t>
            </a:r>
            <a:endParaRPr lang="en-US" sz="6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Digital File Naming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Make digital work findable and professional.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7B20"/>
                </a:solidFill>
              </a:rPr>
              <a:t>REQUIRED FORMAT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LastName_FirstName_Unit_AssignmentName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Use clear names for CAD files, screenshots, PDFs, and submitted documents.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Save and back up work in the correct location.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 file name should make sense even before the file is opened.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0.2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12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Safety Acknowledgment, PPE &amp; FabLab Orientation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safe habits make engineering work possible?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FabLab safety as an engineering requirement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PPE, behavior, and tool-space expectations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Signed safety acknowledgment and readiness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Acknowledgment, PPE &amp; FabLab Orientation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do safety expectations protect people, tools, materials, and project quality?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safety expectations protect people, tools, materials, and project quality?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Identify major safety expectations for the engineering classroom and FabLab.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Explain PPE expectations and safe behavior around tools and materials.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Understand the signed acknowledgment requirement before tool use.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Acknowledgment, PPE &amp; FabLab Orientation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0.3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13</a:t>
            </a:r>
            <a:endParaRPr lang="en-US" sz="6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Is an Engineering Requirement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Safety protects people, tools, materials, and project quality.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NON-NEGOTIABLES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Wear safety glasses when directed or required by fabrication activity.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Wear closed-toe shoes during fabrication activities.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Tie back long hair and secure loose clothing or jewelry.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Use tools, machines, and materials only with permission and supervision.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Report damaged tools, unsafe conditions, and injuries immediately.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0.3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14</a:t>
            </a:r>
            <a:endParaRPr lang="en-US" sz="67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PPE + Behavior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FabLab is a shared engineering workspace.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PPE expectations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Behavior expectations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Safety glasses when required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Closed-toe shoes for fabrication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Hair tied back around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No loose clothing or dangling jewelry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Use gloves only when appropriate and directed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No horseplay or rushing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Ask before using tools or materials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Keep work areas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Respect active build zones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Stop immediately if something seems unsafe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0.3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15</a:t>
            </a:r>
            <a:endParaRPr lang="en-US" sz="67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0.3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Signed Acknowledgment Requirement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may not use FabLab tools or machines until the acknowledgment is returned.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201168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Requirement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606040" y="1325880"/>
            <a:ext cx="896112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79192" y="1435608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What it means for you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94360" y="1837944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" y="19110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Your signature + parent/guardian signature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2606040" y="1837944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679192" y="1911096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Confirms safety and FabLab expectations were reviewed.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94360" y="2350008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67512" y="24231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Paper copy collected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2606040" y="2350008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679192" y="2423160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This is a graded completion item.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86207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935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Required before tool use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606040" y="2862072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679192" y="2935224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You can participate without it, but you cannot use tools or machines until it is returned.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94360" y="3374136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67512" y="344728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Certifications handled separately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2606040" y="3374136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679192" y="3447288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Lesson 0.3 is orientation, not full tool certification.</a:t>
            </a:r>
            <a:endParaRPr lang="en-US" sz="960" dirty="0"/>
          </a:p>
        </p:txBody>
      </p:sp>
      <p:sp>
        <p:nvSpPr>
          <p:cNvPr id="29" name="Text 26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0.3</a:t>
            </a:r>
          </a:p>
        </p:txBody>
      </p:sp>
      <p:sp>
        <p:nvSpPr>
          <p:cNvPr id="30" name="Text 27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16</a:t>
            </a:r>
            <a:endParaRPr lang="en-US" sz="6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2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594360" cy="177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0058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LOCKWOODSTEM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A940"/>
                </a:solidFill>
              </a:defRPr>
            </a:pPr>
            <a:r>
              <a:t>Lesson 0.3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04C"/>
                </a:solidFill>
              </a:defRPr>
            </a:pPr>
            <a:r>
              <a:t>Safety &amp; PPE Video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Use this optional resource if you want a quick visual explanation of the lesson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4572000" cy="3794760"/>
          </a:xfrm>
          <a:prstGeom prst="roundRect">
            <a:avLst/>
          </a:prstGeom>
          <a:solidFill>
            <a:srgbClr val="ECF2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04C"/>
                </a:solidFill>
              </a:defRPr>
            </a:pPr>
            <a:r>
              <a:t>What to watch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2B36"/>
                </a:solidFill>
              </a:defRPr>
            </a:pPr>
            <a:r>
              <a:t>STEMonstrations: Lab Safety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the role of PPE in preventing injuries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safe behavior expectations in a lab space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why safety is part of quality engineering 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240280"/>
            <a:ext cx="2834640" cy="3794760"/>
          </a:xfrm>
          <a:prstGeom prst="roundRect">
            <a:avLst/>
          </a:prstGeom>
          <a:solidFill>
            <a:srgbClr val="F8F8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4688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204C"/>
                </a:solidFill>
              </a:defRPr>
            </a:pPr>
            <a:r>
              <a:t>Scan or open</a:t>
            </a:r>
          </a:p>
        </p:txBody>
      </p:sp>
      <p:pic>
        <p:nvPicPr>
          <p:cNvPr id="13" name="Picture 12" descr="NA4aPX5S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1234440" cy="1234440"/>
          </a:xfrm>
          <a:prstGeom prst="rect">
            <a:avLst/>
          </a:prstGeom>
        </p:spPr>
      </p:pic>
      <p:sp>
        <p:nvSpPr>
          <p:cNvPr id="14" name="Rounded Rectangle 13">
            <a:hlinkClick r:id="rId4"/>
          </p:cNvPr>
          <p:cNvSpPr/>
          <p:nvPr/>
        </p:nvSpPr>
        <p:spPr>
          <a:xfrm>
            <a:off x="5897880" y="4297680"/>
            <a:ext cx="201168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9377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12B36"/>
                </a:solidFill>
              </a:defRPr>
            </a:pPr>
            <a:r>
              <a:t>If the QR code does not scan, use the link below:</a:t>
            </a:r>
          </a:p>
          <a:p>
            <a:pPr algn="ctr">
              <a:defRPr sz="900">
                <a:solidFill>
                  <a:srgbClr val="375A8C"/>
                </a:solidFill>
              </a:defRPr>
            </a:pPr>
            <a:r>
              <a:t>https://www.youtube.com/watch?v=NA4aPX5SuME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This resource is optional and is provided to help reinforce the lesson with a visual example.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Engineering Design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engineers use testing and revision to improve a design?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The design process as a cycle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Paper airplane distance challenge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Testing, evaluating, and revising with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Design Process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do engineers improve an idea through testing and redesign?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improve an idea through testing and redesign?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Describe the design process as a flexible cycle.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Apply the cycle to a paper airplane distance challenge.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Use test evidence to revise a design.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Design Process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0.4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17</a:t>
            </a:r>
            <a:endParaRPr lang="en-US" sz="67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Design Process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process is a flexible cycle, not a strict checklist.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pic>
        <p:nvPicPr>
          <p:cNvPr id="9" name="Image 1" descr="/mnt/data/unit0_deck_site/assets/img/ied-engineering-design-process-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4846320" cy="4846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932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Design process stages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035040" y="1691640"/>
            <a:ext cx="5440680" cy="4389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Define the problem: goal, constraints, success criteria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Generate concepts: multiple possible solutions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Develop solution: choose and plan a design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Construct &amp; test: build prototype and collect evidence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Evaluate solution: compare results to criteria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11827"/>
                </a:solidFill>
              </a:rPr>
              <a:t>• Present solution: communicate the design and next steps</a:t>
            </a:r>
            <a:endParaRPr lang="en-US" sz="1520" dirty="0"/>
          </a:p>
        </p:txBody>
      </p:sp>
      <p:sp>
        <p:nvSpPr>
          <p:cNvPr id="12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0.4</a:t>
            </a:r>
          </a:p>
        </p:txBody>
      </p:sp>
      <p:sp>
        <p:nvSpPr>
          <p:cNvPr id="13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18</a:t>
            </a:r>
            <a:endParaRPr lang="en-US" sz="6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Airplane Distance Challenge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fast design-process cycle with measurable evidence.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Challenge rules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Each student sketches one concept individually.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The team chooses one Version 1 concept to build.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Version 1 uses one sheet of paper only.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Complete one official test flight and record distance.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Revise the design and build Version 2 with one new sheet of paper.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Complete one official test flight and compare evidence.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Individual design process worksheet becomes the first numbered notebook document.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0.4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19</a:t>
            </a:r>
            <a:endParaRPr lang="en-US" sz="6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→ Evaluate → Revise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Make the design cycle visible during the airplane challenge.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060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636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858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03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356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Measure distance from the launch line to the first ground contact. Record results in feet and inches.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079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0932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Evaluate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Compare Version 1 and Version 2. Did performance improve, worsen, or stay similar?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010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655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508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Revise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Explain what changed and what evidence supports the design decision.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0.4</a:t>
            </a:r>
          </a:p>
        </p:txBody>
      </p:sp>
      <p:sp>
        <p:nvSpPr>
          <p:cNvPr id="24" name="Text 21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20</a:t>
            </a:r>
            <a:endParaRPr lang="en-US" sz="67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0.4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Paper Airplane Evidence Checklist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should leave with a completed design-process artifact.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Individual concept sketch is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Team Version 1 and Version 2 data are recorded.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Revision is explained with evidence.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Worksheet is numbered as the first notebook document.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Table of Contents is updated.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0.4</a:t>
            </a:r>
          </a:p>
        </p:txBody>
      </p:sp>
      <p:sp>
        <p:nvSpPr>
          <p:cNvPr id="11" name="Text 8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21</a:t>
            </a:r>
            <a:endParaRPr lang="en-US" sz="67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2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594360" cy="177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0058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LOCKWOODSTEM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A940"/>
                </a:solidFill>
              </a:defRPr>
            </a:pPr>
            <a:r>
              <a:t>Lesson 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04C"/>
                </a:solidFill>
              </a:defRPr>
            </a:pPr>
            <a:r>
              <a:t>Engineering Design Process Video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Use this optional resource if you want a quick visual explanation of the lesson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4572000" cy="3794760"/>
          </a:xfrm>
          <a:prstGeom prst="roundRect">
            <a:avLst/>
          </a:prstGeom>
          <a:solidFill>
            <a:srgbClr val="ECF2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04C"/>
                </a:solidFill>
              </a:defRPr>
            </a:pPr>
            <a:r>
              <a:t>What to watch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2B36"/>
                </a:solidFill>
              </a:defRPr>
            </a:pPr>
            <a:r>
              <a:t>STEMonstrations: Engineering Design Process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where defining the problem happens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how testing leads to improvement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why engineers rarely get the best solution on the first 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240280"/>
            <a:ext cx="2834640" cy="3794760"/>
          </a:xfrm>
          <a:prstGeom prst="roundRect">
            <a:avLst/>
          </a:prstGeom>
          <a:solidFill>
            <a:srgbClr val="F8F8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4688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204C"/>
                </a:solidFill>
              </a:defRPr>
            </a:pPr>
            <a:r>
              <a:t>Scan or open</a:t>
            </a:r>
          </a:p>
        </p:txBody>
      </p:sp>
      <p:pic>
        <p:nvPicPr>
          <p:cNvPr id="13" name="Picture 12" descr="IbbxjA5e2h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1234440" cy="1234440"/>
          </a:xfrm>
          <a:prstGeom prst="rect">
            <a:avLst/>
          </a:prstGeom>
        </p:spPr>
      </p:pic>
      <p:sp>
        <p:nvSpPr>
          <p:cNvPr id="14" name="Rounded Rectangle 13">
            <a:hlinkClick r:id="rId4"/>
          </p:cNvPr>
          <p:cNvSpPr/>
          <p:nvPr/>
        </p:nvSpPr>
        <p:spPr>
          <a:xfrm>
            <a:off x="5897880" y="4297680"/>
            <a:ext cx="201168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9377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12B36"/>
                </a:solidFill>
              </a:defRPr>
            </a:pPr>
            <a:r>
              <a:t>If the QR code does not scan, use the link below:</a:t>
            </a:r>
          </a:p>
          <a:p>
            <a:pPr algn="ctr">
              <a:defRPr sz="900">
                <a:solidFill>
                  <a:srgbClr val="375A8C"/>
                </a:solidFill>
              </a:defRPr>
            </a:pPr>
            <a:r>
              <a:t>https://www.youtube.com/watch?v=IbbxjA5e2hw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This resource is optional and is provided to help reinforce the lesson with a visual example.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Engineering Notebook &amp; Documentation Basics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What makes engineering documentation useful?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Strong vs. weak documentation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Sketches, decisions, test data, and revision notes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Notebook evidence that supports design thinking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Notebook &amp; Documentation Basics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does documentation make engineering thinking visible?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does documentation make engineering thinking visible?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Explain what strong engineering documentation looks like.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Improve the Lesson 0.4 paper airplane worksheet.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Connect documentation quality to engineering decisions and communication.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Engineering Notebook &amp; Documentation Basics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0.5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22</a:t>
            </a:r>
            <a:endParaRPr lang="en-US" sz="67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vs. Strong Documentation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should learn to improve evidence quality, not just add more words.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Weak documentation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2940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Strong documentation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Undated or unlabeled notes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Missing sketches or measurements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Vague statements like “it worked”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No explanation of changes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Hard for another person to follow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2940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Dated, labeled, and organized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Sketches show key features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Data and observations are clear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Decisions are explained with evidence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Another person can understand the work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0.5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23</a:t>
            </a:r>
            <a:endParaRPr lang="en-US" sz="67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Documentation Matters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aerospace and manufacturing examples to make documentation feel real.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Engineering purpose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Student action today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Trace decisions over 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Repeat tests consistently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Inspect parts and assemblies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Communicate changes clearly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Prevent avoidable mistakes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Review the 0.4 worksheet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Improve unclear responses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Check that data are recorded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Add labels where needed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Place the improved worksheet in the notebook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0.5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24</a:t>
            </a:r>
            <a:endParaRPr lang="en-US" sz="67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0.5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Documentation Standard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this standard repeatedly throughout the course.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STRONG DOCUMENTATION IS…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Clear: another person can understand what happened.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Dated: work is traceable over time.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Labeled: sketches, tables, and photos have meaning.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Evidence-based: claims connect to data, observations, or testing.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Detailed enough to support a design review.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0.5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25</a:t>
            </a:r>
            <a:endParaRPr lang="en-US" sz="6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Problem Definition, Criteria &amp; 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engineers define the problem before designing a solution?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Problem statements vs. solution ideas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Criteria as goals and constraints as limits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Using clear definitions to guide design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Definition, Criteria &amp; Constraints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do engineers define a problem clearly before designing a solution?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engineers define a problem clearly before designing a solution?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Separate the problem from the solution.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Write a clear problem statement.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Identify criteria and constraints for a design challenge.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0.6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Definition, Criteria &amp; Constraints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0.6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26</a:t>
            </a:r>
            <a:endParaRPr lang="en-US" sz="6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vs. Solution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Before you design, they must know what problem they are solving.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0" y="1417320"/>
            <a:ext cx="5120640" cy="425196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6868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Solution too early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29400" y="171907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7B20"/>
                </a:solidFill>
              </a:rPr>
              <a:t>Problem definition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“We are going to build a rocket stand.”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Names the product before the need is defined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Can lock the team into one idea too soon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Makes it harder to compare alternatives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29400" y="2194560"/>
            <a:ext cx="46177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“You need a way to support the rocket safely during setup.”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Explains the user, need, and reason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Leaves room for multiple possible solutions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11827"/>
                </a:solidFill>
              </a:rPr>
              <a:t>• Guides criteria and constraints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0.6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27</a:t>
            </a:r>
            <a:endParaRPr lang="en-US" sz="67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Criteria vs. Constraints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will use these words all year.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18288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Term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423160" y="1325880"/>
            <a:ext cx="36576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496312" y="143560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Meaning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080760" y="1325880"/>
            <a:ext cx="54864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53912" y="1435608"/>
            <a:ext cx="5340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Launch pad example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594360" y="1837944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191109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Criteria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2423160" y="18379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496312" y="191109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Goals the design should meet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080760" y="1837944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153912" y="1911096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Supports the rocket securely; stands on its own; includes realistic launch pad features.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350008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42316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Constraints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423160" y="235000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496312" y="242316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Limits the design must follow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080760" y="2350008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153912" y="2423160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Approved classroom materials only; must fit the provided rocket; no custom 3D printed parts.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94360" y="2862072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67512" y="293522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Success criteria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2423160" y="28620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496312" y="293522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How the team knows the design worked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080760" y="2862072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153912" y="2935224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Rocket fit is secure; prototype does not tip; support does not collapse.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94360" y="3374136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67512" y="344728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Evidence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2423160" y="3374136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496312" y="344728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Proof used to justify decisions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6080760" y="3374136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153912" y="3447288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Sketches, test results, photos, observations, and final explanation.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0.6</a:t>
            </a:r>
          </a:p>
        </p:txBody>
      </p:sp>
      <p:sp>
        <p:nvSpPr>
          <p:cNvPr id="40" name="Text 37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28</a:t>
            </a:r>
            <a:endParaRPr lang="en-US" sz="67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0.6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Before Designing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lesson prepares you for the launch pad challenge.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Problem definition practice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Read the scenario carefully.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Identify the user or need.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Write the problem in one or two clear sentences.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List criteria the design should meet.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List constraints that limit the design.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Check that no final solution is chosen too early.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Problem Definition, Criteria, and Constraints worksheet.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0.6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29</a:t>
            </a:r>
            <a:endParaRPr lang="en-US" sz="67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Rocket Launch Pad Design Challenge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can a launch pad design support a rocket safely and effectively?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Challenge brief and project expectations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Individual ideas before team concept development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Criteria, constraints, and research-informed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Rocket Launch Pad Design Challenge Launch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a team turn research and individual ideas into one launch pad concept?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team turn research and individual ideas into one launch pad concept?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Understand the full Rocket Launch Pad Design Challenge brief.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Identify the problem, criteria, and constraints before brainstorming.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Brainstorm individually before combining ideas into one team concept.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Rocket Launch Pad Design Challenge Launch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0.7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30</a:t>
            </a:r>
            <a:endParaRPr lang="en-US" sz="67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Rocket Launch Pad Design Challenge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begin the first complete design challenge.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7B20"/>
                </a:solidFill>
              </a:rPr>
              <a:t>CHALLENGE BRIEF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Design and build a launch pad that fits and supports the provided 3D printed rocket.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The launch pad must stand on its own.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The design should include research-informed launch pad features.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Use only approved classroom materials.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Justify the design through sketches, documentation, testing, and presentation.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0.7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31</a:t>
            </a:r>
            <a:endParaRPr lang="en-US" sz="67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Individual Ideas to Team Concept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Do not let teams simply choose one student’s idea.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060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636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858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03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356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Define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Start by identifying the problem, criteria, and constraints for the challenge.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079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0932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Brainstorm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Each student creates one individual launch pad idea or concept sketch first.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010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655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508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Combine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Teams share ideas and combine useful features into one team concept.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0.7</a:t>
            </a:r>
          </a:p>
        </p:txBody>
      </p:sp>
      <p:sp>
        <p:nvSpPr>
          <p:cNvPr id="24" name="Text 21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32</a:t>
            </a:r>
            <a:endParaRPr lang="en-US" sz="67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Criteria and Constraints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Keep these visible as you design.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201168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Category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606040" y="1325880"/>
            <a:ext cx="896112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79192" y="1435608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Requirement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94360" y="1837944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" y="19110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Fit and support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2606040" y="1837944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679192" y="1911096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Must fit/support the provided 3D printed rocket.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94360" y="2350008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67512" y="24231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Stability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2606040" y="2350008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679192" y="2423160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Must stand on its own without tipping or collapsing.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86207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935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Research-informed features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606040" y="2862072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679192" y="2935224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Should include realistic launch pad features from research or examples.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94360" y="3374136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67512" y="344728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Materials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2606040" y="3374136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679192" y="3447288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Must use approved classroom materials. No custom 3D printed parts for this challenge.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594360" y="3886200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67512" y="395935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Documentation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2606040" y="3886200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679192" y="3959352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Must be justified through sketches, notes, testing, and presentation.</a:t>
            </a:r>
            <a:endParaRPr lang="en-US" sz="960" dirty="0"/>
          </a:p>
        </p:txBody>
      </p:sp>
      <p:sp>
        <p:nvSpPr>
          <p:cNvPr id="33" name="Text 30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0.7</a:t>
            </a:r>
          </a:p>
        </p:txBody>
      </p:sp>
      <p:sp>
        <p:nvSpPr>
          <p:cNvPr id="34" name="Text 31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33</a:t>
            </a:r>
            <a:endParaRPr lang="en-US" sz="67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0.7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Team Concept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move from individual sketches to one shared concept.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Team concept workflow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Review problem, criteria, and constraints.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Create one individual concept sketch.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Share sketches within the team.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Identify useful features from multiple ideas.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Combine features into one labeled team concept sketch.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Explain how the concept meets criteria and constraints.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Notebook entry: Rocket Launch Pad Team Concept.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0.7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34</a:t>
            </a:r>
            <a:endParaRPr lang="en-US" sz="67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0A2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73152"/>
            <a:ext cx="594360" cy="1774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100584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LOCKWOODSTEM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229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7A940"/>
                </a:solidFill>
              </a:defRPr>
            </a:pPr>
            <a:r>
              <a:t>Lesson 0.7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204C"/>
                </a:solidFill>
              </a:defRPr>
            </a:pPr>
            <a:r>
              <a:t>Launch Pad Inspiration Video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663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12B36"/>
                </a:solidFill>
              </a:defRPr>
            </a:pPr>
            <a:r>
              <a:t>Use this optional resource if you want a quick visual explanation of the lesson ideas.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40280"/>
            <a:ext cx="4572000" cy="3794760"/>
          </a:xfrm>
          <a:prstGeom prst="roundRect">
            <a:avLst/>
          </a:prstGeom>
          <a:solidFill>
            <a:srgbClr val="ECF2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931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A204C"/>
                </a:solidFill>
              </a:defRPr>
            </a:pPr>
            <a:r>
              <a:t>What to watch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12B36"/>
                </a:solidFill>
              </a:defRPr>
            </a:pPr>
            <a:r>
              <a:t>An Exclusive Look at Pad 39B: Tour of Artemis Launch Site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features real launch pads need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how a launch pad supports, protects, and organizes a rocket</a:t>
            </a:r>
          </a:p>
          <a:p>
            <a:pPr>
              <a:spcBef>
                <a:spcPts val="200"/>
              </a:spcBef>
              <a:defRPr sz="1500">
                <a:solidFill>
                  <a:srgbClr val="212B36"/>
                </a:solidFill>
              </a:defRPr>
            </a:pPr>
            <a:r>
              <a:t>ideas you can adapt for your launch pad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2240280"/>
            <a:ext cx="2834640" cy="3794760"/>
          </a:xfrm>
          <a:prstGeom prst="roundRect">
            <a:avLst/>
          </a:prstGeom>
          <a:solidFill>
            <a:srgbClr val="F8F8F8"/>
          </a:solidFill>
          <a:ln>
            <a:solidFill>
              <a:srgbClr val="0A20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46888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A204C"/>
                </a:solidFill>
              </a:defRPr>
            </a:pPr>
            <a:r>
              <a:t>Scan or open</a:t>
            </a:r>
          </a:p>
        </p:txBody>
      </p:sp>
      <p:pic>
        <p:nvPicPr>
          <p:cNvPr id="13" name="Picture 12" descr="fqKbSEO_Ax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8920"/>
            <a:ext cx="1234440" cy="1234440"/>
          </a:xfrm>
          <a:prstGeom prst="rect">
            <a:avLst/>
          </a:prstGeom>
        </p:spPr>
      </p:pic>
      <p:sp>
        <p:nvSpPr>
          <p:cNvPr id="14" name="Rounded Rectangle 13">
            <a:hlinkClick r:id="rId4"/>
          </p:cNvPr>
          <p:cNvSpPr/>
          <p:nvPr/>
        </p:nvSpPr>
        <p:spPr>
          <a:xfrm>
            <a:off x="5897880" y="4297680"/>
            <a:ext cx="2011680" cy="5029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Open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9377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212B36"/>
                </a:solidFill>
              </a:defRPr>
            </a:pPr>
            <a:r>
              <a:t>If the QR code does not scan, use the link below:</a:t>
            </a:r>
          </a:p>
          <a:p>
            <a:pPr algn="ctr">
              <a:defRPr sz="900">
                <a:solidFill>
                  <a:srgbClr val="375A8C"/>
                </a:solidFill>
              </a:defRPr>
            </a:pPr>
            <a:r>
              <a:t>https://www.youtube.com/watch?v=fqKbSEO_Axg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722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A5A"/>
                </a:solidFill>
              </a:defRPr>
            </a:pPr>
            <a:r>
              <a:t>This resource is optional and is provided to help reinforce the lesson with a visual example.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Launch Pad Build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does planning make a prototype easier to build and test?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Materials and construction planning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Build sequence and team responsibilities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Sketches and notes that make the plan build-ready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Build Plan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a team turn a concept sketch into a build-ready plan?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team turn a concept sketch into a build-ready plan?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Refine the team launch pad concept into a build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Add labels, approximate dimensions, materials, and construction steps.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Prepare for a build-readiness check before building.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0.8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Build Plan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0.8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35</a:t>
            </a:r>
            <a:endParaRPr lang="en-US" sz="67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 Requirements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good plan reduces improvisation during construction.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Plan must include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Readiness check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Refined team sketch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Labeled major parts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Approximate dimensions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Materials 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Step-by-step construction plan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Build is realistic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Materials are approved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Rocket fit is considered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Base and support are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Potential weakness is identified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0.8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36</a:t>
            </a:r>
            <a:endParaRPr lang="en-US" sz="67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Approved Materials Planning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should design with classroom materials in mind.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201168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Material family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606040" y="1325880"/>
            <a:ext cx="896112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679192" y="1435608"/>
            <a:ext cx="8814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Possible use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594360" y="1837944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67512" y="191109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Cardboard / paperboard</a:t>
            </a:r>
            <a:endParaRPr lang="en-US" sz="960" dirty="0"/>
          </a:p>
        </p:txBody>
      </p:sp>
      <p:sp>
        <p:nvSpPr>
          <p:cNvPr id="15" name="Shape 12"/>
          <p:cNvSpPr/>
          <p:nvPr/>
        </p:nvSpPr>
        <p:spPr>
          <a:xfrm>
            <a:off x="2606040" y="1837944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679192" y="1911096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Base, walls, guides, bracing, support surfaces.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594360" y="2350008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67512" y="2423160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Popsicle sticks / craft sticks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2606040" y="2350008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2679192" y="2423160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Frames, reinforcement, angled supports.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86207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935224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Straws / tubes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606040" y="2862072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679192" y="2935224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Guides, lightweight supports, alignment features.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594360" y="3374136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67512" y="3447288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String / rubber bands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2606040" y="3374136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2679192" y="3447288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Tension, temporary holding, simple support features when approved.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594360" y="3886200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67512" y="3959352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Tape / glue / hot glue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2606040" y="3886200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679192" y="3959352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Connections only when approved and used safely.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94360" y="4398264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67512" y="4471416"/>
            <a:ext cx="1865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Provided 3D printed rocket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2606040" y="4398264"/>
            <a:ext cx="8961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679192" y="4471416"/>
            <a:ext cx="8814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Used for fit and support checks, not modified.</a:t>
            </a:r>
            <a:endParaRPr lang="en-US" sz="960" dirty="0"/>
          </a:p>
        </p:txBody>
      </p:sp>
      <p:sp>
        <p:nvSpPr>
          <p:cNvPr id="37" name="Text 34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0.8</a:t>
            </a:r>
          </a:p>
        </p:txBody>
      </p:sp>
      <p:sp>
        <p:nvSpPr>
          <p:cNvPr id="38" name="Text 35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37</a:t>
            </a:r>
            <a:endParaRPr lang="en-US" sz="67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0.8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Build-Ready Plan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plan should let another person understand how to build the prototype.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Plan refinement steps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Review the team concept from Lesson 0.7.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Improve weak or unclear areas.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Add labels and approximate dimensions.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Create a materials list.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Write construction steps in order.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Complete a design check before construction begins.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Notebook entry: Launch Pad Build Plan.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0.8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38</a:t>
            </a:r>
            <a:endParaRPr lang="en-US" sz="67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Launch Pad Prototype Build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teams turn a design plan into a physical prototype?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Safe, organized prototype construction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Fit, stability, and build quality checks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Progress documentation and evidence collection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Prototype Build Day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a team safely build a first prototype from an approved build plan?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team safely build a first prototype from an approved build plan?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Build a first prototype from the approved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Check rocket fit and stability during construction.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Document changes, problems, and solutions as they happen.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0.9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Prototype Build Day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0.9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39</a:t>
            </a:r>
            <a:endParaRPr lang="en-US" sz="67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Priorities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Build function before decoration.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060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636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858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03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356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Base first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The launch pad must stand on its own before extra features are added.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079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0932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Support next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The provided rocket must sit securely without collapsing, sliding, or tipping.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010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655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508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Features last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Add research-informed details after the main structure is stable.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0.9</a:t>
            </a:r>
          </a:p>
        </p:txBody>
      </p:sp>
      <p:sp>
        <p:nvSpPr>
          <p:cNvPr id="24" name="Text 21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40</a:t>
            </a:r>
            <a:endParaRPr lang="en-US" sz="67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Day Expectations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Build carefully and document changes.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DURING CONSTRUCTION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Gather only approved materials needed for the plan.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Compare the physical prototype to the build plan.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Pause for mid-build fit and stability checks.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Do not force parts or ignore unsafe conditions.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Document any change from the original plan and explain why it happened.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0.9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41</a:t>
            </a:r>
            <a:endParaRPr lang="en-US" sz="67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0.9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Build Progress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first prototype does not need to be perfect; it needs to be documented.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Build evidence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Photo or sketch of prototype in progress.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Materials used.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Changes made during construction.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One problem encountered.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How the team solved or plans to solve that problem.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Notebook entry: Prototype Build Progress.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0.9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42</a:t>
            </a:r>
            <a:endParaRPr lang="en-US" sz="67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Launch Pad Testing and Improvement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does testing show what a prototype needs next?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Test criteria and repeated trials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Recording observations, data, and failure points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Evidence-based improvements and revision 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0.10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Testing and Improvement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testing evidence help a team improve a prototype?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testing evidence help a team improve a prototype?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Test the prototype against challenge criteria.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Record observations and identify strengths and weaknesses.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Make at least one evidence-based improvement.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0.10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Testing and Improvement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0.10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43</a:t>
            </a:r>
            <a:endParaRPr lang="en-US" sz="67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Test Criteria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test should match the design requirements.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94360" y="1325880"/>
            <a:ext cx="18288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67512" y="143560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Test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2423160" y="1325880"/>
            <a:ext cx="36576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496312" y="1435608"/>
            <a:ext cx="3511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Question to answer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6080760" y="1325880"/>
            <a:ext cx="5486400" cy="512064"/>
          </a:xfrm>
          <a:prstGeom prst="rect">
            <a:avLst/>
          </a:prstGeom>
          <a:solidFill>
            <a:srgbClr val="D9E6F2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153912" y="1435608"/>
            <a:ext cx="5340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B1F3A"/>
                </a:solidFill>
              </a:rPr>
              <a:t>Evidence to record</a:t>
            </a:r>
            <a:endParaRPr lang="en-US" sz="1030" dirty="0"/>
          </a:p>
        </p:txBody>
      </p:sp>
      <p:sp>
        <p:nvSpPr>
          <p:cNvPr id="15" name="Shape 12"/>
          <p:cNvSpPr/>
          <p:nvPr/>
        </p:nvSpPr>
        <p:spPr>
          <a:xfrm>
            <a:off x="594360" y="1837944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67512" y="191109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Stability test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2423160" y="1837944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2496312" y="1911096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Does the launch pad stand without tipping?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6080760" y="1837944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153912" y="1911096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Pass/fail, photo, notes about wobble or tipping.</a:t>
            </a:r>
            <a:endParaRPr lang="en-US" sz="960" dirty="0"/>
          </a:p>
        </p:txBody>
      </p:sp>
      <p:sp>
        <p:nvSpPr>
          <p:cNvPr id="21" name="Shape 18"/>
          <p:cNvSpPr/>
          <p:nvPr/>
        </p:nvSpPr>
        <p:spPr>
          <a:xfrm>
            <a:off x="594360" y="2350008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667512" y="242316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Rocket fit test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2423160" y="2350008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2496312" y="242316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Does the provided rocket sit securely?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080760" y="2350008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153912" y="2423160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Fit observations, support contact, slipping or movement.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594360" y="2862072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67512" y="2935224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Support test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2423160" y="2862072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496312" y="293522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Does the pad hold the rocket without bending/collapsing?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080760" y="2862072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153912" y="2935224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Observations of weak joints, bending, sliding.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594360" y="3374136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667512" y="344728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Design feature check</a:t>
            </a:r>
            <a:endParaRPr lang="en-US" sz="960" dirty="0"/>
          </a:p>
        </p:txBody>
      </p:sp>
      <p:sp>
        <p:nvSpPr>
          <p:cNvPr id="35" name="Shape 32"/>
          <p:cNvSpPr/>
          <p:nvPr/>
        </p:nvSpPr>
        <p:spPr>
          <a:xfrm>
            <a:off x="2423160" y="3374136"/>
            <a:ext cx="3657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496312" y="344728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Can the team identify realistic launch pad features?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6080760" y="3374136"/>
            <a:ext cx="54864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6153912" y="3447288"/>
            <a:ext cx="5340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11827"/>
                </a:solidFill>
              </a:rPr>
              <a:t>Labeled features and explanation.</a:t>
            </a:r>
            <a:endParaRPr lang="en-US" sz="960" dirty="0"/>
          </a:p>
        </p:txBody>
      </p:sp>
      <p:sp>
        <p:nvSpPr>
          <p:cNvPr id="39" name="Text 36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0.10</a:t>
            </a:r>
          </a:p>
        </p:txBody>
      </p:sp>
      <p:sp>
        <p:nvSpPr>
          <p:cNvPr id="40" name="Text 37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44</a:t>
            </a:r>
            <a:endParaRPr lang="en-US" sz="67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Test, Record, Revise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launch pad improves when the team uses evidence.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6060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63640" y="2788920"/>
            <a:ext cx="1234440" cy="0"/>
          </a:xfrm>
          <a:prstGeom prst="line">
            <a:avLst/>
          </a:prstGeom>
          <a:noFill/>
          <a:ln w="25400">
            <a:solidFill>
              <a:srgbClr val="C8A24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858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03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356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Test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Run the criteria checks and record what actually happens.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434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5079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2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0932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Record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Identify strengths, weaknesses, and specific failure points.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001000" y="1508760"/>
            <a:ext cx="29718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165592" y="16916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7B20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50808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</a:rPr>
              <a:t>Revise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29600" y="2286000"/>
            <a:ext cx="25146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Improve the prototype using approved materials and explain what changed.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0.10</a:t>
            </a:r>
          </a:p>
        </p:txBody>
      </p:sp>
      <p:sp>
        <p:nvSpPr>
          <p:cNvPr id="24" name="Text 21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45</a:t>
            </a:r>
            <a:endParaRPr lang="en-US" sz="67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Evidence-Based Improvements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You should connect changes to test results.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IMPROVEMENT OPTIONS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Widen the base to improve stability.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Reinforce weak joints or support columns.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Adjust rocket support spacing or angle.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Add bracing to reduce bending or twisting.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Improve alignment so the rocket sits more securely.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Remove unnecessary parts that add weight or instability.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0.10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46</a:t>
            </a:r>
            <a:endParaRPr lang="en-US" sz="67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0.10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Testing and Improvement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Finish with a tested and improved prototype.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Documentation steps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Record test results.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Note what worked well.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Note what did not work well.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Make at least one design improvement.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Add a sketch or photo of the improved prototype.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Explain how the improvement made the launch pad better.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Notebook entry: Prototype Testing and Improvement.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0.10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47</a:t>
            </a:r>
            <a:endParaRPr lang="en-US" sz="67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Final Documentation &amp; Design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 engineers communicate and defend a final design?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Final design evidence and prototype documentation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Design review explanation and sentence frames</a:t>
            </a:r>
          </a:p>
          <a:p>
            <a:pPr>
              <a:spcAft>
                <a:spcPts val="600"/>
              </a:spcAft>
              <a:defRPr sz="1700">
                <a:solidFill>
                  <a:srgbClr val="0B2E59"/>
                </a:solidFill>
                <a:latin typeface="Aptos"/>
              </a:defRPr>
            </a:pPr>
            <a:r>
              <a:t>• Using data and documentation to justify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0.11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Final Documentation and Design Review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a team clearly explain and justify a finished prototype?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team clearly explain and justify a finished prototype?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Prepare final documentation for the launch pad prototype.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Explain how the design changed from concept to final version.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Justify how the final prototype meets criteria and constraints.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0.11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Pad Final Documentation and Design Review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0.11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48</a:t>
            </a:r>
            <a:endParaRPr lang="en-US" sz="67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 Evidence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finished prototype must be supported by clear evidence.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Show the process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Use evidence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Problem definition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Initial concept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Build plan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Prototype construction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Testing and improvement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Final design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Sketches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Materials 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Approximate dimensions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Photos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Test results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Design explanation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0.11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49</a:t>
            </a:r>
            <a:endParaRPr lang="en-US" sz="67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Launch Pad Design Review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Organize and communicate your evidence.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ACTIVITY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09344"/>
            <a:ext cx="6812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Review preparation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" y="2331720"/>
            <a:ext cx="6766560" cy="3063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Check that the prototype is finished and stable.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Organize evidence from Lessons 0.7–0.10.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Create or update a final labeled sketch.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Summarize test results.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Explain one major improvement.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Explain how the final design meets criteria and constraints.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001000" y="2423160"/>
            <a:ext cx="3246120" cy="25603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 w="10160">
            <a:solidFill>
              <a:srgbClr val="C8A24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229600" y="269748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7B20"/>
                </a:solidFill>
              </a:rPr>
              <a:t>Evidence you create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29600" y="3063240"/>
            <a:ext cx="2834640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11827"/>
                </a:solidFill>
              </a:rPr>
              <a:t>Notebook entry: Final Launch Pad Design Review.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0.11</a:t>
            </a:r>
          </a:p>
        </p:txBody>
      </p:sp>
      <p:sp>
        <p:nvSpPr>
          <p:cNvPr id="16" name="Text 13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50</a:t>
            </a:r>
            <a:endParaRPr lang="en-US" sz="67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0.11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Review Sentence Frames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 these sentence frames to justify design decisions.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EVIDENCE LANGUAGE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Our launch pad meets the stability criterion because…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The provided rocket is supported by…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Our most important test result was…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After testing, we changed… because…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With more time, the next improvement would be…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0.11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51</a:t>
            </a:r>
            <a:endParaRPr lang="en-US" sz="67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47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78992" cy="322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78040" y="393192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LOCKWOODSTEM AED • UNIT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078992"/>
            <a:ext cx="274320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800" b="1">
                <a:solidFill>
                  <a:srgbClr val="F47B20"/>
                </a:solidFill>
                <a:latin typeface="Aptos Display"/>
              </a:rPr>
              <a:t>Lesson 0.12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54480"/>
            <a:ext cx="7086600" cy="1051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3400" b="1">
                <a:solidFill>
                  <a:srgbClr val="0B2E59"/>
                </a:solidFill>
                <a:latin typeface="Aptos Display"/>
              </a:rPr>
              <a:t>Unit 0 Portfolio Check and Design Reflection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9776"/>
            <a:ext cx="6995160" cy="822960"/>
          </a:xfrm>
          <a:prstGeom prst="rect">
            <a:avLst/>
          </a:prstGeom>
          <a:solidFill>
            <a:srgbClr val="E8F1F8"/>
          </a:solidFill>
          <a:ln w="9525">
            <a:solidFill>
              <a:srgbClr val="B9C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889504"/>
            <a:ext cx="635508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100" b="1">
                <a:solidFill>
                  <a:srgbClr val="5B6770"/>
                </a:solidFill>
                <a:latin typeface="Aptos"/>
              </a:rPr>
              <a:t>FOCUS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36392"/>
            <a:ext cx="635508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700" b="0">
                <a:solidFill>
                  <a:srgbClr val="0B2E59"/>
                </a:solidFill>
                <a:latin typeface="Aptos"/>
              </a:rPr>
              <a:t>How does reflection help engineers prepare for the next design challenge?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931920"/>
            <a:ext cx="393192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Aptos"/>
              </a:rPr>
              <a:t>Today you will learn 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343400"/>
            <a:ext cx="6400800" cy="11430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r>
              <a:t>• Portfolio completeness and evidence check</a:t>
            </a:r>
          </a:p>
          <a:p>
            <a:r>
              <a:t>• Final reflection on the design process</a:t>
            </a:r>
          </a:p>
          <a:p>
            <a:r>
              <a:t>• Connecting Unit 0 habits to future AED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143000"/>
            <a:ext cx="3154680" cy="443484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1490472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Build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057400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Test ideas.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24328"/>
            <a:ext cx="256032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Improve designs.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273552"/>
            <a:ext cx="265176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300" b="1">
                <a:solidFill>
                  <a:srgbClr val="FFD6BE"/>
                </a:solidFill>
                <a:latin typeface="Aptos"/>
              </a:rPr>
              <a:t>Aerospace Design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566160"/>
            <a:ext cx="265176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Problem → Prototype
→ Test → Revise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617720"/>
            <a:ext cx="25603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Unit 0 starts the habits you will use all year in AED.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675120"/>
            <a:ext cx="594360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t>Aerospace Engineering Design • Engineering Foundations &amp; Rocket Launch Pad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675120"/>
            <a:ext cx="868680" cy="137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800" b="1">
                <a:solidFill>
                  <a:srgbClr val="FFFFFF"/>
                </a:solidFill>
                <a:latin typeface="Aptos"/>
              </a:rPr>
              <a:t>0.12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 Portfolio Check and Design Reflection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How can a complete notebook portfolio show your growth through the design process?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417320"/>
            <a:ext cx="58978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can a complete notebook portfolio show your growth through the design process?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12648" y="2542032"/>
            <a:ext cx="5029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8368" y="28163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By the end, you should be able to…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3182112"/>
            <a:ext cx="493776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Organize the complete Unit 0 notebook portfolio.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Verify that launch pad challenge documentation is complete.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Reflect on teamwork, testing, improvement, and design process growth.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858000" y="1417320"/>
            <a:ext cx="4297680" cy="38404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762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7804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7B20"/>
                </a:solidFill>
              </a:rPr>
              <a:t>Lesson 0.12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178040" y="2121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Unit 0 Lesson Focus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780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 Portfolio Check and Design Reflection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740664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Connect today’s activity to the larger engineering process.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0.12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52</a:t>
            </a:r>
            <a:endParaRPr lang="en-US" sz="67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0 Portfolio Checklist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notebook should show the full path from idea to improved prototype.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1325880"/>
            <a:ext cx="10698480" cy="4937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Course resource and notebook routines are understood.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Paper airplane design process worksheet is complete and numbered.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Problem definition / criteria / constraints work is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Launch pad individual concept and team concept are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Launch pad build plan is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Prototype build notes and testing/improvement notes are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Final design review is complete.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□ Individual Unit 0 reflection is complete.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0.12</a:t>
            </a:r>
          </a:p>
        </p:txBody>
      </p:sp>
      <p:sp>
        <p:nvSpPr>
          <p:cNvPr id="11" name="Text 8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53</a:t>
            </a:r>
            <a:endParaRPr lang="en-US" sz="67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Reflection Prompts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Reflection should be specific and evidence-based.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325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You explain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B20"/>
                </a:solidFill>
              </a:rPr>
              <a:t>Strong reflections include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80760" y="1298448"/>
            <a:ext cx="0" cy="4526280"/>
          </a:xfrm>
          <a:prstGeom prst="line">
            <a:avLst/>
          </a:prstGeom>
          <a:noFill/>
          <a:ln w="1270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How the team used the design process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Their strongest contribution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The biggest challenge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Which improvement had the biggest impact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What they would change with more time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55664" y="1783080"/>
            <a:ext cx="5074920" cy="4206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Specific examples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Clear connection to evidence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Honest discussion of problems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Recognition of teamwork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• Understanding of iteration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0.12</a:t>
            </a:r>
          </a:p>
        </p:txBody>
      </p:sp>
      <p:sp>
        <p:nvSpPr>
          <p:cNvPr id="15" name="Text 12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54</a:t>
            </a:r>
            <a:endParaRPr lang="en-US" sz="67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DDE4EF">
                <a:alpha val="8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192024"/>
            <a:ext cx="2423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7B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LOCKWOODSTEM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251960" y="1920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Lesson 0.12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1600200" y="38404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 of Unit 0 Message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600200" y="786384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This is the transition into technical sketching and documentation.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24128"/>
            <a:ext cx="11384280" cy="0"/>
          </a:xfrm>
          <a:prstGeom prst="line">
            <a:avLst/>
          </a:prstGeom>
          <a:noFill/>
          <a:ln w="10160">
            <a:solidFill>
              <a:srgbClr val="DDE4E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234440"/>
            <a:ext cx="3730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47B20"/>
                </a:solidFill>
              </a:rPr>
              <a:t>WHAT TO CARRY FORWARD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85800" y="1691640"/>
            <a:ext cx="10698480" cy="4480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Engineering work starts with a clearly defined problem.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Design ideas must be judged against criteria and constraints.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Testing is a source of evidence, not a pass/fail moment.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Documentation makes design thinking visible.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• A prototype improves when teams revise based on evidence.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Lesson 0.12</a:t>
            </a:r>
          </a:p>
        </p:txBody>
      </p:sp>
      <p:sp>
        <p:nvSpPr>
          <p:cNvPr id="12" name="Text 9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55</a:t>
            </a:r>
            <a:endParaRPr lang="en-US" sz="67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47B20"/>
          </a:solidFill>
          <a:ln w="1270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1480" y="237744"/>
            <a:ext cx="1042416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08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unit0_deck_site/assets/img/lockwoodstem-concept-a1-black-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298749"/>
            <a:ext cx="877824" cy="262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7B20"/>
                </a:solidFill>
              </a:rPr>
              <a:t>LOCKWOODSTEM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77240" y="141732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Unit 0 Close</a:t>
            </a:r>
          </a:p>
        </p:txBody>
      </p:sp>
      <p:sp>
        <p:nvSpPr>
          <p:cNvPr id="8" name="Text 5"/>
          <p:cNvSpPr/>
          <p:nvPr/>
        </p:nvSpPr>
        <p:spPr>
          <a:xfrm>
            <a:off x="804672" y="21488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7E3F2"/>
                </a:solidFill>
              </a:rPr>
              <a:t>The launch pad challenge is the first complete design-process cycle of the course.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1248" y="3794760"/>
            <a:ext cx="2743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41248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Mindset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41248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</a:rPr>
              <a:t>Shift from assignment completion to engineering evidence.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51960" y="3794760"/>
            <a:ext cx="2743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25196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Process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251960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</a:rPr>
              <a:t>Define, brainstorm, build, test, improve, and present.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62672" y="3794760"/>
            <a:ext cx="2743200" cy="0"/>
          </a:xfrm>
          <a:prstGeom prst="line">
            <a:avLst/>
          </a:prstGeom>
          <a:noFill/>
          <a:ln w="27940">
            <a:solidFill>
              <a:srgbClr val="F47B2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62672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Bridge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662672" y="4343400"/>
            <a:ext cx="30175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3F2"/>
                </a:solidFill>
              </a:rPr>
              <a:t>Unit 1 begins technical sketching and engineering documentation.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LockwoodSTEM  |  Aerospace Engineering Design  |  Unit 0</a:t>
            </a:r>
          </a:p>
        </p:txBody>
      </p:sp>
      <p:sp>
        <p:nvSpPr>
          <p:cNvPr id="19" name="Text 16"/>
          <p:cNvSpPr/>
          <p:nvPr/>
        </p:nvSpPr>
        <p:spPr>
          <a:xfrm>
            <a:off x="11292840" y="6565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0" dirty="0">
                <a:solidFill>
                  <a:srgbClr val="64748B"/>
                </a:solidFill>
              </a:rPr>
              <a:t>56</a:t>
            </a: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LockwoodSTEM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IED Unit 0: Engineering Foundations &amp; Rocket Launch Pad Challenge</dc:title>
  <dc:subject>Introduction to Engineering Design Unit 0 Instructor Deck</dc:subject>
  <dc:creator>LockwoodSTEM</dc:creator>
  <cp:lastModifiedBy>LockwoodSTEM</cp:lastModifiedBy>
  <cp:revision>1</cp:revision>
  <dcterms:created xsi:type="dcterms:W3CDTF">2026-06-29T16:35:15Z</dcterms:created>
  <dcterms:modified xsi:type="dcterms:W3CDTF">2026-06-29T16:35:15Z</dcterms:modified>
</cp:coreProperties>
</file>