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E6A6"/>
    <a:srgbClr val="0F3156"/>
    <a:srgbClr val="4DD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197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02920"/>
            <a:ext cx="2194560" cy="6583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" y="1417320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FFC857">
              <a:alpha val="90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786384" y="1499616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0 • LESSON 0.2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2130552"/>
            <a:ext cx="6400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Notebook Setup &amp;
Course Resources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749808" y="3456432"/>
            <a:ext cx="6263640" cy="914400"/>
          </a:xfrm>
          <a:prstGeom prst="roundRect">
            <a:avLst>
              <a:gd name="adj" fmla="val 5000"/>
            </a:avLst>
          </a:prstGeom>
          <a:solidFill>
            <a:srgbClr val="113C65"/>
          </a:solidFill>
          <a:ln w="13970">
            <a:solidFill>
              <a:srgbClr val="4DDCFF">
                <a:alpha val="9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987552" y="36576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87552" y="3904488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will you organize evidence so your engineering work can be understood later?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26680" y="1417320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4DD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973568" y="156362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CFF"/>
                </a:solidFill>
              </a:rPr>
              <a:t>DEFINE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710928" y="157276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the problem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26680" y="2715768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2EE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973568" y="286207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E6A6"/>
                </a:solidFill>
              </a:rPr>
              <a:t>TEST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710928" y="287121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the idea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26680" y="4014216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FFC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973568" y="416052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</a:rPr>
              <a:t>DECIDE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710928" y="41696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with evidence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58795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to Engineering Design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set up the organization system you will use all year.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572768"/>
            <a:ext cx="4892040" cy="4343400"/>
          </a:xfrm>
          <a:prstGeom prst="roundRect">
            <a:avLst>
              <a:gd name="adj" fmla="val 1684"/>
            </a:avLst>
          </a:prstGeom>
          <a:solidFill>
            <a:srgbClr val="0F3156"/>
          </a:solidFill>
          <a:ln w="15240">
            <a:solidFill>
              <a:srgbClr val="244D76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960120" y="18470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Learning targets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87552" y="23591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280160" y="23682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up the binder-based engineering notebook system.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87552" y="28163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280160" y="28254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chronological organization and table of contents routines.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87552" y="32735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280160" y="32826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Locate key course resources, templates, and submissions.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960120" y="3977640"/>
            <a:ext cx="4160520" cy="0"/>
          </a:xfrm>
          <a:prstGeom prst="line">
            <a:avLst/>
          </a:prstGeom>
          <a:noFill/>
          <a:ln w="12700">
            <a:solidFill>
              <a:srgbClr val="3A6F9D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96012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DDCFF"/>
                </a:solidFill>
              </a:rPr>
              <a:t>Success looks like…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60120" y="45902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</a:rPr>
              <a:t>You can find, label, store, and submit engineering evidence without guessing.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989320" y="1572768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6309360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B"/>
                </a:solidFill>
              </a:rPr>
              <a:t>Agenda + pacing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291072" y="2304288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345936" y="238658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5 min</a:t>
            </a:r>
            <a:endParaRPr lang="en-US" sz="690" dirty="0"/>
          </a:p>
        </p:txBody>
      </p:sp>
      <p:sp>
        <p:nvSpPr>
          <p:cNvPr id="22" name="Text 19"/>
          <p:cNvSpPr/>
          <p:nvPr/>
        </p:nvSpPr>
        <p:spPr>
          <a:xfrm>
            <a:off x="7242048" y="235000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Opening prompt: Why document engineering work?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6291072" y="2743200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6345936" y="282549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6 min</a:t>
            </a:r>
            <a:endParaRPr lang="en-US" sz="690" dirty="0"/>
          </a:p>
        </p:txBody>
      </p:sp>
      <p:sp>
        <p:nvSpPr>
          <p:cNvPr id="25" name="Text 22"/>
          <p:cNvSpPr/>
          <p:nvPr/>
        </p:nvSpPr>
        <p:spPr>
          <a:xfrm>
            <a:off x="7242048" y="278892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Notebook habits quick vote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6291072" y="3182112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6345936" y="3264408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8 min</a:t>
            </a:r>
            <a:endParaRPr lang="en-US" sz="690" dirty="0"/>
          </a:p>
        </p:txBody>
      </p:sp>
      <p:sp>
        <p:nvSpPr>
          <p:cNvPr id="28" name="Text 25"/>
          <p:cNvSpPr/>
          <p:nvPr/>
        </p:nvSpPr>
        <p:spPr>
          <a:xfrm>
            <a:off x="7242048" y="3227832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Binder setup + table of contents</a:t>
            </a:r>
            <a:endParaRPr lang="en-US" sz="1220" dirty="0"/>
          </a:p>
        </p:txBody>
      </p:sp>
      <p:sp>
        <p:nvSpPr>
          <p:cNvPr id="29" name="Shape 26"/>
          <p:cNvSpPr/>
          <p:nvPr/>
        </p:nvSpPr>
        <p:spPr>
          <a:xfrm>
            <a:off x="6291072" y="3621024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6345936" y="3703320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8 min</a:t>
            </a:r>
            <a:endParaRPr lang="en-US" sz="690" dirty="0"/>
          </a:p>
        </p:txBody>
      </p:sp>
      <p:sp>
        <p:nvSpPr>
          <p:cNvPr id="31" name="Text 28"/>
          <p:cNvSpPr/>
          <p:nvPr/>
        </p:nvSpPr>
        <p:spPr>
          <a:xfrm>
            <a:off x="7242048" y="3666744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Course resource walkthrough</a:t>
            </a:r>
            <a:endParaRPr lang="en-US" sz="1220" dirty="0"/>
          </a:p>
        </p:txBody>
      </p:sp>
      <p:sp>
        <p:nvSpPr>
          <p:cNvPr id="32" name="Shape 29"/>
          <p:cNvSpPr/>
          <p:nvPr/>
        </p:nvSpPr>
        <p:spPr>
          <a:xfrm>
            <a:off x="6291072" y="4059936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345936" y="414223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8 min</a:t>
            </a:r>
            <a:endParaRPr lang="en-US" sz="690" dirty="0"/>
          </a:p>
        </p:txBody>
      </p:sp>
      <p:sp>
        <p:nvSpPr>
          <p:cNvPr id="34" name="Text 31"/>
          <p:cNvSpPr/>
          <p:nvPr/>
        </p:nvSpPr>
        <p:spPr>
          <a:xfrm>
            <a:off x="7242048" y="41056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File naming and access check</a:t>
            </a:r>
            <a:endParaRPr lang="en-US" sz="1220" dirty="0"/>
          </a:p>
        </p:txBody>
      </p:sp>
      <p:sp>
        <p:nvSpPr>
          <p:cNvPr id="35" name="Shape 32"/>
          <p:cNvSpPr/>
          <p:nvPr/>
        </p:nvSpPr>
        <p:spPr>
          <a:xfrm>
            <a:off x="6291072" y="4498848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6345936" y="458114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6 min</a:t>
            </a:r>
            <a:endParaRPr lang="en-US" sz="690" dirty="0"/>
          </a:p>
        </p:txBody>
      </p:sp>
      <p:sp>
        <p:nvSpPr>
          <p:cNvPr id="37" name="Text 34"/>
          <p:cNvSpPr/>
          <p:nvPr/>
        </p:nvSpPr>
        <p:spPr>
          <a:xfrm>
            <a:off x="7242048" y="454456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Organization scenario check</a:t>
            </a:r>
            <a:endParaRPr lang="en-US" sz="1220" dirty="0"/>
          </a:p>
        </p:txBody>
      </p:sp>
      <p:sp>
        <p:nvSpPr>
          <p:cNvPr id="38" name="Shape 35"/>
          <p:cNvSpPr/>
          <p:nvPr/>
        </p:nvSpPr>
        <p:spPr>
          <a:xfrm>
            <a:off x="6291072" y="4937760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6345936" y="502005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4 min</a:t>
            </a:r>
            <a:endParaRPr lang="en-US" sz="690" dirty="0"/>
          </a:p>
        </p:txBody>
      </p:sp>
      <p:sp>
        <p:nvSpPr>
          <p:cNvPr id="40" name="Text 37"/>
          <p:cNvSpPr/>
          <p:nvPr/>
        </p:nvSpPr>
        <p:spPr>
          <a:xfrm>
            <a:off x="7242048" y="498348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Exit debrief</a:t>
            </a:r>
            <a:endParaRPr lang="en-US" sz="1220" dirty="0"/>
          </a:p>
        </p:txBody>
      </p:sp>
      <p:sp>
        <p:nvSpPr>
          <p:cNvPr id="41" name="Shape 3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document engineering work?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as a quick class discussion while attendance is taken.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813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Think first. Why would an engineer need organized notes, sketches, files, and test data?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60120" y="2240280"/>
            <a:ext cx="10241280" cy="2057400"/>
          </a:xfrm>
          <a:prstGeom prst="roundRect">
            <a:avLst>
              <a:gd name="adj" fmla="val 3556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325880" y="2578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DDCFF"/>
                </a:solidFill>
              </a:rPr>
              <a:t>Quick class share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325880" y="3063240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AF6FF"/>
                </a:solidFill>
              </a:rPr>
              <a:t>Raise your hand and share one reason documentation matters in engineering.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417320" y="3675888"/>
            <a:ext cx="8869680" cy="320040"/>
          </a:xfrm>
          <a:prstGeom prst="roundRect">
            <a:avLst>
              <a:gd name="adj" fmla="val 11429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960120" y="528523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DCFF"/>
                </a:solidFill>
              </a:rPr>
              <a:t>We will reveal a working definition of engineering documentation on the next slide.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Documentation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definition for the year.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Engineering documentation is an organized record of decisions, evidence, changes, and results.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77240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005840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DCFF"/>
                </a:solidFill>
              </a:rPr>
              <a:t>Trace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33272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Show when and why design decisions were made.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93592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3822192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E6A6"/>
                </a:solidFill>
              </a:rPr>
              <a:t>Organize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849624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Keep pages, files, and artifacts in a consistent order.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9944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FFC857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638544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857"/>
                </a:solidFill>
              </a:rPr>
              <a:t>Prove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65976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Use sketches, data, photos, and notes to support claims.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226296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FF9E64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9454896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E64"/>
                </a:solidFill>
              </a:rPr>
              <a:t>Share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482328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Make work understandable to teammates, teachers, and reviewers.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" y="534924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857"/>
                </a:solidFill>
              </a:rPr>
              <a:t>Today's mission: build the notebook and resource habits that protect your engineering evidence.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Notebook Habits: Which One Fits?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Prompt: Which habit best supports professional engineering work?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77240" y="20574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1005840" y="231343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161288" y="244144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645920" y="22402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Adding pages wherever they fit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645920" y="26700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Random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09360" y="20574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6537960" y="231343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693408" y="244144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178040" y="22402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Keeping a chronological record with a table of contents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178040" y="26700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Traceable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77240" y="33832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1005840" y="363931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1161288" y="376732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645920" y="3566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Saving files with names only you understand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645920" y="39959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Confusing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309360" y="33832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6537960" y="363931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6693408" y="376732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178040" y="3566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Waiting until the end to write everything down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178040" y="39959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Risky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914400" y="5257800"/>
            <a:ext cx="10241280" cy="502920"/>
          </a:xfrm>
          <a:prstGeom prst="roundRect">
            <a:avLst>
              <a:gd name="adj" fmla="val 727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1097280" y="542239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C857"/>
                </a:solidFill>
              </a:rPr>
              <a:t>Vote first. Then we will reveal the strongest choice.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Notebook Habits: Best Answer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notebook makes design thinking easy to inspect later.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answer: 2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196596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234440" y="2267712"/>
            <a:ext cx="955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Keeping a chronological record with a table of contents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14400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097280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Why it fits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70432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It preserves the order of work and helps others find evidence.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5112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507992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Why the others miss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81144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The other choices make decisions harder to trace or verify.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35824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918704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Carry-forward idea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91856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In IED, organization is part of the engineering evidence, not extra paperwork.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0.2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SETUP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Notebook + Course Resource System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will use physical and digital systems together.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627632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96012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B"/>
                </a:solidFill>
              </a:rPr>
              <a:t>Notebook system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8755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280160" y="24323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 inch binder with dividers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87552" y="28254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280160" y="2834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Printed table of contents first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87552" y="322783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280160" y="32369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pages after the TOC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87552" y="363016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280160" y="36393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work in chronological order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87552" y="40325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280160" y="40416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evidence for reviews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355080" y="1627632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662940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Digital resource system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65683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949440" y="2432304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Classroom submissions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656832" y="28254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949440" y="283464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lesson pages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656832" y="322783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949440" y="3236976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Downloads and templates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656832" y="363016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6949440" y="3639312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files when directed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656832" y="40325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949440" y="4041648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file naming habits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6108192" y="2011680"/>
            <a:ext cx="0" cy="3566160"/>
          </a:xfrm>
          <a:prstGeom prst="line">
            <a:avLst/>
          </a:prstGeom>
          <a:noFill/>
          <a:ln w="25400">
            <a:solidFill>
              <a:srgbClr val="4DDCFF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9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CHECK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 You Find the Tools?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walkthrough to confirm that you can access the course systems.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600200"/>
            <a:ext cx="3337560" cy="4160520"/>
          </a:xfrm>
          <a:prstGeom prst="roundRect">
            <a:avLst>
              <a:gd name="adj" fmla="val 2192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051560" y="1874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83B"/>
                </a:solidFill>
              </a:rPr>
              <a:t>Check these systems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7899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43230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Classroom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78992" y="280720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281635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78992" y="31912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1600" y="320040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78992" y="35753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71600" y="358444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78992" y="39593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396849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 files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51560" y="46268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83B"/>
                </a:solidFill>
              </a:rPr>
              <a:t>Then answer: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9103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6283B"/>
                </a:solidFill>
              </a:rPr>
              <a:t>What would you do first if you could not find an assignment or template?</a:t>
            </a:r>
            <a:endParaRPr lang="en-US" sz="1260" dirty="0"/>
          </a:p>
        </p:txBody>
      </p:sp>
      <p:sp>
        <p:nvSpPr>
          <p:cNvPr id="21" name="Shape 18"/>
          <p:cNvSpPr/>
          <p:nvPr/>
        </p:nvSpPr>
        <p:spPr>
          <a:xfrm>
            <a:off x="4480560" y="1600200"/>
            <a:ext cx="6903720" cy="4160520"/>
          </a:xfrm>
          <a:prstGeom prst="roundRect">
            <a:avLst>
              <a:gd name="adj" fmla="val 1758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4800600" y="18745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Access habits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828032" y="2395728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4919472" y="2487168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Open</a:t>
            </a:r>
            <a:endParaRPr lang="en-US" sz="760" dirty="0"/>
          </a:p>
        </p:txBody>
      </p:sp>
      <p:sp>
        <p:nvSpPr>
          <p:cNvPr id="25" name="Text 22"/>
          <p:cNvSpPr/>
          <p:nvPr/>
        </p:nvSpPr>
        <p:spPr>
          <a:xfrm>
            <a:off x="6291072" y="245059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Start with the posted lesson or assignment.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828032" y="2926080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2EE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4919472" y="3017520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Check</a:t>
            </a:r>
            <a:endParaRPr lang="en-US" sz="760" dirty="0"/>
          </a:p>
        </p:txBody>
      </p:sp>
      <p:sp>
        <p:nvSpPr>
          <p:cNvPr id="28" name="Text 25"/>
          <p:cNvSpPr/>
          <p:nvPr/>
        </p:nvSpPr>
        <p:spPr>
          <a:xfrm>
            <a:off x="6291072" y="298094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Look for the required resource or download.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828032" y="3456432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4919472" y="3547872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Name</a:t>
            </a:r>
            <a:endParaRPr lang="en-US" sz="760" dirty="0"/>
          </a:p>
        </p:txBody>
      </p:sp>
      <p:sp>
        <p:nvSpPr>
          <p:cNvPr id="31" name="Text 28"/>
          <p:cNvSpPr/>
          <p:nvPr/>
        </p:nvSpPr>
        <p:spPr>
          <a:xfrm>
            <a:off x="6291072" y="351129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Save files using the required format.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828032" y="3986784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2EE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4919472" y="4078224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Submit</a:t>
            </a:r>
            <a:endParaRPr lang="en-US" sz="760" dirty="0"/>
          </a:p>
        </p:txBody>
      </p:sp>
      <p:sp>
        <p:nvSpPr>
          <p:cNvPr id="34" name="Text 31"/>
          <p:cNvSpPr/>
          <p:nvPr/>
        </p:nvSpPr>
        <p:spPr>
          <a:xfrm>
            <a:off x="6291072" y="404164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Upload work where the assignment directs.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828032" y="4517136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4919472" y="4608576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Ask</a:t>
            </a:r>
            <a:endParaRPr lang="en-US" sz="760" dirty="0"/>
          </a:p>
        </p:txBody>
      </p:sp>
      <p:sp>
        <p:nvSpPr>
          <p:cNvPr id="37" name="Text 34"/>
          <p:cNvSpPr/>
          <p:nvPr/>
        </p:nvSpPr>
        <p:spPr>
          <a:xfrm>
            <a:off x="6291072" y="457200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Ask after checking the posted materials.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4800600" y="525780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C857"/>
                </a:solidFill>
              </a:rPr>
              <a:t>Share-out target: one resource location + one reason it matters.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 SHIFT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Loose Work vs. Engineering Notebook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just to keep papers; the goal is to preserve evidence.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60020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F4FAFF"/>
          </a:solidFill>
          <a:ln w="15240">
            <a:solidFill>
              <a:srgbClr val="D1EAF8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005840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83B"/>
                </a:solidFill>
              </a:rPr>
              <a:t>Loose work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05840" y="2304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278"/>
                </a:solidFill>
              </a:rPr>
              <a:t>Hard to inspect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24128" y="27889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16736" y="2798064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Pages can get lost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24128" y="321868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16736" y="3227832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may be unclear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24128" y="36484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16736" y="3657600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Labels are often missing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24128" y="407822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16736" y="4087368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may be hard to find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46520" y="160020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6766560" y="1920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Engineering notebook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766560" y="2304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E6A6"/>
                </a:solidFill>
              </a:rPr>
              <a:t>Evidence record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84848" y="27889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077456" y="2798064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Pages stay in order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784848" y="321868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077456" y="322783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TOC helps locate work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784848" y="36484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077456" y="365760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Labels explain artifacts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784848" y="407822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077456" y="408736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connect to submissions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742432" y="3154680"/>
            <a:ext cx="640080" cy="640080"/>
          </a:xfrm>
          <a:prstGeom prst="chevron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Traceable Engineering Work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work should make sense later, even after the project moves on.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F3156"/>
          </a:solidFill>
          <a:ln w="15240">
            <a:solidFill>
              <a:srgbClr val="FFC857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09728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Record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9728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6FF"/>
                </a:solidFill>
              </a:rPr>
              <a:t>What you created or observed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23360" y="2331720"/>
            <a:ext cx="438912" cy="411480"/>
          </a:xfrm>
          <a:prstGeom prst="chevron">
            <a:avLst/>
          </a:prstGeom>
          <a:solidFill>
            <a:srgbClr val="89DDF8"/>
          </a:solidFill>
          <a:ln w="12700">
            <a:solidFill>
              <a:srgbClr val="89DDF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61772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4FAFF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484632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83B"/>
                </a:solidFill>
              </a:rPr>
              <a:t>Label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84632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05B70"/>
                </a:solidFill>
              </a:rPr>
              <a:t>What the evidence shows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0" y="2331720"/>
            <a:ext cx="438912" cy="411480"/>
          </a:xfrm>
          <a:prstGeom prst="chevron">
            <a:avLst/>
          </a:prstGeom>
          <a:solidFill>
            <a:srgbClr val="89DDF8"/>
          </a:solidFill>
          <a:ln w="12700">
            <a:solidFill>
              <a:srgbClr val="89DDF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836676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859536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Locate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59536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6FF"/>
                </a:solidFill>
              </a:rPr>
              <a:t>Where the work can be found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60120" y="37673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Evidence can include…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96012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109728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Notebook pages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25196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438912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TOC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54380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768096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File names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6012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109728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Templates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25196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438912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Submissions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54380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768096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Teacher feedback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Would Help an Absent Teammate?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situation. Select the two strongest supports.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536192"/>
            <a:ext cx="1065276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097280" y="1810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Claim: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20240" y="179222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283B"/>
                </a:solidFill>
              </a:rPr>
              <a:t>“A teammate missed class and needs to understand what the team completed today.”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8"/>
                </a:solidFill>
              </a:rPr>
              <a:t>Vote for the two strongest supports.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05840" y="2880360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1143000" y="2980944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508760" y="2953512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dated notebook page with labels and notes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005840" y="3355848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143000" y="3456432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B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508760" y="3429000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screenshot named Image1_final_final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05840" y="3831336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1143000" y="3931920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508760" y="3904488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The posted lesson page and assignment directions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005840" y="4306824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1143000" y="4407408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508760" y="4379976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classmate saying, “We did stuff”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005840" y="4782312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1143000" y="4882896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508760" y="4855464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loose paper with no name or date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005840" y="5532120"/>
            <a:ext cx="9966960" cy="384048"/>
          </a:xfrm>
          <a:prstGeom prst="roundRect">
            <a:avLst>
              <a:gd name="adj" fmla="val 714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1170432" y="5660136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C857"/>
                </a:solidFill>
              </a:rPr>
              <a:t>Vote first. Then we will reveal the best evidence pair.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0.2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Would Help an Absent Teammate?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support must be clear, traceable, and findable.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support: A + C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205740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188720" y="233172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E6A6"/>
                </a:solidFill>
              </a:rPr>
              <a:t>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45920" y="2258568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 dated notebook page with labels and notes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366760" y="22768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6FF"/>
                </a:solidFill>
              </a:rPr>
              <a:t>Shows what happened and when it happened.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3227832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188720" y="35021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E6A6"/>
                </a:solidFill>
              </a:rPr>
              <a:t>C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645920" y="3429000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The posted lesson page and assignment directions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366760" y="3447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6FF"/>
                </a:solidFill>
              </a:rPr>
              <a:t>Shows what resource or submission was expected.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4800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C857"/>
                </a:solidFill>
              </a:rPr>
              <a:t>Useful, but not enough alone: screenshots or classmate comments help only when they are clearly named and connected to the task.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Student Do Next?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strongest next step and explain your reasoning.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53619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 student finishes a worksheet but cannot remember whether it belongs before or after the current notebook page.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60120" y="2395728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207008" y="255117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00200" y="2514600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Put it anywhere because it is finished.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60120" y="3108960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1207008" y="3264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B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600200" y="3227832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Leave it loose until the end of the unit.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60120" y="3822192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207008" y="3977640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C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600200" y="3941064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Check the date, update the table of contents, number it correctly, and file it in order.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60120" y="4535424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1207008" y="4690872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600200" y="4654296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Throw it away and ask for another copy later.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60120" y="5422392"/>
            <a:ext cx="10058400" cy="438912"/>
          </a:xfrm>
          <a:prstGeom prst="roundRect">
            <a:avLst>
              <a:gd name="adj" fmla="val 833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1143000" y="5568696"/>
            <a:ext cx="9692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C857"/>
                </a:solidFill>
              </a:rPr>
              <a:t>Vote first. Then we will reveal the strongest next step.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0.2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Student Do Next?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next step protects the evidence record.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answer: C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201168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234440" y="2304288"/>
            <a:ext cx="9555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Check the date, update the table of contents, number it correctly, and file it in order.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14400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097280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Check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70432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Use the date and assignment title.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5112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507992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Update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81144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Add the item to the table of contents.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35824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918704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File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91856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Place it in the correct chronological order.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14400" y="534924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857"/>
                </a:solidFill>
              </a:rPr>
              <a:t>Engineering move: make the work traceable before it gets lost or disconnected from the project.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0.2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Organized or Risky?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choice is strongest and why.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73736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0F3156"/>
          </a:solidFill>
          <a:ln w="15240">
            <a:solidFill>
              <a:srgbClr val="4DD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1234440" y="1938528"/>
            <a:ext cx="420624" cy="420624"/>
          </a:xfrm>
          <a:prstGeom prst="ellipse">
            <a:avLst/>
          </a:prstGeom>
          <a:solidFill>
            <a:srgbClr val="4DDCFF"/>
          </a:solidFill>
          <a:ln w="12700">
            <a:solidFill>
              <a:srgbClr val="6D7F8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321308" y="1979676"/>
            <a:ext cx="283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74520" y="19385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283B"/>
                </a:solidFill>
              </a:rPr>
              <a:t>“My file is called screenshot2.”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03920" y="19933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7F8E"/>
                </a:solidFill>
              </a:rPr>
              <a:t>Vote: organized or risky?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60120" y="297180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1234440" y="3172968"/>
            <a:ext cx="420624" cy="420624"/>
          </a:xfrm>
          <a:prstGeom prst="ellipse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371600" y="328269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74520" y="31729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“My notebook entry is dated, labeled, numbered, and listed in the TOC.”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03920" y="32278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E6A6"/>
                </a:solidFill>
              </a:rPr>
              <a:t>Vote: organized or risky?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60120" y="420624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1234440" y="4407408"/>
            <a:ext cx="420624" cy="420624"/>
          </a:xfrm>
          <a:prstGeom prst="ellipse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1371600" y="451713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874520" y="44074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“I saved the CAD image as LastName_FirstName_U0_NotebookSetup.”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503920" y="44622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E6A6"/>
                </a:solidFill>
              </a:rPr>
              <a:t>Vote: organized or risky?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60120" y="5596128"/>
            <a:ext cx="10012680" cy="457200"/>
          </a:xfrm>
          <a:prstGeom prst="roundRect">
            <a:avLst>
              <a:gd name="adj" fmla="val 8000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1115568" y="5733288"/>
            <a:ext cx="9646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857"/>
                </a:solidFill>
              </a:rPr>
              <a:t>Vote first. Then we will reveal which statements are strongest.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0.2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Organized or Risky?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engineering organization makes evidence easy to find and inspect.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73736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0F3156"/>
          </a:solidFill>
          <a:ln w="15240">
            <a:solidFill>
              <a:srgbClr val="2EE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1234440" y="1920240"/>
            <a:ext cx="402336" cy="40233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6D7F8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371600" y="202996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74520" y="1901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6283B"/>
                </a:solidFill>
              </a:rPr>
              <a:t>Risky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937760" y="1938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05B70"/>
                </a:solidFill>
              </a:rPr>
              <a:t>The name does not explain the file or assignment.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60120" y="292608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1234440" y="3108960"/>
            <a:ext cx="402336" cy="40233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371600" y="321868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74520" y="30906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Organized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937760" y="312724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The page can be found and understood later.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60120" y="411480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1234440" y="4297680"/>
            <a:ext cx="402336" cy="40233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1371600" y="440740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87452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Organized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937760" y="4315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The file name identifies owner, unit, and task.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60120" y="5394960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857"/>
                </a:solidFill>
              </a:rPr>
              <a:t>Takeaway: traceable work is easier to grade, revise, and defend.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0.2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the system before we move into safety orientation.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1691640"/>
            <a:ext cx="10469880" cy="4069080"/>
          </a:xfrm>
          <a:prstGeom prst="roundRect">
            <a:avLst>
              <a:gd name="adj" fmla="val 1798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188720" y="2029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83B"/>
                </a:solidFill>
              </a:rPr>
              <a:t>Respond in your notebook or on the assigned class format: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298448" y="2724912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463040" y="285292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029968" y="2825496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notebook habit that will help you stay organized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1298448" y="3474720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463040" y="3602736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029968" y="3575304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course resource you need to know how to find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298448" y="4224528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463040" y="4352544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029968" y="4325112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question you still have about notebooks, files, or course resources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188720" y="5166360"/>
            <a:ext cx="9052560" cy="347472"/>
          </a:xfrm>
          <a:prstGeom prst="roundRect">
            <a:avLst>
              <a:gd name="adj" fmla="val 10526"/>
            </a:avLst>
          </a:prstGeom>
          <a:solidFill>
            <a:srgbClr val="E4F5FF"/>
          </a:solidFill>
          <a:ln w="12700">
            <a:solidFill>
              <a:srgbClr val="E4F5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1325880" y="5276088"/>
            <a:ext cx="8732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83B"/>
                </a:solidFill>
              </a:rPr>
              <a:t>Next mission: Lesson 0.3 — Safety Acknowledgment, PPE &amp; FabLab Orientation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1581</Words>
  <Application>Microsoft Office PowerPoint</Application>
  <PresentationFormat>Widescreen</PresentationFormat>
  <Paragraphs>317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0.1 Course Launch &amp; Engineering Mindset</dc:title>
  <dc:subject>IED Unit 0 Lesson 0.1</dc:subject>
  <dc:creator>LockwoodSTEM</dc:creator>
  <cp:lastModifiedBy>Jonathan Lockwood</cp:lastModifiedBy>
  <cp:revision>2</cp:revision>
  <dcterms:created xsi:type="dcterms:W3CDTF">2026-07-16T18:24:39Z</dcterms:created>
  <dcterms:modified xsi:type="dcterms:W3CDTF">2026-08-12T23:09:18Z</dcterms:modified>
</cp:coreProperties>
</file>