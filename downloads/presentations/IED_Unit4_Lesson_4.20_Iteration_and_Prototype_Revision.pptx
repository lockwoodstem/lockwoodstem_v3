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463040" cy="502920"/>
          </a:xfrm>
          <a:prstGeom prst="rect">
            <a:avLst/>
          </a:prstGeom>
        </p:spPr>
      </p:pic>
      <p:pic>
        <p:nvPicPr>
          <p:cNvPr id="3" name="Image 1" descr="/mnt/data/site_orig/LockwoodSTEM_V3-main/assets/img/course-icons/ied-course-icon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9646920" y="457200"/>
            <a:ext cx="1417320" cy="1417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25296"/>
            <a:ext cx="5486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IED UNIT 4 • LESSON 4.20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609344"/>
            <a:ext cx="7589520" cy="10789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 and Prototype Revision</a:t>
            </a:r>
            <a:endParaRPr lang="en-US" sz="3100" dirty="0"/>
          </a:p>
        </p:txBody>
      </p:sp>
      <p:sp>
        <p:nvSpPr>
          <p:cNvPr id="6" name="Text 2"/>
          <p:cNvSpPr/>
          <p:nvPr/>
        </p:nvSpPr>
        <p:spPr>
          <a:xfrm>
            <a:off x="658368" y="3063240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QUESTION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58368" y="3364992"/>
            <a:ext cx="77724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decide what to change after testing a prototype?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583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229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729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D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87568" y="4956048"/>
            <a:ext cx="20116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852160" y="4800600"/>
            <a:ext cx="1627632" cy="0"/>
          </a:xfrm>
          <a:prstGeom prst="line">
            <a:avLst/>
          </a:prstGeom>
          <a:noFill/>
          <a:ln w="12700">
            <a:solidFill>
              <a:srgbClr val="2ED3F6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8368" y="6217920"/>
            <a:ext cx="77724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F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Mechanisms, Materials &amp; Electromechanical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45-Minute Flight Plan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1133856"/>
            <a:ext cx="10058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lesson to build the system-thinking habits used throughout Unit 4.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94360" y="1572768"/>
            <a:ext cx="3886200" cy="23317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737360"/>
            <a:ext cx="34655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targets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86968" y="2139696"/>
            <a:ext cx="33832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most important issue shown by testing.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targeted revision instead of random changes.</a:t>
            </a:r>
            <a:endParaRPr lang="en-US" sz="1280" dirty="0"/>
          </a:p>
          <a:p>
            <a:pPr marL="165100" indent="-165100">
              <a:buSzPct val="100000"/>
              <a:buChar char="•"/>
            </a:pPr>
            <a:r>
              <a:rPr lang="en-US" sz="12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or run a retest to check whether the revision helped.</a:t>
            </a:r>
            <a:endParaRPr lang="en-US" sz="1280" dirty="0"/>
          </a:p>
        </p:txBody>
      </p:sp>
      <p:sp>
        <p:nvSpPr>
          <p:cNvPr id="11" name="Shape 8"/>
          <p:cNvSpPr/>
          <p:nvPr/>
        </p:nvSpPr>
        <p:spPr>
          <a:xfrm>
            <a:off x="4709160" y="1572768"/>
            <a:ext cx="3063240" cy="2331720"/>
          </a:xfrm>
          <a:prstGeom prst="roundRect">
            <a:avLst>
              <a:gd name="adj" fmla="val 5882"/>
            </a:avLst>
          </a:prstGeom>
          <a:solidFill>
            <a:srgbClr val="F7FBFF"/>
          </a:solidFill>
          <a:ln w="12700">
            <a:solidFill>
              <a:srgbClr val="C9E6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9472" y="1737360"/>
            <a:ext cx="2642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looks like…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2103120"/>
            <a:ext cx="2606040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choose a prototype revision based on test evidence and explain why the change should improve performance.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001000" y="1572768"/>
            <a:ext cx="3520440" cy="4023360"/>
          </a:xfrm>
          <a:prstGeom prst="roundRect">
            <a:avLst>
              <a:gd name="adj" fmla="val 3896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11312" y="1737360"/>
            <a:ext cx="30998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+ pacing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93608" y="2139696"/>
            <a:ext cx="301752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min Opening prompt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Quick vote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min Unit 4 connection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min Core skill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min Evidence challenge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min Scenario check</a:t>
            </a:r>
            <a:endParaRPr lang="en-US" sz="1120" dirty="0"/>
          </a:p>
          <a:p>
            <a:pPr marL="165100" indent="-165100">
              <a:buSzPct val="100000"/>
              <a:buChar char="•"/>
            </a:pPr>
            <a:r>
              <a:rPr lang="en-US" sz="11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min Exit debrief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713232" y="4709160"/>
            <a:ext cx="66751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your claim about today’s work should connect to evidence someone else can inspect.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PROMPT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engineers decide what to change after testing a prototype?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5166360" cy="1965960"/>
          </a:xfrm>
          <a:prstGeom prst="roundRect">
            <a:avLst>
              <a:gd name="adj" fmla="val 697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2496312"/>
            <a:ext cx="47457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862072"/>
            <a:ext cx="470916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materials, forces, motion, circuit behavior, or data would help answer today’s focus question?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4617720" cy="1965960"/>
          </a:xfrm>
          <a:prstGeom prst="roundRect">
            <a:avLst>
              <a:gd name="adj" fmla="val 697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3952" y="2496312"/>
            <a:ext cx="41970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class share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862072"/>
            <a:ext cx="4160520" cy="1307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one short answer. Try to use a specific engineering action word.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5074920"/>
            <a:ext cx="9144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reveal a working lesson definition on the next slide.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Definition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13232" y="1298448"/>
            <a:ext cx="10716768" cy="1207008"/>
          </a:xfrm>
          <a:prstGeom prst="roundRect">
            <a:avLst>
              <a:gd name="adj" fmla="val 11364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3544" y="1463040"/>
            <a:ext cx="1029614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working definition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41832" y="1828800"/>
            <a:ext cx="10259568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this lesson, engineers prioritize, revise, retest so an aerospace system can be built, tested, revised, and defended with evidence.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6868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3560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most important issue shown by testing.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16052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2744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72744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 targeted revision instead of random changes.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7452360" y="2907792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52360" y="2971800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2889504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Retest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19288" y="3182112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or run a retest to check whether the revision helped.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868680" y="5193792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Carry-forward idea: good systems combine structure, motion, electrical behavior, and data into one clear design story.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VOTE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One Fits?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9509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up fingers 1–4 or vote silently. Then justify your choice.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627632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 Which action best supports iteration and prototype revision?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7724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0584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the first example without checking the system goal</a:t>
            </a:r>
            <a:endParaRPr lang="en-US" sz="1260" dirty="0"/>
          </a:p>
        </p:txBody>
      </p:sp>
      <p:sp>
        <p:nvSpPr>
          <p:cNvPr id="12" name="Shape 9"/>
          <p:cNvSpPr/>
          <p:nvPr/>
        </p:nvSpPr>
        <p:spPr>
          <a:xfrm>
            <a:off x="6172200" y="233172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2512" y="249631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286207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evidence and criteria to make a controlled decision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77724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755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the simplest option because it is fastest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6172200" y="3657600"/>
            <a:ext cx="480060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2512" y="3822192"/>
            <a:ext cx="4379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187952"/>
            <a:ext cx="434340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prototype look finished before testing it</a:t>
            </a:r>
            <a:endParaRPr lang="en-US" sz="1260" dirty="0"/>
          </a:p>
        </p:txBody>
      </p:sp>
      <p:sp>
        <p:nvSpPr>
          <p:cNvPr id="21" name="Text 18"/>
          <p:cNvSpPr/>
          <p:nvPr/>
        </p:nvSpPr>
        <p:spPr>
          <a:xfrm>
            <a:off x="777240" y="5321808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engineering choice.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" y="1417320"/>
            <a:ext cx="3703320" cy="2057400"/>
          </a:xfrm>
          <a:prstGeom prst="roundRect">
            <a:avLst>
              <a:gd name="adj" fmla="val 6667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3272" y="1581912"/>
            <a:ext cx="32826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1947672"/>
            <a:ext cx="324612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— Change the feature most connected to the test evidence and check again.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109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uses lesson-specific evidence, criteria, or system behavior instead of guessing.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2926080" cy="20574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1581912"/>
            <a:ext cx="25054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others miss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1947672"/>
            <a:ext cx="2468880" cy="1399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treat engineering as completion rather than controlled decision-making.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IED, your answer is stronger when it connects a system claim to observable proof.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Aerospace Systems Evidence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4 connects materials, mechanisms, motion, data, circuits, and prototype testing into one working system.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Materials + structure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 and stiffness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 and durability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limits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evidence</a:t>
            </a:r>
            <a:endParaRPr lang="en-US" sz="1340" dirty="0"/>
          </a:p>
        </p:txBody>
      </p:sp>
      <p:sp>
        <p:nvSpPr>
          <p:cNvPr id="11" name="Shape 8"/>
          <p:cNvSpPr/>
          <p:nvPr/>
        </p:nvSpPr>
        <p:spPr>
          <a:xfrm>
            <a:off x="443484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4515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+ motion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2744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motion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and force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and alignment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checks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8183880" y="1755648"/>
            <a:ext cx="3246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1920240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Circuits + data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76488" y="2322576"/>
            <a:ext cx="274320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connections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or electrical function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protocol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 and conclusions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focus: You can choose a prototype revision based on test evidence and explain why the change should improve performance.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+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the Skill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15568"/>
            <a:ext cx="1005840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system evidence source and connect it to today’s lesson.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169164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85623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evidence source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78408" y="2258568"/>
            <a:ext cx="315468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test result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 sketch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 observation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 check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or data table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617720" y="1691640"/>
            <a:ext cx="6537960" cy="3291840"/>
          </a:xfrm>
          <a:prstGeom prst="roundRect">
            <a:avLst>
              <a:gd name="adj" fmla="val 41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28032" y="1856232"/>
            <a:ext cx="61173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answer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221992"/>
            <a:ext cx="6080760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would this evidence help you prioritize, revise, or retest the prototype system?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31520" y="534924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Share-out target: one evidence source + one system decision + one reason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SKILL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Are Practicing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8580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 should be driven by test evidence.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438912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943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1772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change is usually the one that addresses the biggest performance or reliability issue.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092440" y="1508760"/>
            <a:ext cx="32461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673352"/>
            <a:ext cx="282549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 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2039112"/>
            <a:ext cx="2788920" cy="1764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revision is not complete until it is documented and checked again.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143000" y="4526280"/>
            <a:ext cx="9921240" cy="868680"/>
          </a:xfrm>
          <a:prstGeom prst="roundRect">
            <a:avLst>
              <a:gd name="adj" fmla="val 15789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4690872"/>
            <a:ext cx="95006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habit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71600" y="5056632"/>
            <a:ext cx="946404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just complete the prototype task. Save the evidence that explains how you know the system works or what should change next.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→ Evidence → Decision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914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81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81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believe about the material, mechanism, circuit, data, or prototype.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4343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0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10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proves or challenges the claim: tests, graphs, observations, photos, measurements.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7772400" y="146304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152704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39328" y="144475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339328" y="173736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do next because of the evidence.</a:t>
            </a:r>
            <a:endParaRPr lang="en-US" sz="1220" dirty="0"/>
          </a:p>
        </p:txBody>
      </p:sp>
      <p:sp>
        <p:nvSpPr>
          <p:cNvPr id="19" name="Text 16"/>
          <p:cNvSpPr/>
          <p:nvPr/>
        </p:nvSpPr>
        <p:spPr>
          <a:xfrm>
            <a:off x="1005840" y="33375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claim: “My iteration and prototype revision work is ready to move forward.”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10058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prove the claim?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challenge it?</a:t>
            </a:r>
            <a:endParaRPr lang="en-US" sz="1700" dirty="0"/>
          </a:p>
          <a:p>
            <a:pPr marL="165100" indent="-165100">
              <a:buSzPct val="100000"/>
              <a:buChar char="•"/>
            </a:pPr>
            <a:r>
              <a:rPr lang="en-US" sz="17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decision should happen next?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Would You Need?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Claim: “My iteration and prototype revision work is accurate and ready to move forward.”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7724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photo, graph, sketch, or model view that shows the work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0574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2219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5877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statement that it looks good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measurements, test results, circuit checks, or observations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29718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1363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5021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file name that does not identify the lesson or prototype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77240" y="3886200"/>
            <a:ext cx="489204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05079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416552"/>
            <a:ext cx="4434840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teammate saying it is probably fine</a:t>
            </a:r>
            <a:endParaRPr lang="en-US" sz="1260" dirty="0"/>
          </a:p>
        </p:txBody>
      </p:sp>
      <p:sp>
        <p:nvSpPr>
          <p:cNvPr id="23" name="Text 20"/>
          <p:cNvSpPr/>
          <p:nvPr/>
        </p:nvSpPr>
        <p:spPr>
          <a:xfrm>
            <a:off x="777240" y="5440680"/>
            <a:ext cx="9418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for the two strongest pieces of evidence. 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Evidence Pair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support: A + 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shows what was created or observed. C shows whether it meets the requirement or supports the design decision.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5989320" y="1417320"/>
            <a:ext cx="475488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99632" y="1581912"/>
            <a:ext cx="43342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Useful, but not enough alone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0" y="1947672"/>
            <a:ext cx="429768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8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Appearance, vague confidence, or unclear file names can support the story, but they do not prove the claim by themselves.</a:t>
            </a:r>
            <a:endParaRPr lang="en-US" sz="168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should connect directly to the system claim you are making.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 Engineer Do Next?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7240" y="1234440"/>
            <a:ext cx="1024128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A student working on iteration and prototype revision notices the result does not match the expected system behavior.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7724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it and keep going because the task is almost finished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172200" y="214884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231343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0" y="267919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7724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the evidence and restart without notes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172200" y="3246120"/>
            <a:ext cx="48920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2512" y="3410712"/>
            <a:ext cx="44714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776472"/>
            <a:ext cx="4434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faster option even if it cannot be justified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822960" y="5257800"/>
            <a:ext cx="8595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 next slide reveals the strongest next step.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Engineering Move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68680" y="141732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1581912"/>
            <a:ext cx="323697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answer: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947672"/>
            <a:ext cx="3200400" cy="1353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the issue, identify the likely cause, revise, and check again.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892040" y="15087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5727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58968" y="14904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58968" y="17830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what happened with a note, photo, graph, measurement, or test result.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4892040" y="24231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92040" y="24871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58968" y="24048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58968" y="26974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likely cause before changing the system.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4892040" y="3337560"/>
            <a:ext cx="438912" cy="438912"/>
          </a:xfrm>
          <a:prstGeom prst="ellipse">
            <a:avLst/>
          </a:prstGeom>
          <a:solidFill>
            <a:srgbClr val="D9AB3D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3401568"/>
            <a:ext cx="43891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58968" y="3319272"/>
            <a:ext cx="23774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 + Check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58968" y="3611880"/>
            <a:ext cx="26517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 targeted change and collect new evidence.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1005840" y="516636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move: use the problem as evidence, not as a reason to hide the work.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43000"/>
            <a:ext cx="95097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first. Then explain which statement is strongest and why.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94767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231343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iteration and prototype revision work is good because it looks complete.”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77240" y="278892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7552" y="295351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" y="331927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checked the relevant evidence and found the result matched the requirement.”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77240" y="3794760"/>
            <a:ext cx="10241280" cy="822960"/>
          </a:xfrm>
          <a:prstGeom prst="roundRect">
            <a:avLst>
              <a:gd name="adj" fmla="val 16667"/>
            </a:avLst>
          </a:prstGeom>
          <a:solidFill>
            <a:srgbClr val="FFF8E2"/>
          </a:solidFill>
          <a:ln w="12700">
            <a:solidFill>
              <a:srgbClr val="E7C46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3959352"/>
            <a:ext cx="982065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" y="4325112"/>
            <a:ext cx="97840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revised the design because the check showed a specific material, mechanism, circuit, or data issue.”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77240" y="5257800"/>
            <a:ext cx="67665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answer is on the next slide.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CHECK REVEAL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or Opinion?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72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875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Opinion-heavy. “Looks complete” is not enough evidence.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348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51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6634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Evidence-based. It references a check against a requirement.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92440" y="141732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F8F1D7"/>
          </a:solidFill>
          <a:ln w="12700">
            <a:solidFill>
              <a:srgbClr val="D9AB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581912"/>
            <a:ext cx="2871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21040" y="1947672"/>
            <a:ext cx="2834640" cy="1536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reasoning. It connects a revision to a specific check.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101498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Takeaway: claim + specific evidence = stronger engineering communication.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29260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AB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961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Ticket</a:t>
            </a:r>
            <a:endParaRPr lang="en-US" sz="2500" dirty="0"/>
          </a:p>
        </p:txBody>
      </p:sp>
      <p:pic>
        <p:nvPicPr>
          <p:cNvPr id="4" name="Image 0" descr="/mnt/data/site_orig/LockwoodSTEM_V3-main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48" y="301752"/>
            <a:ext cx="141732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473952"/>
            <a:ext cx="5669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  |  Introduction to Engineering Design  |  Unit 4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0405872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4.20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85800" y="1170432"/>
            <a:ext cx="1005840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362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that you understand the lesson before we move to the next system checkpoint.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1737360"/>
            <a:ext cx="10149840" cy="3154680"/>
          </a:xfrm>
          <a:prstGeom prst="roundRect">
            <a:avLst>
              <a:gd name="adj" fmla="val 4348"/>
            </a:avLst>
          </a:prstGeom>
          <a:solidFill>
            <a:srgbClr val="F7FBFF"/>
          </a:solidFill>
          <a:ln w="12700">
            <a:solidFill>
              <a:srgbClr val="D7E2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1901952"/>
            <a:ext cx="972921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 in your notebook or assigned class format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" y="2304288"/>
            <a:ext cx="964692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thing you learned about iteration and prototype revision.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type of evidence that could support today’s design or system decision.</a:t>
            </a:r>
            <a:endParaRPr lang="en-US" sz="1800" dirty="0"/>
          </a:p>
          <a:p>
            <a:pPr marL="165100" indent="-165100"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question, risk, or next step for the prototype system.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4D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mission: Lesson 4.21 — Final Technical Documentation: Mechanism, Circuit, Data, and Revision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4 Lesson 4.20: Iteration and Prototype Revision</dc:title>
  <dc:subject>IED Unit 4 Lesson 4.20</dc:subject>
  <dc:creator>LockwoodSTEM</dc:creator>
  <cp:lastModifiedBy>LockwoodSTEM</cp:lastModifiedBy>
  <cp:revision>1</cp:revision>
  <dcterms:created xsi:type="dcterms:W3CDTF">2026-07-17T17:40:16Z</dcterms:created>
  <dcterms:modified xsi:type="dcterms:W3CDTF">2026-07-17T17:40:16Z</dcterms:modified>
</cp:coreProperties>
</file>