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oe_work/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20040"/>
            <a:ext cx="1463040" cy="502920"/>
          </a:xfrm>
          <a:prstGeom prst="rect">
            <a:avLst/>
          </a:prstGeom>
        </p:spPr>
      </p:pic>
      <p:pic>
        <p:nvPicPr>
          <p:cNvPr id="3" name="Image 1" descr="/mnt/data/poe_work/site/assets/img/course-icons/poe-course-icon.png">    </p:cNvPr>
          <p:cNvPicPr>
            <a:picLocks noChangeAspect="1"/>
          </p:cNvPicPr>
          <p:nvPr/>
        </p:nvPicPr>
        <p:blipFill>
          <a:blip r:embed="rId2">
            <a:alphaModFix amt="97000"/>
          </a:blip>
          <a:stretch>
            <a:fillRect/>
          </a:stretch>
        </p:blipFill>
        <p:spPr>
          <a:xfrm>
            <a:off x="9646920" y="384048"/>
            <a:ext cx="1417320" cy="14173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58368" y="1207008"/>
            <a:ext cx="54864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POE UNIT 0 • LESSON 0.1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658368" y="1609344"/>
            <a:ext cx="7863840" cy="10332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Welcome to Aerospace POE</a:t>
            </a:r>
            <a:endParaRPr lang="en-US" sz="3100" dirty="0"/>
          </a:p>
        </p:txBody>
      </p:sp>
      <p:sp>
        <p:nvSpPr>
          <p:cNvPr id="6" name="Text 2"/>
          <p:cNvSpPr/>
          <p:nvPr/>
        </p:nvSpPr>
        <p:spPr>
          <a:xfrm>
            <a:off x="658368" y="2990088"/>
            <a:ext cx="201168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FOCUS QUESTION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658368" y="3273552"/>
            <a:ext cx="804672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does Principles of Engineering connect mechanisms, energy, structures, controls, materials, data, and aerospace systems?</a:t>
            </a:r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658368" y="4956048"/>
            <a:ext cx="20116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SYSTEMS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60120" y="4800600"/>
            <a:ext cx="1325880" cy="0"/>
          </a:xfrm>
          <a:prstGeom prst="line">
            <a:avLst/>
          </a:prstGeom>
          <a:noFill/>
          <a:ln w="12700">
            <a:solidFill>
              <a:srgbClr val="D9AB3D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172968" y="4956048"/>
            <a:ext cx="20116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D3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TOOLS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3474720" y="4800600"/>
            <a:ext cx="1325880" cy="0"/>
          </a:xfrm>
          <a:prstGeom prst="line">
            <a:avLst/>
          </a:prstGeom>
          <a:noFill/>
          <a:ln w="12700">
            <a:solidFill>
              <a:srgbClr val="2ED3F6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687568" y="4956048"/>
            <a:ext cx="20116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5989320" y="4800600"/>
            <a:ext cx="1325880" cy="0"/>
          </a:xfrm>
          <a:prstGeom prst="line">
            <a:avLst/>
          </a:prstGeom>
          <a:noFill/>
          <a:ln w="12700">
            <a:solidFill>
              <a:srgbClr val="D9AB3D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58368" y="6217920"/>
            <a:ext cx="777240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BFD6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Principles of Engineering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3474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MISSION BRIEFING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778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45-Minute Flight Plan</a:t>
            </a:r>
            <a:endParaRPr lang="en-US" sz="2500" dirty="0"/>
          </a:p>
        </p:txBody>
      </p:sp>
      <p:pic>
        <p:nvPicPr>
          <p:cNvPr id="4" name="Image 0" descr="/mnt/data/poe_work/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852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0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378440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0.1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502920" y="1124712"/>
            <a:ext cx="100584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full lesson to build systems-thinking habits for POE.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94360" y="1572768"/>
            <a:ext cx="388620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95528" y="1737360"/>
            <a:ext cx="348386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 targets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68680" y="2139696"/>
            <a:ext cx="3383280" cy="16367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26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the purpose of POE through an aerospace systems lens.</a:t>
            </a:r>
            <a:endParaRPr lang="en-US" sz="1260" dirty="0"/>
          </a:p>
          <a:p>
            <a:pPr marL="177800" indent="-177800">
              <a:buSzPct val="100000"/>
              <a:buChar char="•"/>
            </a:pPr>
            <a:r>
              <a:rPr lang="en-US" sz="126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the major engineering domains used throughout the course.</a:t>
            </a:r>
            <a:endParaRPr lang="en-US" sz="1260" dirty="0"/>
          </a:p>
          <a:p>
            <a:pPr marL="177800" indent="-177800">
              <a:buSzPct val="100000"/>
              <a:buChar char="•"/>
            </a:pPr>
            <a:r>
              <a:rPr lang="en-US" sz="126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 future projects to mechanisms, structures, controls, data, and evidence.</a:t>
            </a:r>
            <a:endParaRPr lang="en-US" sz="1260" dirty="0"/>
          </a:p>
        </p:txBody>
      </p:sp>
      <p:sp>
        <p:nvSpPr>
          <p:cNvPr id="11" name="Shape 8"/>
          <p:cNvSpPr/>
          <p:nvPr/>
        </p:nvSpPr>
        <p:spPr>
          <a:xfrm>
            <a:off x="4709160" y="1572768"/>
            <a:ext cx="3063240" cy="2331720"/>
          </a:xfrm>
          <a:prstGeom prst="roundRect">
            <a:avLst>
              <a:gd name="adj" fmla="val 4706"/>
            </a:avLst>
          </a:prstGeom>
          <a:solidFill>
            <a:srgbClr val="F7FBFF"/>
          </a:solidFill>
          <a:ln w="12700">
            <a:solidFill>
              <a:srgbClr val="C9E6F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910328" y="1737360"/>
            <a:ext cx="266090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Success looks like…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937760" y="2103120"/>
            <a:ext cx="2606040" cy="1673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 can describe POE as a systems-engineering course and connect at least one aerospace example to evidence.</a:t>
            </a:r>
            <a:endParaRPr lang="en-US" sz="1420" dirty="0"/>
          </a:p>
        </p:txBody>
      </p:sp>
      <p:sp>
        <p:nvSpPr>
          <p:cNvPr id="14" name="Shape 11"/>
          <p:cNvSpPr/>
          <p:nvPr/>
        </p:nvSpPr>
        <p:spPr>
          <a:xfrm>
            <a:off x="8001000" y="1572768"/>
            <a:ext cx="3520440" cy="4160520"/>
          </a:xfrm>
          <a:prstGeom prst="roundRect">
            <a:avLst>
              <a:gd name="adj" fmla="val 3117"/>
            </a:avLst>
          </a:prstGeom>
          <a:solidFill>
            <a:srgbClr val="FFF8E2"/>
          </a:solidFill>
          <a:ln w="12700">
            <a:solidFill>
              <a:srgbClr val="E7C46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02168" y="1737360"/>
            <a:ext cx="311810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Agenda + pacing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275320" y="2139696"/>
            <a:ext cx="3017520" cy="34655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min Opening prompt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min Quick vote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min POE systems connection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min Core skill focus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min Evidence challenge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min Scenario check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min Exit debrief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13232" y="4727448"/>
            <a:ext cx="66751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By the end, your claim about today’s work should connect to evidence someone else can inspect.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3474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OPENING PROMPT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778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does Principles of Engineering connect mechanisms, energy, structures, controls, materials, data, and aerospace systems?</a:t>
            </a:r>
            <a:endParaRPr lang="en-US" sz="2500" dirty="0"/>
          </a:p>
        </p:txBody>
      </p:sp>
      <p:pic>
        <p:nvPicPr>
          <p:cNvPr id="4" name="Image 0" descr="/mnt/data/poe_work/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852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0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378440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0.1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731520" y="2148840"/>
            <a:ext cx="5166360" cy="2057400"/>
          </a:xfrm>
          <a:prstGeom prst="roundRect">
            <a:avLst>
              <a:gd name="adj" fmla="val 5333"/>
            </a:avLst>
          </a:prstGeom>
          <a:solidFill>
            <a:srgbClr val="F7FB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32688" y="2313432"/>
            <a:ext cx="476402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Think first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60120" y="2679192"/>
            <a:ext cx="4709160" cy="1399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system, tool, safety habit, model, or evidence would help answer today’s focus question?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6263640" y="2148840"/>
            <a:ext cx="4617720" cy="2057400"/>
          </a:xfrm>
          <a:prstGeom prst="roundRect">
            <a:avLst>
              <a:gd name="adj" fmla="val 5333"/>
            </a:avLst>
          </a:prstGeom>
          <a:solidFill>
            <a:srgbClr val="FFF8E2"/>
          </a:solidFill>
          <a:ln w="12700">
            <a:solidFill>
              <a:srgbClr val="E7C46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64808" y="2313432"/>
            <a:ext cx="421538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 class share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492240" y="2679192"/>
            <a:ext cx="4160520" cy="1399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one short answer. Try to use an action word from engineering practice.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777240" y="4983480"/>
            <a:ext cx="91440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will reveal a working lesson definition on the next slide.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3474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OPENING DEBRIEF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778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Working Definition</a:t>
            </a:r>
            <a:endParaRPr lang="en-US" sz="2500" dirty="0"/>
          </a:p>
        </p:txBody>
      </p:sp>
      <p:pic>
        <p:nvPicPr>
          <p:cNvPr id="4" name="Image 0" descr="/mnt/data/poe_work/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852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0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378440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0.1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713232" y="1298448"/>
            <a:ext cx="10716768" cy="1207008"/>
          </a:xfrm>
          <a:prstGeom prst="roundRect">
            <a:avLst>
              <a:gd name="adj" fmla="val 9091"/>
            </a:avLst>
          </a:prstGeom>
          <a:solidFill>
            <a:srgbClr val="F7FB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1463040"/>
            <a:ext cx="10314432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Today’s working definition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41832" y="1828800"/>
            <a:ext cx="10259568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this lesson, engineers connect, analyze, communicate so a system can be designed, built, tested, and defended with evidence.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868680" y="2907792"/>
            <a:ext cx="438912" cy="438912"/>
          </a:xfrm>
          <a:prstGeom prst="ellipse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68680" y="2971800"/>
            <a:ext cx="43891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435608" y="2889504"/>
            <a:ext cx="25603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35608" y="3200400"/>
            <a:ext cx="26974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the purpose of POE through an aerospace systems lens.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160520" y="2907792"/>
            <a:ext cx="438912" cy="438912"/>
          </a:xfrm>
          <a:prstGeom prst="ellipse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160520" y="2971800"/>
            <a:ext cx="43891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727448" y="2889504"/>
            <a:ext cx="25603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Analyze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727448" y="3200400"/>
            <a:ext cx="26974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the major engineering domains used throughout the course.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452360" y="2907792"/>
            <a:ext cx="438912" cy="438912"/>
          </a:xfrm>
          <a:prstGeom prst="ellipse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452360" y="2971800"/>
            <a:ext cx="43891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8019288" y="2889504"/>
            <a:ext cx="25603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Communicate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8019288" y="3200400"/>
            <a:ext cx="26974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 future projects to mechanisms, structures, controls, data, and evidence.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68680" y="5193792"/>
            <a:ext cx="987552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Carry-forward idea: strong engineering work is organized, safe, testable, and supported by evidence.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3474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INTERACTIVE VOTE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778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One Fits?</a:t>
            </a:r>
            <a:endParaRPr lang="en-US" sz="2500" dirty="0"/>
          </a:p>
        </p:txBody>
      </p:sp>
      <p:pic>
        <p:nvPicPr>
          <p:cNvPr id="4" name="Image 0" descr="/mnt/data/poe_work/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852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0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378440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0.1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85800" y="1115568"/>
            <a:ext cx="95097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Hold up fingers 1–4 or vote silently. Then justify your choice.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85800" y="1627632"/>
            <a:ext cx="1024128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Prompt: Which action best supports welcome to aerospace poe?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777240" y="2331720"/>
            <a:ext cx="48006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78408" y="2496312"/>
            <a:ext cx="439826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005840" y="2862072"/>
            <a:ext cx="4343400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Copy the first example without checking the system goal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172200" y="2331720"/>
            <a:ext cx="48006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373368" y="2496312"/>
            <a:ext cx="439826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400800" y="2862072"/>
            <a:ext cx="4343400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evidence and criteria to make a controlled decision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777240" y="3657600"/>
            <a:ext cx="48006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78408" y="3822192"/>
            <a:ext cx="439826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005840" y="4187952"/>
            <a:ext cx="4343400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the easiest option because it is fastest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6172200" y="3657600"/>
            <a:ext cx="48006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373368" y="3822192"/>
            <a:ext cx="439826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400800" y="4187952"/>
            <a:ext cx="4343400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the work look finished before checking it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777240" y="5321808"/>
            <a:ext cx="859536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first. The next slide reveals the strongest engineering choice.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3474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REVEAL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778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Answer</a:t>
            </a:r>
            <a:endParaRPr lang="en-US" sz="2500" dirty="0"/>
          </a:p>
        </p:txBody>
      </p:sp>
      <p:pic>
        <p:nvPicPr>
          <p:cNvPr id="4" name="Image 0" descr="/mnt/data/poe_work/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852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0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378440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0.1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822960" y="1417320"/>
            <a:ext cx="3703320" cy="2057400"/>
          </a:xfrm>
          <a:prstGeom prst="roundRect">
            <a:avLst>
              <a:gd name="adj" fmla="val 5333"/>
            </a:avLst>
          </a:prstGeom>
          <a:solidFill>
            <a:srgbClr val="F8F1D7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24128" y="1581912"/>
            <a:ext cx="330098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answer: 2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51560" y="1947672"/>
            <a:ext cx="3246120" cy="1399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4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strongest engineering move is to connect a system idea to evidence, not simply name a topic.</a:t>
            </a:r>
            <a:endParaRPr lang="en-US" sz="1640" dirty="0"/>
          </a:p>
        </p:txBody>
      </p:sp>
      <p:sp>
        <p:nvSpPr>
          <p:cNvPr id="10" name="Shape 7"/>
          <p:cNvSpPr/>
          <p:nvPr/>
        </p:nvSpPr>
        <p:spPr>
          <a:xfrm>
            <a:off x="4800600" y="1417320"/>
            <a:ext cx="292608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01768" y="1581912"/>
            <a:ext cx="252374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fits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029200" y="1947672"/>
            <a:ext cx="2468880" cy="1399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uses lesson-specific evidence, criteria, safety checks, or system behavior instead of guessing.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8001000" y="1417320"/>
            <a:ext cx="292608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02168" y="1581912"/>
            <a:ext cx="252374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the others miss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229600" y="1947672"/>
            <a:ext cx="2468880" cy="1399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They treat engineering as completion rather than controlled decision-making.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914400" y="4343400"/>
            <a:ext cx="98755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POE, strong choices are safe, testable, and connected to a system goal.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3474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POE CONNECTION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778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Aerospace Systems Evidence</a:t>
            </a:r>
            <a:endParaRPr lang="en-US" sz="2500" dirty="0"/>
          </a:p>
        </p:txBody>
      </p:sp>
      <p:pic>
        <p:nvPicPr>
          <p:cNvPr id="4" name="Image 0" descr="/mnt/data/poe_work/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852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0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378440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0.1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85800" y="1115568"/>
            <a:ext cx="1024128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POE combines mechanisms, energy, structures, controls, materials, data, and fabrication into working systems.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85800" y="1755648"/>
            <a:ext cx="324612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86968" y="1920240"/>
            <a:ext cx="284378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Tools + safety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60120" y="2322576"/>
            <a:ext cx="2743200" cy="20482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PPE and lab routines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 readiness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Certification evidence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Cleanup and inspection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4434840" y="1755648"/>
            <a:ext cx="324612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636008" y="1920240"/>
            <a:ext cx="284378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Models + mechanisms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709160" y="2322576"/>
            <a:ext cx="2743200" cy="20482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Sketches and CAD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Components and assemblies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Motion and constraints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Rover subsystems</a:t>
            </a:r>
            <a:endParaRPr lang="en-US" sz="1320" dirty="0"/>
          </a:p>
        </p:txBody>
      </p:sp>
      <p:sp>
        <p:nvSpPr>
          <p:cNvPr id="14" name="Shape 11"/>
          <p:cNvSpPr/>
          <p:nvPr/>
        </p:nvSpPr>
        <p:spPr>
          <a:xfrm>
            <a:off x="8183880" y="1755648"/>
            <a:ext cx="324612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385048" y="1920240"/>
            <a:ext cx="284378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Tests + data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458200" y="2322576"/>
            <a:ext cx="2743200" cy="20482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Measurements and units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Trial results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 diagrams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conclusions</a:t>
            </a:r>
            <a:endParaRPr lang="en-US" sz="1320" dirty="0"/>
          </a:p>
        </p:txBody>
      </p:sp>
      <p:sp>
        <p:nvSpPr>
          <p:cNvPr id="17" name="Text 14"/>
          <p:cNvSpPr/>
          <p:nvPr/>
        </p:nvSpPr>
        <p:spPr>
          <a:xfrm>
            <a:off x="822960" y="5074920"/>
            <a:ext cx="1024128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Today’s focus: You can describe POE as a systems-engineering course and connect at least one aerospace example to evidence.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3474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 + TALK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778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 the Skill</a:t>
            </a:r>
            <a:endParaRPr lang="en-US" sz="2500" dirty="0"/>
          </a:p>
        </p:txBody>
      </p:sp>
      <p:pic>
        <p:nvPicPr>
          <p:cNvPr id="4" name="Image 0" descr="/mnt/data/poe_work/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852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0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378440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0.1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85800" y="1115568"/>
            <a:ext cx="1005840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one system evidence source and connect it to today’s lesson.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85800" y="1691640"/>
            <a:ext cx="3657600" cy="3291840"/>
          </a:xfrm>
          <a:prstGeom prst="roundRect">
            <a:avLst>
              <a:gd name="adj" fmla="val 3333"/>
            </a:avLst>
          </a:prstGeom>
          <a:solidFill>
            <a:srgbClr val="F7FB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86968" y="1856232"/>
            <a:ext cx="325526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one evidence source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60120" y="2258568"/>
            <a:ext cx="3154680" cy="2596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Safety checklist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Measurement record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Fusion screenshot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 diagram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data table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617720" y="1691640"/>
            <a:ext cx="6537960" cy="3291840"/>
          </a:xfrm>
          <a:prstGeom prst="roundRect">
            <a:avLst>
              <a:gd name="adj" fmla="val 3333"/>
            </a:avLst>
          </a:prstGeom>
          <a:solidFill>
            <a:srgbClr val="FFF8E2"/>
          </a:solidFill>
          <a:ln w="12700">
            <a:solidFill>
              <a:srgbClr val="E7C46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18888" y="1856232"/>
            <a:ext cx="613562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Then answer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846320" y="2221992"/>
            <a:ext cx="6080760" cy="2633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would this evidence help you connect, analyze, or communicate in this lesson?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777240" y="5321808"/>
            <a:ext cx="98755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Share-out target: one evidence source + one engineering decision it supports.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3474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MINDSET SHIFT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778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Completion vs. Engineering Readiness</a:t>
            </a:r>
            <a:endParaRPr lang="en-US" sz="2500" dirty="0"/>
          </a:p>
        </p:txBody>
      </p:sp>
      <p:pic>
        <p:nvPicPr>
          <p:cNvPr id="4" name="Image 0" descr="/mnt/data/poe_work/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852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0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378440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0.1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85800" y="1124712"/>
            <a:ext cx="1005840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goal is not just to finish; the goal is to show readiness with evidence.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22960" y="1719072"/>
            <a:ext cx="5074920" cy="3520440"/>
          </a:xfrm>
          <a:prstGeom prst="roundRect">
            <a:avLst>
              <a:gd name="adj" fmla="val 3117"/>
            </a:avLst>
          </a:prstGeom>
          <a:solidFill>
            <a:srgbClr val="FCFCFD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24128" y="1883664"/>
            <a:ext cx="467258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Completion mindset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97280" y="2286000"/>
            <a:ext cx="4572000" cy="28254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task looks done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file opens once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tool was used quickly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prototype appears complete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is missing or vague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263640" y="1719072"/>
            <a:ext cx="5074920" cy="3520440"/>
          </a:xfrm>
          <a:prstGeom prst="roundRect">
            <a:avLst>
              <a:gd name="adj" fmla="val 3117"/>
            </a:avLst>
          </a:prstGeom>
          <a:solidFill>
            <a:srgbClr val="F2FBF8"/>
          </a:solidFill>
          <a:ln w="12700">
            <a:solidFill>
              <a:srgbClr val="B6E2D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64808" y="1883664"/>
            <a:ext cx="467258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Engineering readiness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537960" y="2286000"/>
            <a:ext cx="4572000" cy="28254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requirement is clear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Safety and setup are checked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evidence is labeled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Results are recorded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next decision is justified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3474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IDEA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778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 → Evidence → Decision</a:t>
            </a:r>
            <a:endParaRPr lang="en-US" sz="2500" dirty="0"/>
          </a:p>
        </p:txBody>
      </p:sp>
      <p:pic>
        <p:nvPicPr>
          <p:cNvPr id="4" name="Image 0" descr="/mnt/data/poe_work/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852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0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378440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0.1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731520" y="1828800"/>
            <a:ext cx="2971800" cy="2057400"/>
          </a:xfrm>
          <a:prstGeom prst="roundRect">
            <a:avLst>
              <a:gd name="adj" fmla="val 5333"/>
            </a:avLst>
          </a:prstGeom>
          <a:solidFill>
            <a:srgbClr val="F7FB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32688" y="1993392"/>
            <a:ext cx="256946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60120" y="2359152"/>
            <a:ext cx="2514600" cy="1399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you believe about the system, tool, model, or prototype.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977640" y="2450592"/>
            <a:ext cx="4572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3200" dirty="0"/>
          </a:p>
        </p:txBody>
      </p:sp>
      <p:sp>
        <p:nvSpPr>
          <p:cNvPr id="11" name="Shape 8"/>
          <p:cNvSpPr/>
          <p:nvPr/>
        </p:nvSpPr>
        <p:spPr>
          <a:xfrm>
            <a:off x="4526280" y="1828800"/>
            <a:ext cx="2971800" cy="2057400"/>
          </a:xfrm>
          <a:prstGeom prst="roundRect">
            <a:avLst>
              <a:gd name="adj" fmla="val 5333"/>
            </a:avLst>
          </a:prstGeom>
          <a:solidFill>
            <a:srgbClr val="F7FB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27448" y="1993392"/>
            <a:ext cx="256946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754880" y="2359152"/>
            <a:ext cx="2514600" cy="1399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proves, challenges, or clarifies the claim.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772400" y="2450592"/>
            <a:ext cx="4572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3200" dirty="0"/>
          </a:p>
        </p:txBody>
      </p:sp>
      <p:sp>
        <p:nvSpPr>
          <p:cNvPr id="15" name="Shape 12"/>
          <p:cNvSpPr/>
          <p:nvPr/>
        </p:nvSpPr>
        <p:spPr>
          <a:xfrm>
            <a:off x="8321040" y="1828800"/>
            <a:ext cx="2971800" cy="2057400"/>
          </a:xfrm>
          <a:prstGeom prst="roundRect">
            <a:avLst>
              <a:gd name="adj" fmla="val 5333"/>
            </a:avLst>
          </a:prstGeom>
          <a:solidFill>
            <a:srgbClr val="F7FB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522208" y="1993392"/>
            <a:ext cx="256946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549640" y="2359152"/>
            <a:ext cx="2514600" cy="1399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you do next because of the evidence.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868680" y="4800600"/>
            <a:ext cx="1033272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can include sketches, measurements, screenshots, checklists, test data, observations, photos, and reflections.</a:t>
            </a:r>
            <a:endParaRPr lang="en-US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3474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 CHALLENGE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778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Evidence Would You Need?</a:t>
            </a:r>
            <a:endParaRPr lang="en-US" sz="2500" dirty="0"/>
          </a:p>
        </p:txBody>
      </p:sp>
      <p:pic>
        <p:nvPicPr>
          <p:cNvPr id="4" name="Image 0" descr="/mnt/data/poe_work/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852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0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378440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0.1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85800" y="1115568"/>
            <a:ext cx="1005840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the claim. Select the two strongest pieces of evidence.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49808" y="1572768"/>
            <a:ext cx="10378440" cy="777240"/>
          </a:xfrm>
          <a:prstGeom prst="roundRect">
            <a:avLst>
              <a:gd name="adj" fmla="val 14118"/>
            </a:avLst>
          </a:prstGeom>
          <a:solidFill>
            <a:srgbClr val="F7FB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50976" y="1737360"/>
            <a:ext cx="997610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78408" y="2103120"/>
            <a:ext cx="9921240" cy="1188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“My welcome to aerospace poe work is accurate and ready to move forward.”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868680" y="2743200"/>
            <a:ext cx="498348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69848" y="2907792"/>
            <a:ext cx="458114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097280" y="3273552"/>
            <a:ext cx="4526280" cy="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labeled sketch, screenshot, diagram, or model view that shows what was created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263640" y="2743200"/>
            <a:ext cx="498348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64808" y="2907792"/>
            <a:ext cx="458114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492240" y="3273552"/>
            <a:ext cx="4526280" cy="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statement that it looks good or seems finished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868680" y="3584448"/>
            <a:ext cx="498348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69848" y="3749040"/>
            <a:ext cx="458114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097280" y="4114800"/>
            <a:ext cx="4526280" cy="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Relevant measurements, checklist results, test data, or observations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263640" y="3584448"/>
            <a:ext cx="498348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64808" y="3749040"/>
            <a:ext cx="458114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492240" y="4114800"/>
            <a:ext cx="4526280" cy="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file name that does not identify the lesson, unit, or task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868680" y="4425696"/>
            <a:ext cx="498348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069848" y="4590288"/>
            <a:ext cx="458114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1097280" y="4956048"/>
            <a:ext cx="4526280" cy="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short explanation connecting the evidence to the next decision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868680" y="5687568"/>
            <a:ext cx="85953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first. Then we will reveal the strongest evidence pair.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3474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REVEAL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778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Evidence Pair</a:t>
            </a:r>
            <a:endParaRPr lang="en-US" sz="2500" dirty="0"/>
          </a:p>
        </p:txBody>
      </p:sp>
      <p:pic>
        <p:nvPicPr>
          <p:cNvPr id="4" name="Image 0" descr="/mnt/data/poe_work/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852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0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378440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0.1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731520" y="1417320"/>
            <a:ext cx="4892040" cy="2606040"/>
          </a:xfrm>
          <a:prstGeom prst="roundRect">
            <a:avLst>
              <a:gd name="adj" fmla="val 4211"/>
            </a:avLst>
          </a:prstGeom>
          <a:solidFill>
            <a:srgbClr val="F8F1D7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32688" y="1581912"/>
            <a:ext cx="448970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support: A + C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60120" y="1947672"/>
            <a:ext cx="4434840" cy="19476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shows what was created or observed. C shows whether it meets the requirement or supports the design decision.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5989320" y="1417320"/>
            <a:ext cx="4892040" cy="2606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190488" y="1581912"/>
            <a:ext cx="448970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Also useful: 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217920" y="1947672"/>
            <a:ext cx="4434840" cy="19476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short explanation connects the evidence to the next decision. Without that connection, evidence can be hard to interpret.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868680" y="4663440"/>
            <a:ext cx="1014984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Vague confidence is not enough. Engineering evidence must be visible, specific, and tied to the requirement.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3474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RESPONSE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778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Should the Engineer Do Next?</a:t>
            </a:r>
            <a:endParaRPr lang="en-US" sz="2500" dirty="0"/>
          </a:p>
        </p:txBody>
      </p:sp>
      <p:pic>
        <p:nvPicPr>
          <p:cNvPr id="4" name="Image 0" descr="/mnt/data/poe_work/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852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0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378440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0.1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749808" y="1417320"/>
            <a:ext cx="10378440" cy="1024128"/>
          </a:xfrm>
          <a:prstGeom prst="roundRect">
            <a:avLst>
              <a:gd name="adj" fmla="val 10714"/>
            </a:avLst>
          </a:prstGeom>
          <a:solidFill>
            <a:srgbClr val="F7FB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50976" y="1581912"/>
            <a:ext cx="997610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78408" y="1947672"/>
            <a:ext cx="99212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student working on this lesson notices the result does not match the expected system behavior or requirement.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868680" y="2880360"/>
            <a:ext cx="498348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69848" y="3044952"/>
            <a:ext cx="458114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097280" y="3410712"/>
            <a:ext cx="4526280" cy="731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Ignore it and keep going because the task is almost finished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263640" y="2880360"/>
            <a:ext cx="498348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64808" y="3044952"/>
            <a:ext cx="458114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492240" y="3410712"/>
            <a:ext cx="4526280" cy="731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 the issue, identify the likely cause, revise, and check again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868680" y="3886200"/>
            <a:ext cx="498348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69848" y="4050792"/>
            <a:ext cx="458114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097280" y="4416552"/>
            <a:ext cx="4526280" cy="731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Delete the evidence and restart without notes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6263640" y="3886200"/>
            <a:ext cx="498348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64808" y="4050792"/>
            <a:ext cx="458114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492240" y="4416552"/>
            <a:ext cx="4526280" cy="731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the faster option even if it cannot be justified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868680" y="5440680"/>
            <a:ext cx="85953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first. Then we will reveal the strongest next step.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3474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REVEAL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778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Strongest Next Step</a:t>
            </a:r>
            <a:endParaRPr lang="en-US" sz="2500" dirty="0"/>
          </a:p>
        </p:txBody>
      </p:sp>
      <p:pic>
        <p:nvPicPr>
          <p:cNvPr id="4" name="Image 0" descr="/mnt/data/poe_work/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852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0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378440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0.1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822960" y="1371600"/>
            <a:ext cx="3703320" cy="2377440"/>
          </a:xfrm>
          <a:prstGeom prst="roundRect">
            <a:avLst>
              <a:gd name="adj" fmla="val 4615"/>
            </a:avLst>
          </a:prstGeom>
          <a:solidFill>
            <a:srgbClr val="F8F1D7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24128" y="1536192"/>
            <a:ext cx="330098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answer: B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51560" y="1901952"/>
            <a:ext cx="3246120" cy="17190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 the issue, identify the likely cause, revise, and check again.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4800600" y="1508760"/>
            <a:ext cx="438912" cy="438912"/>
          </a:xfrm>
          <a:prstGeom prst="ellipse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800600" y="1572768"/>
            <a:ext cx="43891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367528" y="1490472"/>
            <a:ext cx="25603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367528" y="1801368"/>
            <a:ext cx="26974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Capture what happened using notes, screenshots, measurements, or observations.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800600" y="2788920"/>
            <a:ext cx="438912" cy="438912"/>
          </a:xfrm>
          <a:prstGeom prst="ellipse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800600" y="2852928"/>
            <a:ext cx="43891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367528" y="2770632"/>
            <a:ext cx="25603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367528" y="3081528"/>
            <a:ext cx="26974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Look for the likely cause: setup, file, tool, data, material, or system behavior.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800600" y="4069080"/>
            <a:ext cx="438912" cy="438912"/>
          </a:xfrm>
          <a:prstGeom prst="ellipse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800600" y="4133088"/>
            <a:ext cx="43891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367528" y="4050792"/>
            <a:ext cx="25603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Revise + Check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5367528" y="4361688"/>
            <a:ext cx="26974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the smallest useful change and collect new evidence.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68680" y="5760720"/>
            <a:ext cx="10058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Engineering move: turn the problem into useful evidence instead of hiding it.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3474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 CHECK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778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or Opinion?</a:t>
            </a:r>
            <a:endParaRPr lang="en-US" sz="2500" dirty="0"/>
          </a:p>
        </p:txBody>
      </p:sp>
      <p:pic>
        <p:nvPicPr>
          <p:cNvPr id="4" name="Image 0" descr="/mnt/data/poe_work/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852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0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378440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0.1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85800" y="1115568"/>
            <a:ext cx="1005840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on each statement before revealing the answers.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22960" y="1691640"/>
            <a:ext cx="10469880" cy="914400"/>
          </a:xfrm>
          <a:prstGeom prst="roundRect">
            <a:avLst>
              <a:gd name="adj" fmla="val 12000"/>
            </a:avLst>
          </a:prstGeom>
          <a:solidFill>
            <a:srgbClr val="FCFCFD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24128" y="1856232"/>
            <a:ext cx="1006754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51560" y="2221992"/>
            <a:ext cx="1001268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“My work is ready because it looks finished.”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822960" y="2788920"/>
            <a:ext cx="10469880" cy="914400"/>
          </a:xfrm>
          <a:prstGeom prst="roundRect">
            <a:avLst>
              <a:gd name="adj" fmla="val 12000"/>
            </a:avLst>
          </a:prstGeom>
          <a:solidFill>
            <a:srgbClr val="FCFCFD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24128" y="2953512"/>
            <a:ext cx="1006754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051560" y="3319272"/>
            <a:ext cx="1001268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“My evidence shows the course map reflection meets the requirement because it includes labeled proof.”</a:t>
            </a:r>
            <a:endParaRPr lang="en-US" sz="1900" dirty="0"/>
          </a:p>
        </p:txBody>
      </p:sp>
      <p:sp>
        <p:nvSpPr>
          <p:cNvPr id="14" name="Shape 11"/>
          <p:cNvSpPr/>
          <p:nvPr/>
        </p:nvSpPr>
        <p:spPr>
          <a:xfrm>
            <a:off x="822960" y="3886200"/>
            <a:ext cx="10469880" cy="914400"/>
          </a:xfrm>
          <a:prstGeom prst="roundRect">
            <a:avLst>
              <a:gd name="adj" fmla="val 12000"/>
            </a:avLst>
          </a:prstGeom>
          <a:solidFill>
            <a:srgbClr val="FCFCFD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24128" y="4050792"/>
            <a:ext cx="1006754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051560" y="4416552"/>
            <a:ext cx="1001268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“I changed the setup after the first check showed a specific problem.”</a:t>
            </a:r>
            <a:endParaRPr lang="en-US" sz="1900" dirty="0"/>
          </a:p>
        </p:txBody>
      </p:sp>
      <p:sp>
        <p:nvSpPr>
          <p:cNvPr id="17" name="Text 14"/>
          <p:cNvSpPr/>
          <p:nvPr/>
        </p:nvSpPr>
        <p:spPr>
          <a:xfrm>
            <a:off x="868680" y="5440680"/>
            <a:ext cx="91440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statements are evidence-based?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3474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 CHECK REVEAL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778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or Opinion?</a:t>
            </a:r>
            <a:endParaRPr lang="en-US" sz="2500" dirty="0"/>
          </a:p>
        </p:txBody>
      </p:sp>
      <p:pic>
        <p:nvPicPr>
          <p:cNvPr id="4" name="Image 0" descr="/mnt/data/poe_work/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852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0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378440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0.1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731520" y="1554480"/>
            <a:ext cx="324612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32688" y="1719072"/>
            <a:ext cx="284378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A: Opinion-heavy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60120" y="2084832"/>
            <a:ext cx="2788920" cy="22677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Uses a vague visual judgment: “looks finished.”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4434840" y="1554480"/>
            <a:ext cx="3246120" cy="2926080"/>
          </a:xfrm>
          <a:prstGeom prst="roundRect">
            <a:avLst>
              <a:gd name="adj" fmla="val 3750"/>
            </a:avLst>
          </a:prstGeom>
          <a:solidFill>
            <a:srgbClr val="F2FBF8"/>
          </a:solidFill>
          <a:ln w="12700">
            <a:solidFill>
              <a:srgbClr val="B6E2D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36008" y="1719072"/>
            <a:ext cx="284378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B: Evidence-based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663440" y="2084832"/>
            <a:ext cx="2788920" cy="22677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Connects the task to labeled proof and a requirement.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8138160" y="1554480"/>
            <a:ext cx="3246120" cy="2926080"/>
          </a:xfrm>
          <a:prstGeom prst="roundRect">
            <a:avLst>
              <a:gd name="adj" fmla="val 3750"/>
            </a:avLst>
          </a:prstGeom>
          <a:solidFill>
            <a:srgbClr val="F2FBF8"/>
          </a:solidFill>
          <a:ln w="12700">
            <a:solidFill>
              <a:srgbClr val="B6E2D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339328" y="1719072"/>
            <a:ext cx="284378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C: Evidence-based reasoning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366760" y="2084832"/>
            <a:ext cx="2788920" cy="22677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Connects a design or setup change to an observed problem.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822960" y="5166360"/>
            <a:ext cx="10058400" cy="4023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Takeaway: claim + specific evidence + next decision = stronger engineering communication.</a:t>
            </a:r>
            <a:endParaRPr lang="en-US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3474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MISSION DEBRIEF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778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Exit Ticket</a:t>
            </a:r>
            <a:endParaRPr lang="en-US" sz="2500" dirty="0"/>
          </a:p>
        </p:txBody>
      </p:sp>
      <p:pic>
        <p:nvPicPr>
          <p:cNvPr id="4" name="Image 0" descr="/mnt/data/poe_work/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852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0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378440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0.1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85800" y="1115568"/>
            <a:ext cx="1005840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that you understand today’s systems-thinking habit before moving on.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31520" y="1627632"/>
            <a:ext cx="6400800" cy="3886200"/>
          </a:xfrm>
          <a:prstGeom prst="roundRect">
            <a:avLst>
              <a:gd name="adj" fmla="val 2824"/>
            </a:avLst>
          </a:prstGeom>
          <a:solidFill>
            <a:srgbClr val="F7FB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32688" y="1792224"/>
            <a:ext cx="599846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Respond in your notebook or assigned class format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05840" y="2194560"/>
            <a:ext cx="5897880" cy="31912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thing you learned from Lesson 0.1: Welcome to Aerospace POE.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piece of evidence that would support today’s work.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safety, documentation, CAD, system, or testing habit you need to remember.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543800" y="1627632"/>
            <a:ext cx="3611880" cy="3886200"/>
          </a:xfrm>
          <a:prstGeom prst="roundRect">
            <a:avLst>
              <a:gd name="adj" fmla="val 3038"/>
            </a:avLst>
          </a:prstGeom>
          <a:solidFill>
            <a:srgbClr val="FFF8E2"/>
          </a:solidFill>
          <a:ln w="12700">
            <a:solidFill>
              <a:srgbClr val="E7C46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44968" y="1792224"/>
            <a:ext cx="320954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mission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772400" y="2157984"/>
            <a:ext cx="3154680" cy="32278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0.2 — Engineering Notebook &amp; Documentation Refresher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LockwoodSTEM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POE Unit 0 Lesson 0.1: Welcome to Aerospace POE</dc:title>
  <dc:subject>POE Unit 0 Lesson 0.1</dc:subject>
  <dc:creator>LockwoodSTEM</dc:creator>
  <cp:lastModifiedBy>LockwoodSTEM</cp:lastModifiedBy>
  <cp:revision>1</cp:revision>
  <dcterms:created xsi:type="dcterms:W3CDTF">2026-07-17T18:48:47Z</dcterms:created>
  <dcterms:modified xsi:type="dcterms:W3CDTF">2026-07-17T18:48:47Z</dcterms:modified>
</cp:coreProperties>
</file>