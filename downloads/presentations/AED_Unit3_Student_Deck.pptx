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2.jpg" ContentType="image/jpg"/>
  <Override PartName="/ppt/media/image-12-2.jpg" ContentType="image/jpg"/>
  <Override PartName="/ppt/media/image-15-1.jpg" ContentType="image/jpg"/>
  <Override PartName="/ppt/media/image-16-2.jpg" ContentType="image/jpg"/>
  <Override PartName="/ppt/media/image-17-2.jpg" ContentType="image/jpg"/>
  <Override PartName="/ppt/media/image-20-1.jpg" ContentType="image/jpg"/>
  <Override PartName="/ppt/media/image-21-2.jpg" ContentType="image/jpg"/>
  <Override PartName="/ppt/media/image-22-2.jpg" ContentType="image/jpg"/>
  <Override PartName="/ppt/media/image-25-1.jpg" ContentType="image/jpg"/>
  <Override PartName="/ppt/media/image-26-2.jpg" ContentType="image/jpg"/>
  <Override PartName="/ppt/media/image-27-2.jpg" ContentType="image/jpg"/>
  <Override PartName="/ppt/media/image-30-1.jpg" ContentType="image/jpg"/>
  <Override PartName="/ppt/media/image-31-2.jpg" ContentType="image/jpg"/>
  <Override PartName="/ppt/media/image-32-2.jpg" ContentType="image/jpg"/>
  <Override PartName="/ppt/media/image-35-1.jpg" ContentType="image/jpg"/>
  <Override PartName="/ppt/media/image-36-2.jpg" ContentType="image/jpg"/>
  <Override PartName="/ppt/media/image-37-2.jpg" ContentType="image/jpg"/>
  <Override PartName="/ppt/media/image-4-2.jpg" ContentType="image/jpg"/>
  <Override PartName="/ppt/media/image-40-1.jpg" ContentType="image/jpg"/>
  <Override PartName="/ppt/media/image-41-2.jpg" ContentType="image/jpg"/>
  <Override PartName="/ppt/media/image-42-2.jpg" ContentType="image/jpg"/>
  <Override PartName="/ppt/media/image-45-1.jpg" ContentType="image/jpg"/>
  <Override PartName="/ppt/media/image-46-2.jpg" ContentType="image/jpg"/>
  <Override PartName="/ppt/media/image-47-2.jpg" ContentType="image/jpg"/>
  <Override PartName="/ppt/media/image-5-1.jpg" ContentType="image/jpg"/>
  <Override PartName="/ppt/media/image-50-1.jpg" ContentType="image/jpg"/>
  <Override PartName="/ppt/media/image-51-2.jpg" ContentType="image/jpg"/>
  <Override PartName="/ppt/media/image-52-2.jpg" ContentType="image/jpg"/>
  <Override PartName="/ppt/media/image-55-1.jpg" ContentType="image/jpg"/>
  <Override PartName="/ppt/media/image-56-2.jpg" ContentType="image/jpg"/>
  <Override PartName="/ppt/media/image-57-2.jpg" ContentType="image/jpg"/>
  <Override PartName="/ppt/media/image-6-2.jpg" ContentType="image/jpg"/>
  <Override PartName="/ppt/media/image-60-1.jpg" ContentType="image/jpg"/>
  <Override PartName="/ppt/media/image-61-2.jpg" ContentType="image/jpg"/>
  <Override PartName="/ppt/media/image-62-2.jpg" ContentType="image/jpg"/>
  <Override PartName="/ppt/media/image-65-1.jpg" ContentType="image/jpg"/>
  <Override PartName="/ppt/media/image-66-2.jpg" ContentType="image/jpg"/>
  <Override PartName="/ppt/media/image-67-2.jpg" ContentType="image/jpg"/>
  <Override PartName="/ppt/media/image-7-2.jpg" ContentType="image/jpg"/>
  <Override PartName="/ppt/media/image-70-1.jpg" ContentType="image/jpg"/>
  <Override PartName="/ppt/media/image-71-2.jpg" ContentType="image/jpg"/>
  <Override PartName="/ppt/media/image-72-2.jpg" ContentType="image/jpg"/>
  <Override PartName="/ppt/media/image-75-1.jpg" ContentType="image/jpg"/>
  <Override PartName="/ppt/media/image-76-2.jpg" ContentType="image/jpg"/>
  <Override PartName="/ppt/media/image-77-2.jpg" ContentType="image/jpg"/>
  <Override PartName="/ppt/media/image-80-1.jpg" ContentType="image/jpg"/>
  <Override PartName="/ppt/media/image-81-2.jpg" ContentType="image/jpg"/>
  <Override PartName="/ppt/media/image-82-2.jpg" ContentType="image/jpg"/>
  <Override PartName="/ppt/media/image-85-1.jpg" ContentType="image/jpg"/>
  <Override PartName="/ppt/media/image-86-2.jpg" ContentType="image/jpg"/>
  <Override PartName="/ppt/media/image-87-2.jpg" ContentType="image/jpg"/>
  <Override PartName="/ppt/media/image-90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9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5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5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5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5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5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5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5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4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5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5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5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4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5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5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5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4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4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5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5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5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4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5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5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Relationship Id="rId4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4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5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5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5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4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4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5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5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5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Relationship Id="rId4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Relationship Id="rId4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5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5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5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4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4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5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5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5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Relationship Id="rId4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Relationship Id="rId4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5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5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5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Relationship Id="rId4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Relationship Id="rId4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Relationship Id="rId5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Relationship Id="rId5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5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Relationship Id="rId4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Relationship Id="rId4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desktop_sc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0"/>
            <a:ext cx="57451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364224" y="0"/>
            <a:ext cx="82296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566928" y="1051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Aerospace Engineering Design</a:t>
            </a:r>
          </a:p>
        </p:txBody>
      </p:sp>
      <p:sp>
        <p:nvSpPr>
          <p:cNvPr id="8" name="Text 4"/>
          <p:cNvSpPr/>
          <p:nvPr/>
        </p:nvSpPr>
        <p:spPr>
          <a:xfrm>
            <a:off x="566928" y="1600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7B20"/>
                </a:solidFill>
              </a:rPr>
              <a:t>Unit 3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566928" y="2084832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CAD Assemblies, Prototyping &amp; Technical Drawings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566928" y="37947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EEF6"/>
                </a:solidFill>
              </a:rPr>
              <a:t>Build a complete rocket assembly design package: CAD assembly, prototype evidence, exploded view, drawings, revisions, and final presentation.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66928" y="6172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 learning deck • LockwoodSTEM aerospace-aligned AED curriculum</a:t>
            </a:r>
          </a:p>
        </p:txBody>
      </p:sp>
      <p:pic>
        <p:nvPicPr>
          <p:cNvPr id="12" name="Picture 11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Unit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Unit 3 Learning Arc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04C"/>
                </a:solidFill>
              </a:rPr>
              <a:t>You will move from tolerance evidence to a complete rocket assembly package.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94360" y="160020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1783080"/>
            <a:ext cx="420624" cy="420624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Plan Fit Decisions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28529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Use Unit 2 tolerance results to choose fits for couplers, fins, rings, inserts, and body sections.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383280" y="160020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566160" y="1783080"/>
            <a:ext cx="420624" cy="420624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6616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Build CAD Assembly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566160" y="28529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Organize components, position parts, check alignment, apply relationships, and create an exploded view.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72200" y="160020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55080" y="1783080"/>
            <a:ext cx="420624" cy="420624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5508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Prototype + Test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355080" y="28529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Export, slice, print, assemble, test, measure, photograph, and revise the physical rocket assembly.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961120" y="1600200"/>
            <a:ext cx="2468880" cy="3931920"/>
          </a:xfrm>
          <a:prstGeom prst="roundRect">
            <a:avLst>
              <a:gd name="adj" fmla="val 296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144000" y="1783080"/>
            <a:ext cx="420624" cy="420624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144000" y="23317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Document + Present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144000" y="285292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Create part and assembly drawings, balloons, parts list, notes, revision table, and final presentation.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85800" y="58978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20"/>
                </a:solidFill>
              </a:rPr>
              <a:t>The final package should prove that your design choices were based on evidence, not guessing.</a:t>
            </a:r>
            <a:endParaRPr lang="en-US" sz="18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Unit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Unit 3 Deliverables Map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04C"/>
                </a:solidFill>
              </a:rPr>
              <a:t>Every lesson produces evidence for the final rocket assembly design package.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2487168" cy="4251960"/>
          </a:xfrm>
          <a:prstGeom prst="roundRect">
            <a:avLst>
              <a:gd name="adj" fmla="val 2941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3152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CAD Evidence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2121408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organized components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assembly layout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alignment checks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joints/relationships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exploded view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337560" y="1554480"/>
            <a:ext cx="2487168" cy="4251960"/>
          </a:xfrm>
          <a:prstGeom prst="roundRect">
            <a:avLst>
              <a:gd name="adj" fmla="val 2941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52044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Prototype Evidence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20440" y="2240280"/>
            <a:ext cx="2121408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STL/export checks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slicer screenshots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printed parts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fit testing photos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revision notes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1554480"/>
            <a:ext cx="2487168" cy="4251960"/>
          </a:xfrm>
          <a:prstGeom prst="roundRect">
            <a:avLst>
              <a:gd name="adj" fmla="val 2941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0936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Drawing Evidence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09360" y="2240280"/>
            <a:ext cx="2121408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 drawing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assembly drawing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views/dimensions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balloons/parts list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title block/revisions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915400" y="1554480"/>
            <a:ext cx="2487168" cy="4251960"/>
          </a:xfrm>
          <a:prstGeom prst="roundRect">
            <a:avLst>
              <a:gd name="adj" fmla="val 2941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09828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204C"/>
                </a:solidFill>
              </a:rPr>
              <a:t>Presentation Evidence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098280" y="2240280"/>
            <a:ext cx="2121408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assembly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 story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changes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technical documentation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next improvement</a:t>
            </a:r>
            <a:endParaRPr lang="en-US" sz="1350" dirty="0"/>
          </a:p>
        </p:txBody>
      </p:sp>
      <p:pic>
        <p:nvPicPr>
          <p:cNvPr id="21" name="Picture 20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Unit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Unit 3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Shape 5"/>
          <p:cNvSpPr/>
          <p:nvPr/>
        </p:nvSpPr>
        <p:spPr>
          <a:xfrm>
            <a:off x="6519672" y="941832"/>
            <a:ext cx="5020056" cy="5248656"/>
          </a:xfrm>
          <a:prstGeom prst="roundRect">
            <a:avLst>
              <a:gd name="adj" fmla="val 1457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/mnt/data/unit3_crops/a_clean_high_resolution_product_visualization_te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60120"/>
            <a:ext cx="4983480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37960" y="5760720"/>
            <a:ext cx="498348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647688" y="586130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Unit 3 is about moving from digital assembly to documented prototype evidence.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96012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713232" y="1106424"/>
            <a:ext cx="5111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YOUR CORE CHALLENGE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13232" y="1435608"/>
            <a:ext cx="51114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Design, assemble, test, revise, and document a 3D printed rocket assembly using evidence from tolerance testing and prototype feedback.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48640" y="233172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713232" y="2478024"/>
            <a:ext cx="5111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WHAT “FINISHED” MEANS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3232" y="2807208"/>
            <a:ext cx="51114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Finished means the CAD, physical prototype, testing evidence, drawings, parts list, revision notes, and presentation all tell the same design story.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370332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713232" y="3849624"/>
            <a:ext cx="5111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WHAT GOOD EVIDENCE LOOKS LIKE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13232" y="4178808"/>
            <a:ext cx="51114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Screenshots, photos, measurements, fit tables, revision notes, and clear drawings that show how your design changed and why.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548640" y="5074920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713232" y="5221224"/>
            <a:ext cx="511149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ENGINEERING HABIT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13232" y="5550408"/>
            <a:ext cx="511149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Do not wait until the end to document. Each lesson creates part of your final package.</a:t>
            </a:r>
            <a:endParaRPr lang="en-US" sz="1450" dirty="0"/>
          </a:p>
        </p:txBody>
      </p:sp>
      <p:pic>
        <p:nvPicPr>
          <p:cNvPr id="24" name="Picture 23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Printed Testers to Rocket Assembly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evidence from a printed tolerance tester guide a larger assembly design?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From Printed Testers to Rocket Assembly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From Printed Testers to Rocket Assembly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evidence from a printed tolerance tester guide a larger assembly design?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use Unit 2 tolerance tester evidence to begin planning a full rocket assembly.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use tolerance testing results to make fit decisions for a rocket assembly.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Unit 3 rocket assembly plan that connects tolerance evidence to fit decisions.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From Printed Testers to Rocket Assembly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Tolerance testing gives evidence for real physical fits, not just ideal CAD dimensions.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Rocket assemblies include repeated fit relationships such as couplers, fins, rings, inserts, and body sections.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Assembly decisions should be supported by measurements, observations, and recommendations from Unit 2.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nfographic_diagram_on_a_whit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Inspect alignment, fit, symmetry, and component organization before fabrication.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From Printed Testers to Rocket Assembly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Review your Unit 2 tolerance tester results and recommendation.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which rocket assembly connections need tight, snug, sliding, or loose fits.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List the major parts of your rocket assembly.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fit decision table for nose cone, body, coupler, fins, nozzle, and optional payload insert.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Set up the Unit 3 section of your engineering notebook.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From Printed Testers to Rocket Assembly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Lesson title and focus question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Summary of Unit 2 tester results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Recommended clearance or fit choice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Rocket part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Fit decision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on where tolerance evidence will be used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Unit 3 rocket assembly plan that connects tolerance evidence to fit decisions.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3.2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CAD Components and Assembly Files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Why does component organization matter in an assembly model?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CAD Components and Assembly Files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CAD Components and Assembly Files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Why does component organization matter in an assembly model?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organize rocket parts as CAD components and set up the assembly file correctly.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organize rocket parts as components inside a CAD assembly file.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rocket CAD assembly file with clearly named and organized components.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CAD Components and Assembly Files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Bodies are raw geometry; components represent parts that can be assembled, moved, named, and documented.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component names make drawings, exploded views, parts lists, and revision work easier.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well-organized assembly file reduces confusion later in the design package.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nfographic_diagram_on_a_whit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Inspect alignment, fit, symmetry, and component organization before fabrication.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CAD Components and Assembly Files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or open the file named U3_RocketAssembly_LastName.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components for nose cone, body, coupler, fins, nozzle, payload insert, and alignment features as needed.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Name components clearly in the browser.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Confirm sketches and bodies belong to the correct component.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Capture a browser screenshot showing organized components.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CAD Components and Assembly Files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Notebook notes explaining component vs. body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organized CAD browser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List of rocket components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File naming confirmation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note explaining why organization matters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rocket CAD assembly file with clearly named and organized components.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3.3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Inserting and Positioning Rocket Parts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begin turning individual parts into an organized assembly?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Inserting and Positioning Rocket Parts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Inserting and Positioning Rocket Parts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begin turning individual parts into an organized assembly?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insert or create rocket parts in the assembly and position them in approximate assembly order.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position rocket components so the assembly begins to represent the intended design.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rough rocket assembly with all major components inserted and positioned for fit checks.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Inserting and Positioning Rocket Parts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Assembly layout starts with approximate placement before precise joints and fit checks.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main body should usually be used as the reference part.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Components should be positioned logically enough to support later alignment, joints, and exploded views.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nfographic_diagram_on_a_whit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Inspect alignment, fit, symmetry, and component organization before fabrication.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Inserting and Positioning Rocket Parts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Open the rocket assembly file.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Position the body as the main reference component.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Place the nose cone, nozzle, coupler, fins, and optional payload insert in approximate locations.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Use move, rotate, and view tools carefully.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Capture screenshots showing the starting assembly layout.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Inserting and Positioning Rocket Parts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Notebook title and focus question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rough rocket assembly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List of parts inserted or positioned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identifying the main reference component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issue to fix during alignment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rough rocket assembly with all major components inserted and positioned for fit checks.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technical_infographic_diagram_on_a_whit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3.4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Assembly Alignment and Fit Checks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engineers tell whether an assembly is aligned before building it?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Assembly Alignment and Fit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Assembly Alignment and Fit Checks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engineers tell whether an assembly is aligned before building it?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technical_infographic_diagram_on_a_whit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check whether rocket components are centered, aligned, and free of obvious interference.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inspect a CAD rocket assembly for alignment, gaps, overlaps, and fit problems.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An inspected rocket assembly with documented fit and alignment issues to revise.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Assembly Alignment and Fit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Fit checks look for gaps, overlaps, interference, and alignment issues.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Multiple views are needed because a problem may not be visible from one angle.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Fit decisions should connect to Unit 2 tolerance data whenever possible.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nfographic_diagram_on_a_whit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Inspect alignment, fit, symmetry, and component organization before fabrication.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Assembly Alignment and Fit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center axis alignment for the body, nose cone, coupler, and nozzle.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Inspect fin placement and connection points.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Look for floating parts, unwanted overlaps, or blocked sliding paths.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Complete an assembly fit check table.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at least one revision to make.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Assembly Alignment and Fit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Fit check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Screenshots showing alignment checks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on gaps, overlaps, or interference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tolerance-related decision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Revision notes for the next work period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An inspected rocket assembly with documented fit and alignment issues to revise.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3.5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Joints and Assembly Relationships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joints and assembly relationships help a CAD model behave like a real assembly?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Joints and Assembly Relationships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Joints and Assembly Relationships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joints and assembly relationships help a CAD model behave like a real assembly?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use basic CAD assembly relationships to control how rocket parts connect or move.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apply assembly relationships to show which rocket parts are fixed, aligned, or movable.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rocket assembly with basic relationships that support fit, alignment, or function.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Joints and Assembly Relationships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Some parts are fixed while others may slide, rotate, or be removed.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Joints and relationships communicate function, not just location.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main reference component can be grounded so the rest of the assembly is built around it.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nfographic_diagram_on_a_whit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Inspect alignment, fit, symmetry, and component organization before fabrication.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Joints and Assembly Relationships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fixed parts and removable or movable parts.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Ground or fix the main rocket body as the assembly reference.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Apply appropriate rigid, slider, or alignment relationships where useful.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joint planning table.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Test whether relationships support the intended assembly function.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Joints and Assembly Relationships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Fixed vs. movable parts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Joint planning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at least one relationship or positioned connection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explaining one functional relationship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revision needed if a relationship does not work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rocket assembly with basic relationships that support fit, alignment, or function.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technical_infographic_diagram_on_a_whit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3.6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Fin Placement and Symmetry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Why does fin placement need to be accurate and symmetrical?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 Placement and Symmetry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Fin Placement and Symmetry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Why does fin placement need to be accurate and symmetrical?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technical_infographic_diagram_on_a_whit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place fins evenly around the rocket body and verify symmetry and alignment.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position rocket fins evenly and check that they are symmetrical and aligned.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rocket assembly with evenly spaced fins that are aligned, symmetrical, and documented.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 Placement and Symmetry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 symmetry affects assembly quality, appearance, stability, and documentation clarity.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Three fins are commonly spaced at 120 degrees; four fins are commonly spaced at 90 degrees.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Circular patterns, rotation, and top-view inspection help verify even spacing.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nfographic_diagram_on_a_whit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Inspect alignment, fit, symmetry, and component organization before fabrication.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 Placement and Symmetry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Choose a three-fin or four-fin layout.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Connect the layout to your Unit 2 fin slot or fit tester if applicable.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Use circular pattern or careful positioning to place fins evenly.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fin height, orientation, and contact with the body.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Complete a fin symmetry inspection table and revise as needed.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 Placement and Symmetry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Layout choice with 120 degree or 90 degree spacing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Unit 2 tolerance recommendation if applicable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symmetry inspection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Screenshots of top and side views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Short note explaining one fin placement revision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rocket assembly with evenly spaced fins that are aligned, symmetrical, and documented.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3.7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Rocket Assembly Revision Workday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use review evidence to improve an assembly before final documentation?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Rocket Assembly Revision Workday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Rocket Assembly Revision Workday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use review evidence to improve an assembly before final documentation?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revise the rocket CAD assembly based on alignment checks, fin symmetry, fit issues, and tolerance recommendations.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revise a rocket CAD assembly to improve fit, alignment, symmetry, and assembly quality.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revised rocket CAD assembly with improved fit, alignment, symmetry, and organization.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Rocket Assembly Revision Workday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Revision should be based on evidence, not guessing.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Priority revisions should address the issues most likely to affect fit, build quality, or documentation.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Before-and-after evidence helps prove that a design improved.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nfographic_diagram_on_a_white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Inspect alignment, fit, symmetry, and component organization before fabrication.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Rocket Assembly Revision Workday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Review fit, joint, and symmetry notes from Lessons 3.4-3.6.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priority issues such as misalignment, tight fits, loose fits, floating parts, or unclear component names.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revision plan before editing.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Revise component geometry, placement, joints, or naming as needed.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Capture before-and-after screenshots and complete a peer review check.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Rocket Assembly Revision Workday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revision plan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Before-and-after screenshots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Explanation of one major revision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showing how Unit 2 tolerance data influenced a decision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Peer review notes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revised rocket CAD assembly with improved fit, alignment, symmetry, and organization.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technical_illustration_exploded_view_di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3.8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Exploded CAD Views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can engineers show the parts of an assembly without hiding important details?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Exploded CAD 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Exploded CAD Views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can engineers show the parts of an assembly without hiding important details?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technical_illustration_exploded_view_di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create an exploded view that separates rocket assembly parts in a clear and organized way.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create an exploded CAD view that shows how the rocket assembly parts fit together.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clear exploded CAD view showing major rocket components separated, aligned, and easy to identify.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Exploded CAD 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Exploded views separate parts while keeping them aligned to their real assembly positions.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They help show part relationships, assembly order, internal components, and hidden connections.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Parts should be separated clearly, not scattered randomly.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llustration_exploded_view_di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Exploded views communicate how parts relate without hiding important geometry.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Exploded CAD 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which rocket parts should be separated in the exploded view.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Plan the direction each part should move.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Separate the nose cone, body, coupler, fins, nozzle, and optional internal parts.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Keep components aligned and spaced clearly.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Capture a full exploded view and one close-up of a connection area.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Exploded CAD 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List of components included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explaining explosion directions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full exploded assembly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one detailed connection area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Short explanation of how the exploded view improves understanding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clear exploded CAD view showing major rocket components separated, aligned, and easy to identify.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technical_illustration_exploded_view_dia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3.9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Assembly Motion and Functional Checks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check that an assembly works the way it is supposed to, not just that it looks correct?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Assembly Motion and Functional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Assembly Motion and Functional Checks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check that an assembly works the way it is supposed to, not just that it looks correct?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technical_illustration_exploded_view_dia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check whether removable, sliding, or adjustable parts in the rocket assembly behave as intended.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test functional relationships in a CAD rocket assembly and document whether parts move, fit, or connect correctly.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documented functional check showing how key parts fit, move, or remain fixed before printing.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Assembly Motion and Functional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functional check evaluates whether parts do what they are supposed to do.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Fixed parts, removable parts, and sliding parts have different fit expectations.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 should reflect the same fit intent that will be tested in the physical prototype.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technical_illustration_exploded_view_dia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Exploded views communicate how parts relate without hiding important geometry.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Assembly Motion and Functional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fixed and removable parts.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nose cone, coupler, fins, payload insert, and nozzle function.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Look for interference, blocked motion, floating parts, and alignment problems.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Complete a functional check table.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Make one revision or record one recommended improvement.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Assembly Motion and Functional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Fixed vs. removable parts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functional check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showing one functional relationship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connecting a fit decision to Unit 2 tolerance data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revision or recommended improvement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documented functional check showing how key parts fit, move, or remain fixed before printing.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highly_detailed_studio_product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3.10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Export, Slice, and Submit Rocket Parts for 3D Printing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prepare CAD parts so they can be manufactured accurately as physical prototypes?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Export, Slice, and Submit Rocket Parts for 3D Printing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Export, Slice, and Submit Rocket Parts for 3D Printing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prepare CAD parts so they can be manufactured accurately as physical prototypes?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highly_detailed_studio_product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prepare rocket components for 3D printing by exporting individual parts, checking print readiness, slicing parts, and submitting files.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prepare rocket assembly parts for 3D printing by exporting, slicing, checking settings, and submitting print-ready files.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Exported, sliced, checked, and submitted print-ready files for the rocket assembly prototype.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Export, Slice, and Submit Rocket Parts for 3D Printing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part should not be printed until the digital model has been checked for fit, alignment, and function.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STL should represent one printable part with a clear file name.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Slicer preview reveals manufacturing problems that may not be obvious in CAD.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highly_detailed_studio_product_desktop_sc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Physical prints create evidence that CAD alone cannot provide.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Export, Slice, and Submit Rocket Parts for 3D Printing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Review functional check notes and confirm the design is ready for print preparation.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which parts need to be printed and whether any should be combined or separated.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Complete a print-readiness check for size, thin features, supports, orientation, and build volume.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Export individual parts as STL files using clear names.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Import parts into the slicer, check scale/orientation, choose settings, preview, adjust, and submit print files.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7220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3679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8543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Part Name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9" name="Picture 2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Export, Slice, and Submit Rocket Parts for 3D Printing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List of parts selected for printing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Print-readiness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STL file names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Slicer screenshot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Print settings summary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print queue documentation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explaining changes made before submitting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Exported, sliced, checked, and submitted print-ready files for the rocket assembly prototype.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highly_detailed_studio_product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Prototype Assembly Build Day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well does a CAD rocket assembly translate into a physical 3D printed prototype?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Assembly Build 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Prototype Assembly Build Day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well does a CAD rocket assembly translate into a physical 3D printed prototype?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highly_detailed_studio_product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assemble their 3D printed rocket parts into a physical prototype and document how well printed parts match the CAD assembly.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build a physical rocket assembly prototype from 3D printed parts and document fit, alignment, and assembly issues.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physical 3D printed rocket assembly prototype, built or partially built, with documented fit and assembly evidence.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Assembly Build 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physical build tests the CAD model, tolerance decisions, slicer settings, and manufacturing process.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Dry fitting catches problems before parts are permanently attached.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Post-processing can change the fit of a part and should be documented.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highly_detailed_studio_product_desktop_sc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Physical prints create evidence that CAD alone cannot provide.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Assembly Build 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Collect printed rocket parts and review the CAD assembly and exploded view.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Inspect each print for defects, rough edges, missing features, or incorrect size.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Safely remove support, brim, raft, stringing, or rough edges as needed.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Lay out parts in assembly order and complete a dry fit.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Assemble the prototype using approved methods and document fit and alignment issues.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7220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3679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8543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Part / Connection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9" name="Picture 2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Assembly Build 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Photo of printed parts before assembly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Initial print inspection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Post-processing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fit and alignment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Photo of dry fit or partial assembly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Photo of final assembled prototype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describing one successful fit and one issue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physical 3D printed rocket assembly prototype, built or partially built, with documented fit and assembly evidence.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technical_infographic_diagram_on_a_white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3.12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Prototype Fit Testing and Revision Notes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does testing a physical prototype help engineers improve a CAD assembly?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Fit Testing and Revision Notes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Prototype Fit Testing and Revision Notes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does testing a physical prototype help engineers improve a CAD assembly?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technical_infographic_diagram_on_a_white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test the physical rocket prototype, compare it to CAD, and document revisions needed to improve fit, alignment, and assembly quality.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test a 3D printed rocket prototype and use evidence to recommend design revisions.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tested rocket prototype with measurement evidence and revision notes for final drawings and presentation.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Fit Testing and Revision Notes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prototype is evidence for improving the design, not just a finished object.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Fit testing compares CAD intent to actual printed and assembled results.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 revision recommendations identify the likely cause of a problem, not only the symptom.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highly_detailed_studio_product_desktop_sc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Physical prints create evidence that CAD alone cannot provide.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Fit Testing and Revision Notes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Inspect the prototype visually for missing parts, gaps, warping, cracks, or misalignment.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Classify each major connection as too tight, snug, sliding, loose, misaligned, or does not fit.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Measure at least three important features with calipers or measuring tools.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Compare physical measurements to CAD dimensions where possible.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root causes and create at least two revision recommendations.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7220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3679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8543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Part / Connection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9" name="Picture 2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 Fit Testing and Revision Notes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Prototype testing photos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prototype testing table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At least three measurement checks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comparing prototype results to CAD intent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successful fit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issue and likely cause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At least two revision recommendations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tested rocket prototype with measurement evidence and revision notes for final drawings and presentation.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scene_phot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3.13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 to Technical Drawing Sheets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turn a tested prototype and CAD model into clear technical documentation?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Introduction to Technical Drawing Sheets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Introduction to Technical Drawing Sheets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turn a tested prototype and CAD model into clear technical documentation?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scene_phot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learn how CAD models and prototype testing results become technical drawing sheets that communicate the final rocket design.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explain the purpose of a technical drawing sheet and identify the information needed to document a rocket assembly design.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started technical drawing sheet and a plan for documenting the tested rocket assembly.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Introduction to Technical Drawing Sheets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Technical drawings record final design information in a form another person can inspect, build from, or review.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Drawings should reflect what was learned from CAD and physical prototype testing.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 drawings and assembly drawings serve different communication purposes.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well_lit_engineering_workbench_scene_pho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Technical documentation turns design work into instructions others can understand.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Introduction to Technical Drawing Sheets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Review prototype testing evidence and revision notes.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the parts of a drawing sheet, including border, title block, views, scale, units, notes, and revision level.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Compare part drawings and assembly drawings.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Identify one prototype result that should influence final documentation.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basic drawing sheet from a rocket part or assembly.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Introduction to Technical Drawing Sheets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explaining what a technical drawing sheet is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Definitions of part drawing and assembly drawing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List of major drawing sheet parts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the first CAD drawing sheet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Views included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prototype testing result that should influence final drawings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started technical drawing sheet and a plan for documenting the tested rocket assembly.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scene_phot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3.14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Part and Assembly Drawing Views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choose drawing views that clearly communicate both individual parts and full assemblies?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and Assembly Drawing 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Part and Assembly Drawing Views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choose drawing views that clearly communicate both individual parts and full assemblies?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scene_phot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create technical drawing views for one rocket component and the full rocket assembly using clear view selection, dimensions, and basic annotations.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create part and assembly drawing views that clearly communicate the shape, size, and organization of my rocket design.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Started or completed part and assembly drawings with clear views, useful dimensions, and prototype-connected annotations.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and Assembly Drawing 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part drawing shows one component and includes useful dimensions.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 assembly drawing shows how multiple components fit together and identifies major parts.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best views communicate important information without cluttering the sheet.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well_lit_engineering_workbench_scene_pho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Technical documentation turns design work into instructions others can understand.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and Assembly Drawing 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Choose one rocket component for a part drawing.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main view, projected view, and isometric view for the part.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Add at least five useful dimensions.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full rocket assembly drawing with main, isometric, and additional projected view.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Add basic annotations connected to fit, function, Unit 2 tolerance data, or prototype testing.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6" name="Picture 25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 and Assembly Drawing Views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Name of selected part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part drawing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List of part drawing views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At least five important dimensions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assembly drawing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List of assembly drawing views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At least two annotations or notes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Started or completed part and assembly drawings with clear views, useful dimensions, and prototype-connected annotations.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scene_phot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3.15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Parts List, Balloons, Notes, and Revisions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make an assembly drawing complete, clear, and traceable?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Parts List, Balloons, Notes, and Revisions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Parts List, Balloons, Notes, and Revisions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make an assembly drawing complete, clear, and traceable?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scene_phot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complete the assembly drawing by adding balloons, a parts list, useful notes, title block information, and revision details.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complete an assembly drawing by identifying parts, adding documentation notes, and tracking design revisions.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An updated rocket assembly drawing with balloons, parts list, notes, title block, and revision documentation.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Parts List, Balloons, Notes, and Revisions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Balloons identify parts in the drawing and connect them to the parts list.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Drawing notes communicate fit, function, assembly order, tolerance, and prototype evidence.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Revision tables make design changes traceable.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well_lit_engineering_workbench_scene_pho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Technical documentation turns design work into instructions others can understand.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Parts List, Balloons, Notes, and Revisions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Add balloons to each major rocket component.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Insert or update a parts list with item number, part name, quantity, material/process, and notes.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Add notes about fit, Unit 2 tolerance testing, prototype testing, and assembly order or function.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Complete title block information on part and assembly drawings.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Create a revision table documenting at least one meaningful design revision.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7220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3679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8543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Revision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9" name="Picture 2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Parts List, Balloons, Notes, and Revisions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assembly drawing with balloons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Parts 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At least four drawing notes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title block information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Revision table with at least one meaningful revision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Notes explaining how prototype testing influenced documentation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An updated rocket assembly drawing with balloons, parts list, notes, title block, and revision documentation.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3.16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Final Rocket Assembly Design Package Workday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do engineers organize design evidence into a final package that clearly communicates the completed assembly?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Rocket Assembly Design Package Workday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Final Rocket Assembly Design Package Workday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do engineers organize design evidence into a final package that clearly communicates the completed assembly?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organize, revise, and finalize CAD, prototype, drawing, testing, and documentation evidence into one complete rocket assembly design package.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prepare a complete rocket assembly design package that documents my CAD model, physical prototype, testing evidence, revisions, and final drawings.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complete final rocket assembly design package ready to support the final presentation.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Rocket Assembly Design Package Workday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strong design package shows the full engineering process from CAD to physical prototype to final documentation.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documentation should include both successful evidence and revision evidence.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final package should prepare students to explain their assembly clearly during presentation.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well_lit_engineering_workbench_scene_pho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Technical documentation turns design work into instructions others can understand.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Rocket Assembly Design Package Workday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the final CAD assembly for parts, alignment, symmetry, fit decisions, and clear names.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Organize prototype photos and measurement evidence.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Check the exploded view, part drawing, assembly drawing, parts list, balloons, notes, title block, and revision table.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Complete a final design package checklist.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Revise weak areas and draft the final design explanation.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7220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3679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8543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Package Item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9" name="Picture 2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Rocket Assembly Design Package Workday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Completed final design package checklist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final CAD assembly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exploded view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Prototype photos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part drawing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Screenshot of assembly drawing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Final revision notes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complete final rocket assembly design package ready to support the final presentation.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well_lit_engineering_workbench_desktop_sc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AED • UNIT 3</a:t>
            </a:r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B20"/>
                </a:solidFill>
              </a:rPr>
              <a:t>Lesson 3.17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22677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Final Rocket Assembly Presentation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3456432"/>
            <a:ext cx="4389120" cy="0"/>
          </a:xfrm>
          <a:prstGeom prst="line">
            <a:avLst/>
          </a:prstGeom>
          <a:noFill/>
          <a:ln w="254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E8EEF6"/>
                </a:solidFill>
              </a:rPr>
              <a:t>How well did your CAD design translate into a physical rocket assembly prototype?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6263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6E2"/>
                </a:solidFill>
              </a:rPr>
              <a:t>CAD Assemblies, Prototyping &amp; Technical Drawings</a:t>
            </a:r>
            <a:endParaRPr lang="en-US" sz="10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Rocket Assembly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Final Rocket Assembly Presentation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B6770"/>
                </a:solidFill>
              </a:rPr>
              <a:t>How well did your CAD design translate into a physical rocket assembly prototype?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11112" y="941832"/>
            <a:ext cx="4837176" cy="5266944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mnt/data/unit3_crops/a_clean_well_lit_engineering_workbench_desktop_sc_pa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60120"/>
            <a:ext cx="4800600" cy="4818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5779008"/>
            <a:ext cx="4800600" cy="411480"/>
          </a:xfrm>
          <a:prstGeom prst="rect">
            <a:avLst/>
          </a:prstGeom>
          <a:solidFill>
            <a:srgbClr val="0A204C">
              <a:alpha val="95000"/>
            </a:srgbClr>
          </a:solidFill>
          <a:ln w="12700">
            <a:solidFill>
              <a:srgbClr val="0A204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6739128" y="5879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 assembly work depends on fit, alignment, documentation, and testing evidence.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205740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3232" y="220370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LESSON GOAL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" y="253288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Students present the final rocket assembly and explain how CAD modeling, 3D printing, testing, revision, and documentation support the completed design.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13232" y="3511296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STUDENT OBJECTIVE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" y="3840480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I can present my final rocket assembly and explain how CAD modeling, prototyping, testing, and documentation were used to improve the design.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48640" y="4663440"/>
            <a:ext cx="5577840" cy="1097280"/>
          </a:xfrm>
          <a:prstGeom prst="roundRect">
            <a:avLst>
              <a:gd name="adj" fmla="val 5833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3232" y="4809744"/>
            <a:ext cx="524865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F8A5B"/>
                </a:solidFill>
              </a:rPr>
              <a:t>END PRODUCT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13232" y="5138928"/>
            <a:ext cx="5248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completed final rocket assembly presentation supported by the physical prototype, CAD model, testing evidence, revisions, and technical documentation.</a:t>
            </a:r>
            <a:endParaRPr lang="en-US" sz="1450" dirty="0"/>
          </a:p>
        </p:txBody>
      </p:sp>
      <p:pic>
        <p:nvPicPr>
          <p:cNvPr id="23" name="Picture 2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Rocket Assembly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need to understand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These ideas guide the decisions you make during the lesson.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73736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BIG IDEAS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95728"/>
            <a:ext cx="50749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final presentation should explain the engineering process, not just show the finished rocket.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should connect the physical prototype to CAD, tolerance data, drawings, testing evidence, and revisions.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strong presentation uses evidence to explain what worked, what changed, and what should improve next.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92240" y="173736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mnt/data/unit3_crops/a_clean_well_lit_engineering_workbench_scene_phot_min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452628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521208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204C"/>
                </a:solidFill>
              </a:rPr>
              <a:t>Technical documentation turns design work into instructions others can understand.</a:t>
            </a:r>
            <a:endParaRPr lang="en-US" sz="1100" dirty="0"/>
          </a:p>
        </p:txBody>
      </p:sp>
      <p:pic>
        <p:nvPicPr>
          <p:cNvPr id="16" name="Picture 15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Rocket Assembly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What you will do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workflow to produce lesson evidence for your final design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9436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0759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Show the physical 3D printed rocket assembly prototype.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691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36792" y="1929384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85432" y="185623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Explain the final CAD assembly and exploded view.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5895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0759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Connect Unit 2 tolerance testing to at least one fit decision.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72200" y="299008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36792" y="3227832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5432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Discuss prototype testing results, including one successful fit and one issue.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436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5895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0759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Show the part drawing, assembly drawing, parts list, balloons, notes, title block, and revision table.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172200" y="42885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36792" y="4526280"/>
            <a:ext cx="411480" cy="411480"/>
          </a:xfrm>
          <a:prstGeom prst="rect">
            <a:avLst/>
          </a:prstGeom>
          <a:solidFill>
            <a:srgbClr val="F47B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85432" y="44531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</a:rPr>
              <a:t>Conclude with the strongest design feature and one next-version improvement.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" y="601675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Save screenshots, photos, measurements, or notes before you move on.</a:t>
            </a:r>
            <a:endParaRPr lang="en-US" sz="1600" dirty="0"/>
          </a:p>
        </p:txBody>
      </p:sp>
      <p:pic>
        <p:nvPicPr>
          <p:cNvPr id="29" name="Picture 2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88920" y="146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A940"/>
                </a:solidFill>
              </a:rPr>
              <a:t>Lesson 3.17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15968" y="1188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Rocket Assembly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65105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</a:t>
            </a:r>
          </a:p>
        </p:txBody>
      </p:sp>
      <p:sp>
        <p:nvSpPr>
          <p:cNvPr id="8" name="Text 5"/>
          <p:cNvSpPr/>
          <p:nvPr/>
        </p:nvSpPr>
        <p:spPr>
          <a:xfrm>
            <a:off x="5029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204C"/>
                </a:solidFill>
              </a:rPr>
              <a:t>Evidence checklist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770"/>
                </a:solidFill>
              </a:rPr>
              <a:t>Use this slide to check whether your lesson evidence is ready for the final package.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REQUIRED EVIDENCE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2340864"/>
            <a:ext cx="507492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Physical rocket assembly prototype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Final CAD assembly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Exploded view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Unit 2 tolerance connection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Prototype fit testing 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One successful fit and one issue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□ Part and assembly drawings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92240" y="16916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748272" y="1947672"/>
            <a:ext cx="2743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A940"/>
                </a:solidFill>
              </a:rPr>
              <a:t>BEFORE MOVING 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48272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04C"/>
                </a:solidFill>
              </a:rPr>
              <a:t>Your work should be: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48272" y="2697480"/>
            <a:ext cx="434340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saved in the correct file or folder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clearly enough to find later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connected to a design decision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final drawings or presentation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ready for another person to understand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720840" y="5074920"/>
            <a:ext cx="443484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48272" y="5257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7B20"/>
                </a:solidFill>
              </a:rPr>
              <a:t>A completed final rocket assembly presentation supported by the physical prototype, CAD model, testing evidence, revisions, and techni…</a:t>
            </a:r>
            <a:endParaRPr lang="en-US" sz="1450" dirty="0"/>
          </a:p>
        </p:txBody>
      </p:sp>
      <p:pic>
        <p:nvPicPr>
          <p:cNvPr id="19" name="Picture 18" descr="logo_white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A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nit3_crops/a_clean_high_resolution_product_visualization_tec_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0"/>
            <a:ext cx="60652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A204C"/>
          </a:solidFill>
          <a:ln w="12700">
            <a:solidFill>
              <a:srgbClr val="0A204C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126480" y="0"/>
            <a:ext cx="109728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640080" y="1234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A940"/>
                </a:solidFill>
              </a:rPr>
              <a:t>Unit 3 Close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173736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From CAD Assembly to Design Package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3154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8EEF6"/>
                </a:solidFill>
              </a:rPr>
              <a:t>A strong final package tells the story of how your rocket assembly was planned, modeled, tested, revised, documented, and presented.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40080" y="4754880"/>
            <a:ext cx="5074920" cy="822960"/>
          </a:xfrm>
          <a:prstGeom prst="roundRect">
            <a:avLst>
              <a:gd name="adj" fmla="val 7778"/>
            </a:avLst>
          </a:prstGeom>
          <a:solidFill>
            <a:srgbClr val="EEF3F7"/>
          </a:solidFill>
          <a:ln w="12700">
            <a:solidFill>
              <a:srgbClr val="D9E6F2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04672" y="4901184"/>
            <a:ext cx="474573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7B20"/>
                </a:solidFill>
              </a:rPr>
              <a:t>FINAL MINDSET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04672" y="5230368"/>
            <a:ext cx="4745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2A36"/>
                </a:solidFill>
              </a:rPr>
              <a:t>A finished prototype is not the end of engineering — it is evidence for the next better version.</a:t>
            </a:r>
            <a:endParaRPr lang="en-US" sz="1450" dirty="0"/>
          </a:p>
        </p:txBody>
      </p:sp>
      <p:pic>
        <p:nvPicPr>
          <p:cNvPr id="13" name="Picture 12" descr="logo_white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18872"/>
            <a:ext cx="1133856" cy="338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3 LockwoodSTEM Student-Facing Deck</dc:title>
  <dc:subject>IED Unit 3 CAD Assemblies, Prototyping &amp; Technical Drawings</dc:subject>
  <dc:creator>LockwoodSTEM</dc:creator>
  <cp:lastModifiedBy>LockwoodSTEM</cp:lastModifiedBy>
  <cp:revision>1</cp:revision>
  <dcterms:created xsi:type="dcterms:W3CDTF">2026-06-29T20:22:12Z</dcterms:created>
  <dcterms:modified xsi:type="dcterms:W3CDTF">2026-06-29T20:22:12Z</dcterms:modified>
</cp:coreProperties>
</file>