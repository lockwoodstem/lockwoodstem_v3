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6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ckwoodSTEM_Correct_Logo_White_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1792"/>
            <a:ext cx="2194560" cy="60185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" y="1554480"/>
            <a:ext cx="1051560" cy="329184"/>
          </a:xfrm>
          <a:prstGeom prst="round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A52"/>
                </a:solidFill>
              </a:rPr>
              <a:t>POE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3520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</a:rPr>
              <a:t>Force, Distance,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</a:rPr>
              <a:t>Work, and</a:t>
            </a:r>
          </a:p>
          <a:p>
            <a:pPr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</a:rPr>
              <a:t>Mechanical Advantage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DCE4ED"/>
                </a:solidFill>
              </a:rPr>
              <a:t>How can measured force and distance data help us compare mechanism designs?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5166360"/>
            <a:ext cx="3520440" cy="86868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 algn="ctr"/>
            <a:r>
              <a:rPr sz="1200" b="1">
                <a:solidFill>
                  <a:srgbClr val="E9BA42"/>
                </a:solidFill>
              </a:rPr>
              <a:t>Student deliverable</a:t>
            </a:r>
          </a:p>
          <a:p>
            <a:r>
              <a:rPr sz="1800" b="1">
                <a:solidFill>
                  <a:srgbClr val="FFFFFF"/>
                </a:solidFill>
              </a:rPr>
              <a:t>POE 1.3 Worksheet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5566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0DAE6"/>
                </a:solidFill>
              </a:rPr>
              <a:t>LockwoodSTEM  |  Principles of Engineering  | 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5566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0DAE6"/>
                </a:solidFill>
              </a:rPr>
              <a:t>01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D1F0BD-C1A2-FC88-D003-C77370A3D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1" y="1305058"/>
            <a:ext cx="6537960" cy="36795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97A"/>
                </a:solidFill>
              </a:rPr>
              <a:t>POE 1.3 | Unit 1 Lesson 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064240" cy="1828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ckwoodSTEM_Correct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554480" cy="42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5566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97A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97A"/>
                </a:solidFill>
              </a:rPr>
              <a:t>LockwoodSTEM  |  Principles of Engineering  | 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52"/>
                </a:solidFill>
              </a:rPr>
              <a:t>Today’s mission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5A697A"/>
                </a:solidFill>
              </a:rPr>
              <a:t>Use force and distance data to calculate work and compare mechanism options.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80260"/>
            <a:ext cx="4663440" cy="1965960"/>
          </a:xfrm>
          <a:prstGeom prst="roundRect">
            <a:avLst/>
          </a:prstGeom>
          <a:solidFill>
            <a:srgbClr val="F6F7F9"/>
          </a:solidFill>
          <a:ln w="15875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Learning targets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1C293B"/>
                </a:solidFill>
              </a:rPr>
              <a:t>Calculate work using W = F × d.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1C293B"/>
                </a:solidFill>
              </a:rPr>
              <a:t>Find measured mechanical advantage using MA = Fout ÷ Fin.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1C293B"/>
                </a:solidFill>
              </a:rPr>
              <a:t>Use evidence from a data table to justify a design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97A"/>
                </a:solidFill>
              </a:rPr>
              <a:t>POE 1.3 | Unit 1 Lesson 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064240" cy="1828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ckwoodSTEM_Correct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554480" cy="42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5566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97A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97A"/>
                </a:solidFill>
              </a:rPr>
              <a:t>LockwoodSTEM  |  Principles of Engineering  | 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52"/>
                </a:solidFill>
              </a:rPr>
              <a:t>Core ideas: force, distance, work, and mechanical advantage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5A697A"/>
                </a:solidFill>
              </a:rPr>
              <a:t>Aligns with worksheet Parts A–C.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2011680" cy="1280160"/>
          </a:xfrm>
          <a:prstGeom prst="roundRect">
            <a:avLst/>
          </a:prstGeom>
          <a:solidFill>
            <a:srgbClr val="EEF7FB"/>
          </a:solidFill>
          <a:ln w="15875">
            <a:solidFill>
              <a:srgbClr val="C2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>
                <a:solidFill>
                  <a:srgbClr val="0F2A52"/>
                </a:solidFill>
              </a:rPr>
              <a:t>Work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C293B"/>
                </a:solidFill>
              </a:rPr>
              <a:t>W = F × 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C293B"/>
                </a:solidFill>
              </a:rPr>
              <a:t>Energy transferred when a force moves an object.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5496" y="2103120"/>
            <a:ext cx="2240280" cy="1280160"/>
          </a:xfrm>
          <a:prstGeom prst="roundRect">
            <a:avLst/>
          </a:prstGeom>
          <a:solidFill>
            <a:srgbClr val="EDF9F6"/>
          </a:solidFill>
          <a:ln w="15875">
            <a:solidFill>
              <a:srgbClr val="C6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Measured MA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MA = Fout ÷ Fin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Compares useful output force to input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9512" y="2103120"/>
            <a:ext cx="2377440" cy="1280160"/>
          </a:xfrm>
          <a:prstGeom prst="roundRect">
            <a:avLst/>
          </a:prstGeom>
          <a:solidFill>
            <a:srgbClr val="FDF7E9"/>
          </a:solidFill>
          <a:ln w="15875">
            <a:solidFill>
              <a:srgbClr val="EFE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>
                <a:solidFill>
                  <a:srgbClr val="0F2A52"/>
                </a:solidFill>
              </a:rPr>
              <a:t>Tradeoff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C293B"/>
                </a:solidFill>
              </a:rPr>
              <a:t>Less input force usually means more input distance.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417320"/>
            <a:ext cx="2743200" cy="1965960"/>
          </a:xfrm>
          <a:prstGeom prst="roundRect">
            <a:avLst/>
          </a:prstGeom>
          <a:solidFill>
            <a:srgbClr val="F6F7F9"/>
          </a:solidFill>
          <a:ln w="15875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Vocabulary quick check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C293B"/>
                </a:solidFill>
              </a:rPr>
              <a:t>force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C293B"/>
                </a:solidFill>
              </a:rPr>
              <a:t>distance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C293B"/>
                </a:solidFill>
              </a:rPr>
              <a:t>work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C293B"/>
                </a:solidFill>
              </a:rPr>
              <a:t>input side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C293B"/>
                </a:solidFill>
              </a:rPr>
              <a:t>output side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C293B"/>
                </a:solidFill>
              </a:rPr>
              <a:t>mechanical advantage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4663440" cy="2148840"/>
          </a:xfrm>
          <a:prstGeom prst="roundRect">
            <a:avLst/>
          </a:prstGeom>
          <a:solidFill>
            <a:srgbClr val="F2F9FC"/>
          </a:solidFill>
          <a:ln w="15875">
            <a:solidFill>
              <a:srgbClr val="C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How to use the worksheet data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1. Identify the input force and input distance.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2. Calculate input work: Win = Fin × din.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3. Identify the output force and output distance.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4. Calculate measured MA: MA = Fout ÷ Fin.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5. Compare the mechanisms using evidence, not guesses.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0556" y="4846320"/>
            <a:ext cx="5074920" cy="1143000"/>
          </a:xfrm>
          <a:prstGeom prst="round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 = F × d    |    MA = Fout ÷ Fin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97A"/>
                </a:solidFill>
              </a:rPr>
              <a:t>POE 1.3 | Unit 1 Lesson 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064240" cy="1828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ckwoodSTEM_Correct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554480" cy="42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5566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97A"/>
                </a:solidFill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97A"/>
                </a:solidFill>
              </a:rPr>
              <a:t>LockwoodSTEM  |  Principles of Engineering  | 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493" y="640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52"/>
                </a:solidFill>
              </a:rPr>
              <a:t>Part D: calculate work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5A697A"/>
                </a:solidFill>
              </a:rPr>
              <a:t>Aligns with worksheet Part 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" y="1682587"/>
            <a:ext cx="2880360" cy="1354398"/>
          </a:xfrm>
          <a:prstGeom prst="roundRect">
            <a:avLst/>
          </a:prstGeom>
          <a:solidFill>
            <a:srgbClr val="FDF8E7"/>
          </a:solidFill>
          <a:ln w="15875">
            <a:solidFill>
              <a:srgbClr val="EFE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Remember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700" dirty="0">
                <a:solidFill>
                  <a:srgbClr val="1C293B"/>
                </a:solidFill>
              </a:rPr>
              <a:t>Work is measured force × measured distance. Always show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98251" y="1704415"/>
            <a:ext cx="2743200" cy="1051560"/>
          </a:xfrm>
          <a:prstGeom prst="roundRect">
            <a:avLst/>
          </a:prstGeom>
          <a:solidFill>
            <a:srgbClr val="E8F3FB"/>
          </a:solidFill>
          <a:ln w="15875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1. Lever hatch test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F = 15 N, d = 0.25 m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W =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8651" y="1704415"/>
            <a:ext cx="2743200" cy="1051560"/>
          </a:xfrm>
          <a:prstGeom prst="roundRect">
            <a:avLst/>
          </a:prstGeom>
          <a:solidFill>
            <a:srgbClr val="ECF8F5"/>
          </a:solidFill>
          <a:ln w="15875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2. Payload ramp push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F = 24 N, d = 1.00 m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W 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98251" y="3011962"/>
            <a:ext cx="2743200" cy="1051560"/>
          </a:xfrm>
          <a:prstGeom prst="roundRect">
            <a:avLst/>
          </a:prstGeom>
          <a:solidFill>
            <a:srgbClr val="FDF7E9"/>
          </a:solidFill>
          <a:ln w="15875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3. Cable pull for a small lift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F = 25 N, d = 0.75 m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W =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92449" y="3011962"/>
            <a:ext cx="2743200" cy="1051560"/>
          </a:xfrm>
          <a:prstGeom prst="roundRect">
            <a:avLst/>
          </a:prstGeom>
          <a:solidFill>
            <a:srgbClr val="E8F3FB"/>
          </a:solidFill>
          <a:ln w="15875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4. Screw actuator handle motion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F = 12 N, d = 2.40 m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W =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8251" y="4332862"/>
            <a:ext cx="2743200" cy="1051560"/>
          </a:xfrm>
          <a:prstGeom prst="roundRect">
            <a:avLst/>
          </a:prstGeom>
          <a:solidFill>
            <a:srgbClr val="ECF8F5"/>
          </a:solidFill>
          <a:ln w="15875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5. Sample door movement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F = 8 N, d = 0.60 m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 dirty="0">
                <a:solidFill>
                  <a:srgbClr val="1C293B"/>
                </a:solidFill>
              </a:rPr>
              <a:t>W =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493" y="3263774"/>
            <a:ext cx="4663440" cy="1508760"/>
          </a:xfrm>
          <a:prstGeom prst="roundRect">
            <a:avLst/>
          </a:prstGeom>
          <a:solidFill>
            <a:srgbClr val="F6F7F9"/>
          </a:solidFill>
          <a:ln w="15875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Part E: interpret work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C293B"/>
                </a:solidFill>
              </a:rPr>
              <a:t>Which setup required the most work? </a:t>
            </a:r>
            <a:endParaRPr lang="en-US" sz="1600" dirty="0">
              <a:solidFill>
                <a:srgbClr val="1C293B"/>
              </a:solidFill>
            </a:endParaRP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C293B"/>
                </a:solidFill>
              </a:rPr>
              <a:t>How do you know?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C293B"/>
                </a:solidFill>
              </a:rPr>
              <a:t>Which setup might feel easiest even if the distance is longer?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97A"/>
                </a:solidFill>
              </a:rPr>
              <a:t>POE 1.3 | Unit 1 Lesson 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064240" cy="1828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ckwoodSTEM_Correct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554480" cy="42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5566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97A"/>
                </a:solidFill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97A"/>
                </a:solidFill>
              </a:rPr>
              <a:t>LockwoodSTEM  |  Principles of Engineering  | 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5486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F2A52"/>
                </a:solidFill>
              </a:rPr>
              <a:t>Example mechanisms: inclined plane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1860" y="5638564"/>
            <a:ext cx="5074920" cy="548640"/>
          </a:xfrm>
          <a:prstGeom prst="roundRect">
            <a:avLst/>
          </a:prstGeom>
          <a:solidFill>
            <a:srgbClr val="EEF7FB"/>
          </a:solidFill>
          <a:ln w="15875">
            <a:solidFill>
              <a:srgbClr val="C2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700">
                <a:solidFill>
                  <a:srgbClr val="1C293B"/>
                </a:solidFill>
              </a:rPr>
              <a:t>Key idea: more distance can reduce the force needed.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3782AB0-F5F4-B152-5454-20F74BE96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478" y="1223963"/>
            <a:ext cx="7633043" cy="42958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D96AE-1C4A-AAC1-3C17-15888331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466558-7FA8-1E9E-2CCF-43DB8E792A8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61428-B5D1-4035-F5A7-282D9688BA37}"/>
              </a:ext>
            </a:extLst>
          </p:cNvPr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97A"/>
                </a:solidFill>
              </a:rPr>
              <a:t>POE 1.3 | Unit 1 Lesson 1.3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601627-25CE-D394-BA12-A829EEA1FE82}"/>
              </a:ext>
            </a:extLst>
          </p:cNvPr>
          <p:cNvSpPr/>
          <p:nvPr/>
        </p:nvSpPr>
        <p:spPr>
          <a:xfrm>
            <a:off x="502920" y="530352"/>
            <a:ext cx="11064240" cy="1828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ckwoodSTEM_Correct_Logo_Navy.png">
            <a:extLst>
              <a:ext uri="{FF2B5EF4-FFF2-40B4-BE49-F238E27FC236}">
                <a16:creationId xmlns:a16="http://schemas.microsoft.com/office/drawing/2014/main" id="{031D0353-3BAB-CFEF-86D0-0353CD693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554480" cy="426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26F3DE-095C-C9F0-A63A-B534F2B78BFF}"/>
              </a:ext>
            </a:extLst>
          </p:cNvPr>
          <p:cNvSpPr txBox="1"/>
          <p:nvPr/>
        </p:nvSpPr>
        <p:spPr>
          <a:xfrm>
            <a:off x="11475720" y="645566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97A"/>
                </a:solidFill>
              </a:rPr>
              <a:t>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26445-5917-204A-7153-25941102CD77}"/>
              </a:ext>
            </a:extLst>
          </p:cNvPr>
          <p:cNvSpPr txBox="1"/>
          <p:nvPr/>
        </p:nvSpPr>
        <p:spPr>
          <a:xfrm>
            <a:off x="502920" y="6400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97A"/>
                </a:solidFill>
              </a:rPr>
              <a:t>LockwoodSTEM  |  Principles of Engineering  |  Unit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7CEE5-D22C-CFDC-91D5-3606ECB82CDF}"/>
              </a:ext>
            </a:extLst>
          </p:cNvPr>
          <p:cNvSpPr txBox="1"/>
          <p:nvPr/>
        </p:nvSpPr>
        <p:spPr>
          <a:xfrm>
            <a:off x="502920" y="731520"/>
            <a:ext cx="5486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F2A52"/>
                </a:solidFill>
              </a:rPr>
              <a:t>Example mechanisms: lever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095C1D-CF4E-D1E2-CB67-D8E65264F27B}"/>
              </a:ext>
            </a:extLst>
          </p:cNvPr>
          <p:cNvSpPr/>
          <p:nvPr/>
        </p:nvSpPr>
        <p:spPr>
          <a:xfrm>
            <a:off x="3558539" y="6124669"/>
            <a:ext cx="5074920" cy="548640"/>
          </a:xfrm>
          <a:prstGeom prst="roundRect">
            <a:avLst/>
          </a:prstGeom>
          <a:solidFill>
            <a:srgbClr val="EDF9F6"/>
          </a:solidFill>
          <a:ln w="15875">
            <a:solidFill>
              <a:srgbClr val="C6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700" dirty="0">
                <a:solidFill>
                  <a:srgbClr val="1C293B"/>
                </a:solidFill>
              </a:rPr>
              <a:t>Key idea: a longer input arm can multiply the useful output force.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4A959F-BD58-8FEE-F349-50FE96578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605" y="1209144"/>
            <a:ext cx="8298789" cy="467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8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97A"/>
                </a:solidFill>
              </a:rPr>
              <a:t>POE 1.3 | Unit 1 Lesson 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064240" cy="1828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ckwoodSTEM_Correct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554480" cy="42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5566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97A"/>
                </a:solidFill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97A"/>
                </a:solidFill>
              </a:rPr>
              <a:t>LockwoodSTEM  |  Principles of Engineering  | 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5943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F2A52"/>
                </a:solidFill>
              </a:rPr>
              <a:t>More mechanism examples: screw </a:t>
            </a:r>
            <a:endParaRPr lang="en-US" sz="2600" b="1" dirty="0">
              <a:solidFill>
                <a:srgbClr val="0F2A52"/>
              </a:solidFill>
            </a:endParaRPr>
          </a:p>
          <a:p>
            <a:r>
              <a:rPr sz="1600" dirty="0">
                <a:solidFill>
                  <a:srgbClr val="5A697A"/>
                </a:solidFill>
              </a:rPr>
              <a:t>Notice how each mechanism changes motion in a different 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9060" y="5996201"/>
            <a:ext cx="5074920" cy="548640"/>
          </a:xfrm>
          <a:prstGeom prst="roundRect">
            <a:avLst/>
          </a:prstGeom>
          <a:solidFill>
            <a:srgbClr val="FDF7E9"/>
          </a:solidFill>
          <a:ln w="15875">
            <a:solidFill>
              <a:srgbClr val="EFE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700" dirty="0">
                <a:solidFill>
                  <a:srgbClr val="1C293B"/>
                </a:solidFill>
              </a:rPr>
              <a:t>Screw actuators trade speed for precise, controlled lifting.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3E5F96-632B-BB5A-09D1-1AD0A4DE9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19" y="1470184"/>
            <a:ext cx="7571041" cy="426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A1FD6-11FA-6169-C3BC-7D3D4ACA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C14743-E2DB-6CE1-AA62-3DA9AC3D04B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35D9D-FB2B-B5A6-5D61-D514E4FF7E7A}"/>
              </a:ext>
            </a:extLst>
          </p:cNvPr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97A"/>
                </a:solidFill>
              </a:rPr>
              <a:t>POE 1.3 | Unit 1 Lesson 1.3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342F2A-6009-897A-5ED9-1E47476FF1AC}"/>
              </a:ext>
            </a:extLst>
          </p:cNvPr>
          <p:cNvSpPr/>
          <p:nvPr/>
        </p:nvSpPr>
        <p:spPr>
          <a:xfrm>
            <a:off x="502920" y="530352"/>
            <a:ext cx="11064240" cy="1828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ckwoodSTEM_Correct_Logo_Navy.png">
            <a:extLst>
              <a:ext uri="{FF2B5EF4-FFF2-40B4-BE49-F238E27FC236}">
                <a16:creationId xmlns:a16="http://schemas.microsoft.com/office/drawing/2014/main" id="{ECABF28F-8CA3-9F5F-BF03-ED32D256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554480" cy="426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571B3A-E5F9-2CB8-BB54-4AC1D132DDB6}"/>
              </a:ext>
            </a:extLst>
          </p:cNvPr>
          <p:cNvSpPr txBox="1"/>
          <p:nvPr/>
        </p:nvSpPr>
        <p:spPr>
          <a:xfrm>
            <a:off x="11475720" y="645566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97A"/>
                </a:solidFill>
              </a:rP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284BA1-6CFE-4927-5745-4709C8328709}"/>
              </a:ext>
            </a:extLst>
          </p:cNvPr>
          <p:cNvSpPr txBox="1"/>
          <p:nvPr/>
        </p:nvSpPr>
        <p:spPr>
          <a:xfrm>
            <a:off x="502920" y="6400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97A"/>
                </a:solidFill>
              </a:rPr>
              <a:t>LockwoodSTEM  |  Principles of Engineering  |  Unit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6669D-4B12-92E7-3EDD-F12D77183416}"/>
              </a:ext>
            </a:extLst>
          </p:cNvPr>
          <p:cNvSpPr txBox="1"/>
          <p:nvPr/>
        </p:nvSpPr>
        <p:spPr>
          <a:xfrm>
            <a:off x="502920" y="731520"/>
            <a:ext cx="594360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F2A52"/>
                </a:solidFill>
              </a:rPr>
              <a:t>More mechanism examples: pulley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5A697A"/>
                </a:solidFill>
              </a:rPr>
              <a:t>Notice how each mechanism changes motion in a different way.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7841800-AB61-B2B7-F76C-E3A18217CD2D}"/>
              </a:ext>
            </a:extLst>
          </p:cNvPr>
          <p:cNvSpPr/>
          <p:nvPr/>
        </p:nvSpPr>
        <p:spPr>
          <a:xfrm>
            <a:off x="3909060" y="5840119"/>
            <a:ext cx="5074920" cy="548640"/>
          </a:xfrm>
          <a:prstGeom prst="roundRect">
            <a:avLst/>
          </a:prstGeom>
          <a:solidFill>
            <a:srgbClr val="EEF7FB"/>
          </a:solidFill>
          <a:ln w="15875">
            <a:solidFill>
              <a:srgbClr val="C2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700">
                <a:solidFill>
                  <a:srgbClr val="1C293B"/>
                </a:solidFill>
              </a:rPr>
              <a:t>Pulleys can change direction and can be arranged to increase mechanical advantage.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B77962-F1FE-38F2-AC50-2D3B579B8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857" y="1580060"/>
            <a:ext cx="7028286" cy="395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28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97A"/>
                </a:solidFill>
              </a:rPr>
              <a:t>POE 1.3 | Unit 1 Lesson 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064240" cy="1828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ckwoodSTEM_Correct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554480" cy="42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5566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97A"/>
                </a:solidFill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97A"/>
                </a:solidFill>
              </a:rPr>
              <a:t>LockwoodSTEM  |  Principles of Engineering  | 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52"/>
                </a:solidFill>
              </a:rPr>
              <a:t>Parts F &amp; G: data table and measured mechanical advantage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783080"/>
          <a:ext cx="4892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Fin (N)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din (m)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Fout (N)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dout (m)</a:t>
                      </a:r>
                    </a:p>
                  </a:txBody>
                  <a:tcPr>
                    <a:solidFill>
                      <a:srgbClr val="0F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Lever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Ramp test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2.00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Pulley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Screw test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3.00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93B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4343400"/>
            <a:ext cx="5577840" cy="1234440"/>
          </a:xfrm>
          <a:prstGeom prst="roundRect">
            <a:avLst/>
          </a:prstGeom>
          <a:solidFill>
            <a:srgbClr val="F2F9FC"/>
          </a:solidFill>
          <a:ln w="15875">
            <a:solidFill>
              <a:srgbClr val="C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>
                <a:solidFill>
                  <a:srgbClr val="0F2A52"/>
                </a:solidFill>
              </a:rPr>
              <a:t>Model one calculation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C293B"/>
                </a:solidFill>
              </a:rPr>
              <a:t>Example: lever test measured MA = Fout ÷ Fin = 45 ÷ 15 = 3.0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C293B"/>
                </a:solidFill>
              </a:rPr>
              <a:t>Then compare that value with the other mechanisms.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783080"/>
            <a:ext cx="4526280" cy="3794760"/>
          </a:xfrm>
          <a:prstGeom prst="roundRect">
            <a:avLst/>
          </a:prstGeom>
          <a:solidFill>
            <a:srgbClr val="F6F7F9"/>
          </a:solidFill>
          <a:ln w="15875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Questions to answer from the data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1C293B"/>
                </a:solidFill>
              </a:rPr>
              <a:t>Which mechanism has the greatest measured mechanical advantage?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1C293B"/>
                </a:solidFill>
              </a:rPr>
              <a:t>Choose one mechanism where the input distance is larger than the output distance. Explain the tradeoff.</a:t>
            </a:r>
          </a:p>
          <a:p>
            <a:pPr marL="285750" indent="-285750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1C293B"/>
                </a:solidFill>
              </a:rPr>
              <a:t>Why is output work often less than input work in a real mechanism?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97A"/>
                </a:solidFill>
              </a:rPr>
              <a:t>POE 1.3 | Unit 1 Lesson 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064240" cy="1828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ckwoodSTEM_Correct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554480" cy="42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5566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97A"/>
                </a:solidFill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97A"/>
                </a:solidFill>
              </a:rPr>
              <a:t>LockwoodSTEM  |  Principles of Engineering  | 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52"/>
                </a:solidFill>
              </a:rPr>
              <a:t>Part H: engineering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2743200" cy="1371600"/>
          </a:xfrm>
          <a:prstGeom prst="roundRect">
            <a:avLst/>
          </a:prstGeom>
          <a:solidFill>
            <a:srgbClr val="FDF8E7"/>
          </a:solidFill>
          <a:ln w="15875">
            <a:solidFill>
              <a:srgbClr val="EFE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Mission scenario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dirty="0">
                <a:solidFill>
                  <a:srgbClr val="1C293B"/>
                </a:solidFill>
              </a:rPr>
              <a:t>A lunar rover must lift a sealed sample container into a storage bay.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069080"/>
            <a:ext cx="2743200" cy="1664208"/>
          </a:xfrm>
          <a:prstGeom prst="roundRect">
            <a:avLst/>
          </a:prstGeom>
          <a:solidFill>
            <a:srgbClr val="EEF7FB"/>
          </a:solidFill>
          <a:ln w="15875">
            <a:solidFill>
              <a:srgbClr val="C2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Questions 10–12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dirty="0">
                <a:solidFill>
                  <a:srgbClr val="1C293B"/>
                </a:solidFill>
              </a:rPr>
              <a:t>Recommend an option, describe one tradeoff, and name one more test you would run before building the final design.</a:t>
            </a:r>
          </a:p>
        </p:txBody>
      </p:sp>
      <p:pic>
        <p:nvPicPr>
          <p:cNvPr id="12" name="Picture 11" descr="s8opt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13002"/>
            <a:ext cx="7406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97A"/>
                </a:solidFill>
              </a:rPr>
              <a:t>POE 1.3 | Unit 1 Lesson 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064240" cy="1828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ckwoodSTEM_Correct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1554480" cy="426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5566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97A"/>
                </a:solidFill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97A"/>
                </a:solidFill>
              </a:rPr>
              <a:t>LockwoodSTEM  |  Principles of Engineering  | 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52"/>
                </a:solidFill>
              </a:rPr>
              <a:t>Exit check and preview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5A697A"/>
                </a:solidFill>
              </a:rPr>
              <a:t>Wrap up the worksheet and get ready for Lesson 1.4.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4644" y="2124253"/>
            <a:ext cx="3749039" cy="1828800"/>
          </a:xfrm>
          <a:prstGeom prst="roundRect">
            <a:avLst/>
          </a:prstGeom>
          <a:solidFill>
            <a:srgbClr val="FDF8E7"/>
          </a:solidFill>
          <a:ln w="15875">
            <a:solidFill>
              <a:srgbClr val="EFE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>
                <a:solidFill>
                  <a:srgbClr val="0F2A52"/>
                </a:solidFill>
              </a:rPr>
              <a:t>Exit check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1C293B"/>
                </a:solidFill>
              </a:rPr>
              <a:t>A mechanism has input force 12 N and output force 48 N.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1C293B"/>
                </a:solidFill>
              </a:rPr>
              <a:t>What is the measured mechanical advantage?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1C293B"/>
                </a:solidFill>
              </a:rPr>
              <a:t>Show the setup: MA = Fout ÷ Fin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63996" y="2124254"/>
            <a:ext cx="4023360" cy="1828800"/>
          </a:xfrm>
          <a:prstGeom prst="roundRect">
            <a:avLst/>
          </a:prstGeom>
          <a:solidFill>
            <a:srgbClr val="EDF9F6"/>
          </a:solidFill>
          <a:ln w="15875">
            <a:solidFill>
              <a:srgbClr val="C6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Answer check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800" dirty="0">
                <a:solidFill>
                  <a:srgbClr val="1C293B"/>
                </a:solidFill>
              </a:rPr>
              <a:t>MA = 48 ÷ 12 = 4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800" dirty="0">
                <a:solidFill>
                  <a:srgbClr val="1C293B"/>
                </a:solidFill>
              </a:rPr>
              <a:t>A mechanical advantage of 4 means the output force is four times the input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4644" y="4797147"/>
            <a:ext cx="7982712" cy="941560"/>
          </a:xfrm>
          <a:prstGeom prst="roundRect">
            <a:avLst/>
          </a:prstGeom>
          <a:solidFill>
            <a:srgbClr val="F6F7F9"/>
          </a:solidFill>
          <a:ln w="15875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/>
            <a:r>
              <a:rPr sz="1800" b="1" dirty="0">
                <a:solidFill>
                  <a:srgbClr val="0F2A52"/>
                </a:solidFill>
              </a:rPr>
              <a:t>Summary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700" dirty="0">
                <a:solidFill>
                  <a:srgbClr val="1C293B"/>
                </a:solidFill>
              </a:rPr>
              <a:t>Work tells us how much energy is transferred through motion. Mechanical advantage helps us compare how effectively a mechanism multiplies 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884</Words>
  <Application>Microsoft Office PowerPoint</Application>
  <PresentationFormat>Widescreen</PresentationFormat>
  <Paragraphs>151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Jonathan Lockwood</cp:lastModifiedBy>
  <cp:revision>2</cp:revision>
  <dcterms:created xsi:type="dcterms:W3CDTF">2013-01-27T09:14:16Z</dcterms:created>
  <dcterms:modified xsi:type="dcterms:W3CDTF">2026-09-04T02:35:22Z</dcterms:modified>
  <cp:category/>
</cp:coreProperties>
</file>