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463040" cy="502920"/>
          </a:xfrm>
          <a:prstGeom prst="rect">
            <a:avLst/>
          </a:prstGeom>
        </p:spPr>
      </p:pic>
      <p:pic>
        <p:nvPicPr>
          <p:cNvPr id="3" name="Image 1" descr="/mnt/data/site_orig/LockwoodSTEM_V3-main/assets/img/course-icons/ied-course-icon.png">    </p:cNvPr>
          <p:cNvPicPr>
            <a:picLocks noChangeAspect="1"/>
          </p:cNvPicPr>
          <p:nvPr/>
        </p:nvPicPr>
        <p:blipFill>
          <a:blip r:embed="rId2">
            <a:alphaModFix amt="96000"/>
          </a:blip>
          <a:stretch>
            <a:fillRect/>
          </a:stretch>
        </p:blipFill>
        <p:spPr>
          <a:xfrm>
            <a:off x="9646920" y="457200"/>
            <a:ext cx="1417320" cy="1417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225296"/>
            <a:ext cx="5486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4 • LESSON 4.15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609344"/>
            <a:ext cx="7589520" cy="10789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Build Day 1: Structure and Mechanism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658368" y="3063240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8368" y="3364992"/>
            <a:ext cx="777240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engineers build the structure and core mechanism of a prototype?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583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729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D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3375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875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8521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6217920"/>
            <a:ext cx="7772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Mechanisms, Materials &amp; Electromechanical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the system-thinking habits used throughout Unit 4.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1572768"/>
            <a:ext cx="3886200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737360"/>
            <a:ext cx="34655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86968" y="2139696"/>
            <a:ext cx="33832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 the main structure using the approved plan and materials.</a:t>
            </a:r>
            <a:endParaRPr lang="en-US" sz="1280" dirty="0"/>
          </a:p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 the mechanism so it can move or transfer force as intended.</a:t>
            </a:r>
            <a:endParaRPr lang="en-US" sz="1280" dirty="0"/>
          </a:p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build changes, problems, and solutions.</a:t>
            </a:r>
            <a:endParaRPr lang="en-US" sz="1280" dirty="0"/>
          </a:p>
        </p:txBody>
      </p:sp>
      <p:sp>
        <p:nvSpPr>
          <p:cNvPr id="11" name="Shape 8"/>
          <p:cNvSpPr/>
          <p:nvPr/>
        </p:nvSpPr>
        <p:spPr>
          <a:xfrm>
            <a:off x="4709160" y="1572768"/>
            <a:ext cx="3063240" cy="2331720"/>
          </a:xfrm>
          <a:prstGeom prst="roundRect">
            <a:avLst>
              <a:gd name="adj" fmla="val 5882"/>
            </a:avLst>
          </a:prstGeom>
          <a:solidFill>
            <a:srgbClr val="F7FBFF"/>
          </a:solidFill>
          <a:ln w="12700">
            <a:solidFill>
              <a:srgbClr val="C9E6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9472" y="1737360"/>
            <a:ext cx="26426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103120"/>
            <a:ext cx="260604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build the prototype structure and mechanism while documenting construction evidence.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01000" y="1572768"/>
            <a:ext cx="3520440" cy="4023360"/>
          </a:xfrm>
          <a:prstGeom prst="roundRect">
            <a:avLst>
              <a:gd name="adj" fmla="val 3896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11312" y="1737360"/>
            <a:ext cx="30998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139696"/>
            <a:ext cx="301752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Opening prompt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Quick vote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Unit 4 connection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Core skill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Evidence challenge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Scenario check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Exit debrief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713232" y="4709160"/>
            <a:ext cx="6675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your claim about today’s work should connect to evidence someone else can inspect.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engineers build the structure and core mechanism of a prototype?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2331720"/>
            <a:ext cx="5166360" cy="1965960"/>
          </a:xfrm>
          <a:prstGeom prst="roundRect">
            <a:avLst>
              <a:gd name="adj" fmla="val 697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1832" y="2496312"/>
            <a:ext cx="474573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862072"/>
            <a:ext cx="4709160" cy="1307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materials, forces, motion, circuit behavior, or data would help answer today’s focus question?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2331720"/>
            <a:ext cx="4617720" cy="1965960"/>
          </a:xfrm>
          <a:prstGeom prst="roundRect">
            <a:avLst>
              <a:gd name="adj" fmla="val 697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73952" y="2496312"/>
            <a:ext cx="41970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2862072"/>
            <a:ext cx="4160520" cy="1307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 specific engineering action word.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5074920"/>
            <a:ext cx="9144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" y="1298448"/>
            <a:ext cx="10716768" cy="1207008"/>
          </a:xfrm>
          <a:prstGeom prst="roundRect">
            <a:avLst>
              <a:gd name="adj" fmla="val 1136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3544" y="1463040"/>
            <a:ext cx="10296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" y="1828800"/>
            <a:ext cx="102595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build, align, document so an aerospace system can be built, tested, revised, and defended with evidence.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 the main structure using the approved plan and materials.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16052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2744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2744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 the mechanism so it can move or transfer force as intended.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745236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1928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1928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build changes, problems, and solutions.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868680" y="5193792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good systems combine structure, motion, electrical behavior, and data into one clear design story.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9509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prototype build day 1: structure and mechanism?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249631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 first example without checking the system goal</a:t>
            </a:r>
            <a:endParaRPr lang="en-US" sz="126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2512" y="249631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evidence and criteria to make a controlled decision</a:t>
            </a:r>
            <a:endParaRPr lang="en-US" sz="1260" dirty="0"/>
          </a:p>
        </p:txBody>
      </p:sp>
      <p:sp>
        <p:nvSpPr>
          <p:cNvPr id="15" name="Shape 12"/>
          <p:cNvSpPr/>
          <p:nvPr/>
        </p:nvSpPr>
        <p:spPr>
          <a:xfrm>
            <a:off x="777240" y="365760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552" y="382219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simplest option because it is fastest</a:t>
            </a:r>
            <a:endParaRPr lang="en-US" sz="1260" dirty="0"/>
          </a:p>
        </p:txBody>
      </p:sp>
      <p:sp>
        <p:nvSpPr>
          <p:cNvPr id="18" name="Shape 15"/>
          <p:cNvSpPr/>
          <p:nvPr/>
        </p:nvSpPr>
        <p:spPr>
          <a:xfrm>
            <a:off x="6172200" y="365760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82512" y="382219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prototype look finished before testing it</a:t>
            </a:r>
            <a:endParaRPr lang="en-US" sz="1260" dirty="0"/>
          </a:p>
        </p:txBody>
      </p:sp>
      <p:sp>
        <p:nvSpPr>
          <p:cNvPr id="21" name="Text 18"/>
          <p:cNvSpPr/>
          <p:nvPr/>
        </p:nvSpPr>
        <p:spPr>
          <a:xfrm>
            <a:off x="777240" y="5321808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417320"/>
            <a:ext cx="3703320" cy="2057400"/>
          </a:xfrm>
          <a:prstGeom prst="roundRect">
            <a:avLst>
              <a:gd name="adj" fmla="val 6667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1581912"/>
            <a:ext cx="32826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47672"/>
            <a:ext cx="32461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— Build and document the functional structure and mechanism before adding extras.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29260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10912" y="1581912"/>
            <a:ext cx="25054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evidence, criteria, or system behavior instead of guessing.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29260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11312" y="1581912"/>
            <a:ext cx="25054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IED, your answer is stronger when it connects a system claim to observable proof.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 CONNECTION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Systems Evidence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 connects materials, mechanisms, motion, data, circuits, and prototype testing into one working system.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 + structure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 and stiffness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 and durability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limits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test evidence</a:t>
            </a:r>
            <a:endParaRPr lang="en-US" sz="1340" dirty="0"/>
          </a:p>
        </p:txBody>
      </p:sp>
      <p:sp>
        <p:nvSpPr>
          <p:cNvPr id="11" name="Shape 8"/>
          <p:cNvSpPr/>
          <p:nvPr/>
        </p:nvSpPr>
        <p:spPr>
          <a:xfrm>
            <a:off x="443484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515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+ motion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2744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motion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Friction and force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and alignment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checks</a:t>
            </a:r>
            <a:endParaRPr lang="en-US" sz="1340" dirty="0"/>
          </a:p>
        </p:txBody>
      </p:sp>
      <p:sp>
        <p:nvSpPr>
          <p:cNvPr id="14" name="Shape 11"/>
          <p:cNvSpPr/>
          <p:nvPr/>
        </p:nvSpPr>
        <p:spPr>
          <a:xfrm>
            <a:off x="818388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9419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Circuits +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7648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connections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or electrical function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protocol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Graphs and conclusions</a:t>
            </a:r>
            <a:endParaRPr lang="en-US" sz="134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build the prototype structure and mechanism while documenting construction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system evidence source and connect it to today’s lesson.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1856232"/>
            <a:ext cx="3236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258568"/>
            <a:ext cx="315468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test result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sketch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Friction observation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 check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or data table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416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8032" y="1856232"/>
            <a:ext cx="611733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21992"/>
            <a:ext cx="6080760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build, align, or document the prototype system?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31520" y="5349240"/>
            <a:ext cx="9875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system decision + one reason it matters.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SKILL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Are Practicing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8580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functional structure before adding details.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38912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943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1772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alignment affects reliability and motion quality.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809244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0275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2104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notes should capture changes while they happen, not after they are forgotten.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143000" y="4526280"/>
            <a:ext cx="9921240" cy="868680"/>
          </a:xfrm>
          <a:prstGeom prst="roundRect">
            <a:avLst>
              <a:gd name="adj" fmla="val 15789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53312" y="4690872"/>
            <a:ext cx="95006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habit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371600" y="5056632"/>
            <a:ext cx="946404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just complete the prototype task. Save the evidence that explains how you know the system works or what should change next.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914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81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81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material, mechanism, circuit, data, or prototype.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4343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10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10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or challenges the claim: tests, graphs, observations, photos, measurements.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7772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39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39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1005840" y="333756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claim: “My prototype build day 1: structure and mechanism work is ready to move forward.”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005840" y="4069080"/>
            <a:ext cx="9144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prove the claim?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challenge it?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decision should happen next?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“My prototype build day 1: structure and mechanism work is accurate and ready to move forward.”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777240" y="20574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2219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5877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photo, graph, sketch, or model view that shows the work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172200" y="20574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2512" y="22219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25877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777240" y="29718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1363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35021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test results, circuit checks, or observations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172200" y="29718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31363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5021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 or prototype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777240" y="38862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40507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05840" y="44165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it is probably fine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777240" y="5440680"/>
            <a:ext cx="9418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two strongest pieces of evidence. 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Evidence Pair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68680" y="1417320"/>
            <a:ext cx="4754880" cy="2011680"/>
          </a:xfrm>
          <a:prstGeom prst="roundRect">
            <a:avLst>
              <a:gd name="adj" fmla="val 6818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581912"/>
            <a:ext cx="4334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947672"/>
            <a:ext cx="429768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 or observed. C shows whether it meets the requirement or supports the design decision.</a:t>
            </a:r>
            <a:endParaRPr lang="en-US" sz="1680" dirty="0"/>
          </a:p>
        </p:txBody>
      </p:sp>
      <p:sp>
        <p:nvSpPr>
          <p:cNvPr id="10" name="Shape 7"/>
          <p:cNvSpPr/>
          <p:nvPr/>
        </p:nvSpPr>
        <p:spPr>
          <a:xfrm>
            <a:off x="5989320" y="1417320"/>
            <a:ext cx="47548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9632" y="1581912"/>
            <a:ext cx="4334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Useful, but not enough alone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1947672"/>
            <a:ext cx="429768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Appearance, vague confidence, or unclear file names can support the story, but they do not prove the claim by themselves.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960120" y="4389120"/>
            <a:ext cx="9784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should connect directly to the system claim you are making.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7724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Scenario: A student working on prototype build day 1: structure and mechanism notices the result does not match the expected system behavior.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214884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31343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67919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172200" y="214884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2512" y="231343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267919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777240" y="324612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41071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377647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172200" y="324612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341071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77647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822960" y="5257800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Engineering Move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68680" y="141732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581912"/>
            <a:ext cx="3236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947672"/>
            <a:ext cx="320040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892040" y="15087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15727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58968" y="14904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58968" y="17830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with a note, photo, graph, measurement, or test result.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892040" y="24231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24871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58968" y="24048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58968" y="26974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likely cause before changing the system.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4892040" y="33375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34015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58968" y="33192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58968" y="36118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 targeted change and collect new evidence.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1005840" y="516636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use the problem as evidence, not as a reason to hide the work.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43000"/>
            <a:ext cx="9509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178308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94767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31343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prototype build day 1: structure and mechanism work is good because it looks complete.”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77240" y="278892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295351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331927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checked the relevant evidence and found the result matched the requirement.”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77240" y="379476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95935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432511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revised the design because the check showed a specific material, mechanism, circuit, or data issue.”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77240" y="5257800"/>
            <a:ext cx="67665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772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Opinion-heavy. “Looks complete” is not enough evidence.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348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451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Evidence-based. It references a check against a requirement.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924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027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210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reasoning. It connects a revision to a specific check.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4400" y="4434840"/>
            <a:ext cx="10149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= stronger engineering communication.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70432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the lesson before we move to the next system checkpoint.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1737360"/>
            <a:ext cx="10149840" cy="3154680"/>
          </a:xfrm>
          <a:prstGeom prst="roundRect">
            <a:avLst>
              <a:gd name="adj" fmla="val 4348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1901952"/>
            <a:ext cx="9729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assigned class format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61288" y="2304288"/>
            <a:ext cx="96469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thing you learned about prototype build day 1: structure and mechanism.</a:t>
            </a:r>
            <a:endParaRPr lang="en-US" sz="1800" dirty="0"/>
          </a:p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type of evidence that could support today’s design or system decision.</a:t>
            </a:r>
            <a:endParaRPr lang="en-US" sz="1800" dirty="0"/>
          </a:p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question, risk, or next step for the prototype system.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521208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4.16 — Prototype Build Day 2: Electrical or Electromechanical Integration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IED Unit 4 Lesson 4.15: Prototype Build Day 1: Structure and Mechanism</dc:title>
  <dc:subject>IED Unit 4 Lesson 4.15</dc:subject>
  <dc:creator>LockwoodSTEM</dc:creator>
  <cp:lastModifiedBy>LockwoodSTEM</cp:lastModifiedBy>
  <cp:revision>1</cp:revision>
  <dcterms:created xsi:type="dcterms:W3CDTF">2026-07-17T17:40:16Z</dcterms:created>
  <dcterms:modified xsi:type="dcterms:W3CDTF">2026-07-17T17:40:16Z</dcterms:modified>
</cp:coreProperties>
</file>