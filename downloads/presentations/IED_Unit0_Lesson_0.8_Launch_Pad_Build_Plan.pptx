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5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31978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502920"/>
            <a:ext cx="2194560" cy="65836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13232" y="1417320"/>
            <a:ext cx="2148840" cy="347472"/>
          </a:xfrm>
          <a:prstGeom prst="roundRect">
            <a:avLst>
              <a:gd name="adj" fmla="val 10526"/>
            </a:avLst>
          </a:prstGeom>
          <a:solidFill>
            <a:srgbClr val="FFC857">
              <a:alpha val="90000"/>
            </a:srgbClr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786384" y="1499616"/>
            <a:ext cx="2002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81B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IED UNIT 0 • LESSON 0.8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1874520"/>
            <a:ext cx="64008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Launch Pad
Build Plan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/>
            </a:r>
            <a:endParaRPr lang="en-US" sz="3600" dirty="0"/>
          </a:p>
        </p:txBody>
      </p:sp>
      <p:sp>
        <p:nvSpPr>
          <p:cNvPr id="7" name="Shape 4"/>
          <p:cNvSpPr/>
          <p:nvPr/>
        </p:nvSpPr>
        <p:spPr>
          <a:xfrm>
            <a:off x="749808" y="3456432"/>
            <a:ext cx="6263640" cy="914400"/>
          </a:xfrm>
          <a:prstGeom prst="roundRect">
            <a:avLst>
              <a:gd name="adj" fmla="val 5000"/>
            </a:avLst>
          </a:prstGeom>
          <a:solidFill>
            <a:srgbClr val="113C65"/>
          </a:solidFill>
          <a:ln w="13970">
            <a:solidFill>
              <a:srgbClr val="4DDCFF">
                <a:alpha val="9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987552" y="365760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C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 QUESTION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87552" y="3904488"/>
            <a:ext cx="5623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does planning make a prototype easier to build and test?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726680" y="1417320"/>
            <a:ext cx="3063240" cy="749808"/>
          </a:xfrm>
          <a:prstGeom prst="roundRect">
            <a:avLst>
              <a:gd name="adj" fmla="val 6098"/>
            </a:avLst>
          </a:prstGeom>
          <a:solidFill>
            <a:srgbClr val="123A63"/>
          </a:solidFill>
          <a:ln w="13970">
            <a:solidFill>
              <a:srgbClr val="4DDCFF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7973568" y="1563624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DDCFF"/>
                </a:solidFill>
              </a:rPr>
              <a:t>DEFINE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710928" y="1572768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EAF6FF"/>
                </a:solidFill>
              </a:rPr>
              <a:t>the problem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726680" y="2715768"/>
            <a:ext cx="3063240" cy="749808"/>
          </a:xfrm>
          <a:prstGeom prst="roundRect">
            <a:avLst>
              <a:gd name="adj" fmla="val 6098"/>
            </a:avLst>
          </a:prstGeom>
          <a:solidFill>
            <a:srgbClr val="123A63"/>
          </a:solidFill>
          <a:ln w="13970">
            <a:solidFill>
              <a:srgbClr val="2EE6A6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973568" y="2862072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E6A6"/>
                </a:solidFill>
              </a:rPr>
              <a:t>TEST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710928" y="2871216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EAF6FF"/>
                </a:solidFill>
              </a:rPr>
              <a:t>the idea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7726680" y="4014216"/>
            <a:ext cx="3063240" cy="749808"/>
          </a:xfrm>
          <a:prstGeom prst="roundRect">
            <a:avLst>
              <a:gd name="adj" fmla="val 6098"/>
            </a:avLst>
          </a:prstGeom>
          <a:solidFill>
            <a:srgbClr val="123A63"/>
          </a:solidFill>
          <a:ln w="13970">
            <a:solidFill>
              <a:srgbClr val="FFC857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7973568" y="4160520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C857"/>
                </a:solidFill>
              </a:rPr>
              <a:t>DECIDE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9710928" y="4169664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EAF6FF"/>
                </a:solidFill>
              </a:rPr>
              <a:t>with evidence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749808" y="5879592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Introduction to Engineering Design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 BRIEFING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45-Minute Flight Plan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full lesson to build the build planning habits needed for Unit 0 work.</a:t>
            </a:r>
            <a:endParaRPr lang="en-US" sz="1150" dirty="0"/>
          </a:p>
        </p:txBody>
      </p:sp>
      <p:pic>
        <p:nvPicPr>
          <p:cNvPr id="6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5800" y="1572768"/>
            <a:ext cx="4892040" cy="4343400"/>
          </a:xfrm>
          <a:prstGeom prst="roundRect">
            <a:avLst>
              <a:gd name="adj" fmla="val 1684"/>
            </a:avLst>
          </a:prstGeom>
          <a:solidFill>
            <a:srgbClr val="0F3156"/>
          </a:solidFill>
          <a:ln w="15240">
            <a:solidFill>
              <a:srgbClr val="244D76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960120" y="184708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Learning targets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987552" y="2359152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4DDCFF"/>
                </a:solidFill>
              </a:rPr>
              <a:t>•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1280160" y="2368296"/>
            <a:ext cx="3959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Refine the team concept into a build plan.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987552" y="2816352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4DDCFF"/>
                </a:solidFill>
              </a:rPr>
              <a:t>•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1280160" y="2825496"/>
            <a:ext cx="3959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labels, approximate dimensions, materials, and steps.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987552" y="3273552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4DDCFF"/>
                </a:solidFill>
              </a:rPr>
              <a:t>•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1280160" y="3282696"/>
            <a:ext cx="3959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 for a build-readiness check before construction.</a:t>
            </a:r>
            <a:endParaRPr lang="en-US" sz="1550" dirty="0"/>
          </a:p>
        </p:txBody>
      </p:sp>
      <p:sp>
        <p:nvSpPr>
          <p:cNvPr id="15" name="Shape 12"/>
          <p:cNvSpPr/>
          <p:nvPr/>
        </p:nvSpPr>
        <p:spPr>
          <a:xfrm>
            <a:off x="960120" y="3977640"/>
            <a:ext cx="4160520" cy="0"/>
          </a:xfrm>
          <a:prstGeom prst="line">
            <a:avLst/>
          </a:prstGeom>
          <a:noFill/>
          <a:ln w="12700">
            <a:solidFill>
              <a:srgbClr val="3A6F9D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960120" y="42519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DDCFF"/>
                </a:solidFill>
              </a:rPr>
              <a:t>Success looks like…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960120" y="4590288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EAF6FF"/>
                </a:solidFill>
              </a:rPr>
              <a:t>You can turn a concept sketch into a clear plan another person could follow.</a:t>
            </a:r>
            <a:endParaRPr lang="en-US" sz="1550" dirty="0"/>
          </a:p>
        </p:txBody>
      </p:sp>
      <p:sp>
        <p:nvSpPr>
          <p:cNvPr id="18" name="Shape 15"/>
          <p:cNvSpPr/>
          <p:nvPr/>
        </p:nvSpPr>
        <p:spPr>
          <a:xfrm>
            <a:off x="5989320" y="1572768"/>
            <a:ext cx="5440680" cy="4343400"/>
          </a:xfrm>
          <a:prstGeom prst="roundRect">
            <a:avLst>
              <a:gd name="adj" fmla="val 1684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6309360" y="184708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283B"/>
                </a:solidFill>
              </a:rPr>
              <a:t>Agenda + pacing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6291072" y="2304288"/>
            <a:ext cx="749808" cy="274320"/>
          </a:xfrm>
          <a:prstGeom prst="roundRect">
            <a:avLst>
              <a:gd name="adj" fmla="val 10000"/>
            </a:avLst>
          </a:prstGeom>
          <a:solidFill>
            <a:srgbClr val="00A3FF"/>
          </a:solidFill>
          <a:ln w="12700">
            <a:solidFill>
              <a:srgbClr val="00A3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6345936" y="2386584"/>
            <a:ext cx="6400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90" b="1" dirty="0">
                <a:solidFill>
                  <a:srgbClr val="FFFFFF"/>
                </a:solidFill>
              </a:rPr>
              <a:t>5 min</a:t>
            </a:r>
            <a:endParaRPr lang="en-US" sz="690" dirty="0"/>
          </a:p>
        </p:txBody>
      </p:sp>
      <p:sp>
        <p:nvSpPr>
          <p:cNvPr id="22" name="Text 19"/>
          <p:cNvSpPr/>
          <p:nvPr/>
        </p:nvSpPr>
        <p:spPr>
          <a:xfrm>
            <a:off x="7242048" y="2350008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6283B"/>
                </a:solidFill>
              </a:rPr>
              <a:t>Opening prompt: Why plan before building?</a:t>
            </a:r>
            <a:endParaRPr lang="en-US" sz="1220" dirty="0"/>
          </a:p>
        </p:txBody>
      </p:sp>
      <p:sp>
        <p:nvSpPr>
          <p:cNvPr id="23" name="Shape 20"/>
          <p:cNvSpPr/>
          <p:nvPr/>
        </p:nvSpPr>
        <p:spPr>
          <a:xfrm>
            <a:off x="6291072" y="2743200"/>
            <a:ext cx="749808" cy="274320"/>
          </a:xfrm>
          <a:prstGeom prst="roundRect">
            <a:avLst>
              <a:gd name="adj" fmla="val 10000"/>
            </a:avLst>
          </a:prstGeom>
          <a:solidFill>
            <a:srgbClr val="00A3FF"/>
          </a:solidFill>
          <a:ln w="12700">
            <a:solidFill>
              <a:srgbClr val="00A3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6345936" y="2825496"/>
            <a:ext cx="6400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90" b="1" dirty="0">
                <a:solidFill>
                  <a:srgbClr val="FFFFFF"/>
                </a:solidFill>
              </a:rPr>
              <a:t>6 min</a:t>
            </a:r>
            <a:endParaRPr lang="en-US" sz="690" dirty="0"/>
          </a:p>
        </p:txBody>
      </p:sp>
      <p:sp>
        <p:nvSpPr>
          <p:cNvPr id="25" name="Text 22"/>
          <p:cNvSpPr/>
          <p:nvPr/>
        </p:nvSpPr>
        <p:spPr>
          <a:xfrm>
            <a:off x="7242048" y="2788920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6283B"/>
                </a:solidFill>
              </a:rPr>
              <a:t>Build-readiness quick vote</a:t>
            </a:r>
            <a:endParaRPr lang="en-US" sz="1220" dirty="0"/>
          </a:p>
        </p:txBody>
      </p:sp>
      <p:sp>
        <p:nvSpPr>
          <p:cNvPr id="26" name="Shape 23"/>
          <p:cNvSpPr/>
          <p:nvPr/>
        </p:nvSpPr>
        <p:spPr>
          <a:xfrm>
            <a:off x="6291072" y="3182112"/>
            <a:ext cx="749808" cy="274320"/>
          </a:xfrm>
          <a:prstGeom prst="roundRect">
            <a:avLst>
              <a:gd name="adj" fmla="val 10000"/>
            </a:avLst>
          </a:prstGeom>
          <a:solidFill>
            <a:srgbClr val="00A3FF"/>
          </a:solidFill>
          <a:ln w="12700">
            <a:solidFill>
              <a:srgbClr val="00A3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6345936" y="3264408"/>
            <a:ext cx="6400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90" b="1" dirty="0">
                <a:solidFill>
                  <a:srgbClr val="FFFFFF"/>
                </a:solidFill>
              </a:rPr>
              <a:t>8 min</a:t>
            </a:r>
            <a:endParaRPr lang="en-US" sz="690" dirty="0"/>
          </a:p>
        </p:txBody>
      </p:sp>
      <p:sp>
        <p:nvSpPr>
          <p:cNvPr id="28" name="Text 25"/>
          <p:cNvSpPr/>
          <p:nvPr/>
        </p:nvSpPr>
        <p:spPr>
          <a:xfrm>
            <a:off x="7242048" y="3227832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6283B"/>
                </a:solidFill>
              </a:rPr>
              <a:t>Build plan requirements</a:t>
            </a:r>
            <a:endParaRPr lang="en-US" sz="1220" dirty="0"/>
          </a:p>
        </p:txBody>
      </p:sp>
      <p:sp>
        <p:nvSpPr>
          <p:cNvPr id="29" name="Shape 26"/>
          <p:cNvSpPr/>
          <p:nvPr/>
        </p:nvSpPr>
        <p:spPr>
          <a:xfrm>
            <a:off x="6291072" y="3621024"/>
            <a:ext cx="749808" cy="274320"/>
          </a:xfrm>
          <a:prstGeom prst="roundRect">
            <a:avLst>
              <a:gd name="adj" fmla="val 10000"/>
            </a:avLst>
          </a:prstGeom>
          <a:solidFill>
            <a:srgbClr val="00A3FF"/>
          </a:solidFill>
          <a:ln w="12700">
            <a:solidFill>
              <a:srgbClr val="00A3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6345936" y="3703320"/>
            <a:ext cx="6400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90" b="1" dirty="0">
                <a:solidFill>
                  <a:srgbClr val="FFFFFF"/>
                </a:solidFill>
              </a:rPr>
              <a:t>10 min</a:t>
            </a:r>
            <a:endParaRPr lang="en-US" sz="690" dirty="0"/>
          </a:p>
        </p:txBody>
      </p:sp>
      <p:sp>
        <p:nvSpPr>
          <p:cNvPr id="31" name="Text 28"/>
          <p:cNvSpPr/>
          <p:nvPr/>
        </p:nvSpPr>
        <p:spPr>
          <a:xfrm>
            <a:off x="7242048" y="3666744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6283B"/>
                </a:solidFill>
              </a:rPr>
              <a:t>Materials and sequence planning</a:t>
            </a:r>
            <a:endParaRPr lang="en-US" sz="1220" dirty="0"/>
          </a:p>
        </p:txBody>
      </p:sp>
      <p:sp>
        <p:nvSpPr>
          <p:cNvPr id="32" name="Shape 29"/>
          <p:cNvSpPr/>
          <p:nvPr/>
        </p:nvSpPr>
        <p:spPr>
          <a:xfrm>
            <a:off x="6291072" y="4059936"/>
            <a:ext cx="749808" cy="274320"/>
          </a:xfrm>
          <a:prstGeom prst="roundRect">
            <a:avLst>
              <a:gd name="adj" fmla="val 10000"/>
            </a:avLst>
          </a:prstGeom>
          <a:solidFill>
            <a:srgbClr val="00A3FF"/>
          </a:solidFill>
          <a:ln w="12700">
            <a:solidFill>
              <a:srgbClr val="00A3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6345936" y="4142232"/>
            <a:ext cx="6400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90" b="1" dirty="0">
                <a:solidFill>
                  <a:srgbClr val="FFFFFF"/>
                </a:solidFill>
              </a:rPr>
              <a:t>8 min</a:t>
            </a:r>
            <a:endParaRPr lang="en-US" sz="690" dirty="0"/>
          </a:p>
        </p:txBody>
      </p:sp>
      <p:sp>
        <p:nvSpPr>
          <p:cNvPr id="34" name="Text 31"/>
          <p:cNvSpPr/>
          <p:nvPr/>
        </p:nvSpPr>
        <p:spPr>
          <a:xfrm>
            <a:off x="7242048" y="4105656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6283B"/>
                </a:solidFill>
              </a:rPr>
              <a:t>Plan quality challenge</a:t>
            </a:r>
            <a:endParaRPr lang="en-US" sz="1220" dirty="0"/>
          </a:p>
        </p:txBody>
      </p:sp>
      <p:sp>
        <p:nvSpPr>
          <p:cNvPr id="35" name="Shape 32"/>
          <p:cNvSpPr/>
          <p:nvPr/>
        </p:nvSpPr>
        <p:spPr>
          <a:xfrm>
            <a:off x="6291072" y="4498848"/>
            <a:ext cx="749808" cy="274320"/>
          </a:xfrm>
          <a:prstGeom prst="roundRect">
            <a:avLst>
              <a:gd name="adj" fmla="val 10000"/>
            </a:avLst>
          </a:prstGeom>
          <a:solidFill>
            <a:srgbClr val="00A3FF"/>
          </a:solidFill>
          <a:ln w="12700">
            <a:solidFill>
              <a:srgbClr val="00A3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6" name="Text 33"/>
          <p:cNvSpPr/>
          <p:nvPr/>
        </p:nvSpPr>
        <p:spPr>
          <a:xfrm>
            <a:off x="6345936" y="4581144"/>
            <a:ext cx="6400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90" b="1" dirty="0">
                <a:solidFill>
                  <a:srgbClr val="FFFFFF"/>
                </a:solidFill>
              </a:rPr>
              <a:t>5 min</a:t>
            </a:r>
            <a:endParaRPr lang="en-US" sz="690" dirty="0"/>
          </a:p>
        </p:txBody>
      </p:sp>
      <p:sp>
        <p:nvSpPr>
          <p:cNvPr id="37" name="Text 34"/>
          <p:cNvSpPr/>
          <p:nvPr/>
        </p:nvSpPr>
        <p:spPr>
          <a:xfrm>
            <a:off x="7242048" y="4544568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6283B"/>
                </a:solidFill>
              </a:rPr>
              <a:t>Ready or not quick check</a:t>
            </a:r>
            <a:endParaRPr lang="en-US" sz="1220" dirty="0"/>
          </a:p>
        </p:txBody>
      </p:sp>
      <p:sp>
        <p:nvSpPr>
          <p:cNvPr id="38" name="Shape 35"/>
          <p:cNvSpPr/>
          <p:nvPr/>
        </p:nvSpPr>
        <p:spPr>
          <a:xfrm>
            <a:off x="6291072" y="4937760"/>
            <a:ext cx="749808" cy="274320"/>
          </a:xfrm>
          <a:prstGeom prst="roundRect">
            <a:avLst>
              <a:gd name="adj" fmla="val 10000"/>
            </a:avLst>
          </a:prstGeom>
          <a:solidFill>
            <a:srgbClr val="00A3FF"/>
          </a:solidFill>
          <a:ln w="12700">
            <a:solidFill>
              <a:srgbClr val="00A3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9" name="Text 36"/>
          <p:cNvSpPr/>
          <p:nvPr/>
        </p:nvSpPr>
        <p:spPr>
          <a:xfrm>
            <a:off x="6345936" y="5020056"/>
            <a:ext cx="6400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90" b="1" dirty="0">
                <a:solidFill>
                  <a:srgbClr val="FFFFFF"/>
                </a:solidFill>
              </a:rPr>
              <a:t>3 min</a:t>
            </a:r>
            <a:endParaRPr lang="en-US" sz="690" dirty="0"/>
          </a:p>
        </p:txBody>
      </p:sp>
      <p:sp>
        <p:nvSpPr>
          <p:cNvPr id="40" name="Text 37"/>
          <p:cNvSpPr/>
          <p:nvPr/>
        </p:nvSpPr>
        <p:spPr>
          <a:xfrm>
            <a:off x="7242048" y="4983480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6283B"/>
                </a:solidFill>
              </a:rPr>
              <a:t>Exit debrief</a:t>
            </a:r>
            <a:endParaRPr lang="en-US" sz="1220" dirty="0"/>
          </a:p>
        </p:txBody>
      </p:sp>
      <p:sp>
        <p:nvSpPr>
          <p:cNvPr id="41" name="Shape 38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2" name="Text 39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43" name="Text 40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0.8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OPENING PROMPT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do you make a concept build-ready?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this as a quick class discussion while attendance is taken.</a:t>
            </a:r>
            <a:endParaRPr lang="en-US" sz="1150" dirty="0"/>
          </a:p>
        </p:txBody>
      </p:sp>
      <p:pic>
        <p:nvPicPr>
          <p:cNvPr id="6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48132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Think first. Why does build planning matter in engineering work?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960120" y="2240280"/>
            <a:ext cx="10241280" cy="2057400"/>
          </a:xfrm>
          <a:prstGeom prst="roundRect">
            <a:avLst>
              <a:gd name="adj" fmla="val 3556"/>
            </a:avLst>
          </a:prstGeom>
          <a:solidFill>
            <a:srgbClr val="0F3156"/>
          </a:solidFill>
          <a:ln w="15240">
            <a:solidFill>
              <a:srgbClr val="4DDCFF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325880" y="25786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DDCFF"/>
                </a:solidFill>
              </a:rPr>
              <a:t>Quick class share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325880" y="3063240"/>
            <a:ext cx="9326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EAF6FF"/>
                </a:solidFill>
              </a:rPr>
              <a:t>Raise your hand and share one way build planning could improve a project.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1417320" y="3675888"/>
            <a:ext cx="8869680" cy="320040"/>
          </a:xfrm>
          <a:prstGeom prst="roundRect">
            <a:avLst>
              <a:gd name="adj" fmla="val 11429"/>
            </a:avLst>
          </a:prstGeom>
          <a:solidFill>
            <a:srgbClr val="163D68"/>
          </a:solidFill>
          <a:ln w="12700">
            <a:solidFill>
              <a:srgbClr val="163D6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1600200" y="3776472"/>
            <a:ext cx="8503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C857"/>
                </a:solidFill>
              </a:rPr>
              <a:t>Student answers might include: clearer decisions, better tests, stronger evidence, or better communication.</a:t>
            </a:r>
            <a:endParaRPr lang="en-US" sz="1080" dirty="0"/>
          </a:p>
        </p:txBody>
      </p:sp>
      <p:sp>
        <p:nvSpPr>
          <p:cNvPr id="13" name="Text 10"/>
          <p:cNvSpPr/>
          <p:nvPr/>
        </p:nvSpPr>
        <p:spPr>
          <a:xfrm>
            <a:off x="960120" y="5285232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DDCFF"/>
                </a:solidFill>
              </a:rPr>
              <a:t>We will reveal a working definition on the next slide.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0.8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OPENING DEBRIEF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Build Planning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working definition for this lesson.</a:t>
            </a:r>
            <a:endParaRPr lang="en-US" sz="1150" dirty="0"/>
          </a:p>
        </p:txBody>
      </p:sp>
      <p:pic>
        <p:nvPicPr>
          <p:cNvPr id="6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417320"/>
            <a:ext cx="10241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</a:rPr>
              <a:t>Build Planning helps engineers make work clear, testable, and defendable.</a:t>
            </a:r>
            <a:endParaRPr lang="en-US" sz="2500" dirty="0"/>
          </a:p>
        </p:txBody>
      </p:sp>
      <p:sp>
        <p:nvSpPr>
          <p:cNvPr id="8" name="Shape 5"/>
          <p:cNvSpPr/>
          <p:nvPr/>
        </p:nvSpPr>
        <p:spPr>
          <a:xfrm>
            <a:off x="777240" y="2743200"/>
            <a:ext cx="2468880" cy="1920240"/>
          </a:xfrm>
          <a:prstGeom prst="roundRect">
            <a:avLst>
              <a:gd name="adj" fmla="val 3810"/>
            </a:avLst>
          </a:prstGeom>
          <a:solidFill>
            <a:srgbClr val="0F3156"/>
          </a:solidFill>
          <a:ln w="15240">
            <a:solidFill>
              <a:srgbClr val="4DDCFF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005840" y="30358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DDCFF"/>
                </a:solidFill>
              </a:rPr>
              <a:t>Clarify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033272" y="3584448"/>
            <a:ext cx="196596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AF6FF"/>
                </a:solidFill>
              </a:rPr>
              <a:t>Make the goal and evidence easier to understand.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593592" y="2743200"/>
            <a:ext cx="2468880" cy="1920240"/>
          </a:xfrm>
          <a:prstGeom prst="roundRect">
            <a:avLst>
              <a:gd name="adj" fmla="val 3810"/>
            </a:avLst>
          </a:prstGeom>
          <a:solidFill>
            <a:srgbClr val="0F3156"/>
          </a:solidFill>
          <a:ln w="15240">
            <a:solidFill>
              <a:srgbClr val="2EE6A6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3822192" y="30358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E6A6"/>
                </a:solidFill>
              </a:rPr>
              <a:t>Plan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3849624" y="3584448"/>
            <a:ext cx="196596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AF6FF"/>
                </a:solidFill>
              </a:rPr>
              <a:t>Decide what should happen before building.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409944" y="2743200"/>
            <a:ext cx="2468880" cy="1920240"/>
          </a:xfrm>
          <a:prstGeom prst="roundRect">
            <a:avLst>
              <a:gd name="adj" fmla="val 3810"/>
            </a:avLst>
          </a:prstGeom>
          <a:solidFill>
            <a:srgbClr val="0F3156"/>
          </a:solidFill>
          <a:ln w="15240">
            <a:solidFill>
              <a:srgbClr val="FFC857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638544" y="30358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C857"/>
                </a:solidFill>
              </a:rPr>
              <a:t>Check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665976" y="3584448"/>
            <a:ext cx="196596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AF6FF"/>
                </a:solidFill>
              </a:rPr>
              <a:t>Use criteria, data, or feedback to judge the work.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9226296" y="2743200"/>
            <a:ext cx="2468880" cy="1920240"/>
          </a:xfrm>
          <a:prstGeom prst="roundRect">
            <a:avLst>
              <a:gd name="adj" fmla="val 3810"/>
            </a:avLst>
          </a:prstGeom>
          <a:solidFill>
            <a:srgbClr val="0F3156"/>
          </a:solidFill>
          <a:ln w="15240">
            <a:solidFill>
              <a:srgbClr val="FF9E64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9454896" y="30358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9E64"/>
                </a:solidFill>
              </a:rPr>
              <a:t>Explain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9482328" y="3584448"/>
            <a:ext cx="196596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AF6FF"/>
                </a:solidFill>
              </a:rPr>
              <a:t>Communicate the decision with evidence.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914400" y="534924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C857"/>
                </a:solidFill>
              </a:rPr>
              <a:t>Today's mission: practice build planning so the next design step is stronger.</a:t>
            </a:r>
            <a:endParaRPr lang="en-US" sz="1700" dirty="0"/>
          </a:p>
        </p:txBody>
      </p:sp>
      <p:sp>
        <p:nvSpPr>
          <p:cNvPr id="21" name="Shape 18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0.8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INTERACTIVE VOTE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Build Planning: Which One Fits?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Hold up fingers 1–4 or vote silently. Then justify your choice.</a:t>
            </a:r>
            <a:endParaRPr lang="en-US" sz="1150" dirty="0"/>
          </a:p>
        </p:txBody>
      </p:sp>
      <p:pic>
        <p:nvPicPr>
          <p:cNvPr id="6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41732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Prompt: Which action best shows strong build planning?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777240" y="2057400"/>
            <a:ext cx="4892040" cy="960120"/>
          </a:xfrm>
          <a:prstGeom prst="roundRect">
            <a:avLst>
              <a:gd name="adj" fmla="val 7619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1005840" y="2313432"/>
            <a:ext cx="457200" cy="457200"/>
          </a:xfrm>
          <a:prstGeom prst="ellipse">
            <a:avLst/>
          </a:prstGeom>
          <a:solidFill>
            <a:srgbClr val="6C8296"/>
          </a:solidFill>
          <a:ln w="12700">
            <a:solidFill>
              <a:srgbClr val="6C829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1161288" y="2441448"/>
            <a:ext cx="128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645920" y="2240280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6283B"/>
                </a:solidFill>
              </a:rPr>
              <a:t>Guessing without recording a reason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1645920" y="2670048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C8296"/>
                </a:solidFill>
              </a:rPr>
              <a:t>Guess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309360" y="2057400"/>
            <a:ext cx="4892040" cy="960120"/>
          </a:xfrm>
          <a:prstGeom prst="roundRect">
            <a:avLst>
              <a:gd name="adj" fmla="val 7619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6537960" y="2313432"/>
            <a:ext cx="457200" cy="457200"/>
          </a:xfrm>
          <a:prstGeom prst="ellipse">
            <a:avLst/>
          </a:prstGeom>
          <a:solidFill>
            <a:srgbClr val="6C8296"/>
          </a:solidFill>
          <a:ln w="12700">
            <a:solidFill>
              <a:srgbClr val="6C829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693408" y="2441448"/>
            <a:ext cx="128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7178040" y="2240280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6283B"/>
                </a:solidFill>
              </a:rPr>
              <a:t>Using evidence to guide the next step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7178040" y="2670048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C8296"/>
                </a:solidFill>
              </a:rPr>
              <a:t>Evidence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777240" y="3383280"/>
            <a:ext cx="4892040" cy="960120"/>
          </a:xfrm>
          <a:prstGeom prst="roundRect">
            <a:avLst>
              <a:gd name="adj" fmla="val 7619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1005840" y="3639312"/>
            <a:ext cx="457200" cy="457200"/>
          </a:xfrm>
          <a:prstGeom prst="ellipse">
            <a:avLst/>
          </a:prstGeom>
          <a:solidFill>
            <a:srgbClr val="6C8296"/>
          </a:solidFill>
          <a:ln w="12700">
            <a:solidFill>
              <a:srgbClr val="6C829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1161288" y="3767328"/>
            <a:ext cx="128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1645920" y="3566160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6283B"/>
                </a:solidFill>
              </a:rPr>
              <a:t>Waiting until the end to explain the work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1645920" y="3995928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C8296"/>
                </a:solidFill>
              </a:rPr>
              <a:t>Too late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6309360" y="3383280"/>
            <a:ext cx="4892040" cy="960120"/>
          </a:xfrm>
          <a:prstGeom prst="roundRect">
            <a:avLst>
              <a:gd name="adj" fmla="val 7619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6537960" y="3639312"/>
            <a:ext cx="457200" cy="457200"/>
          </a:xfrm>
          <a:prstGeom prst="ellipse">
            <a:avLst/>
          </a:prstGeom>
          <a:solidFill>
            <a:srgbClr val="6C8296"/>
          </a:solidFill>
          <a:ln w="12700">
            <a:solidFill>
              <a:srgbClr val="6C829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6693408" y="3767328"/>
            <a:ext cx="128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7178040" y="3566160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6283B"/>
                </a:solidFill>
              </a:rPr>
              <a:t>Choosing whatever is fastest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7178040" y="3995928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C8296"/>
                </a:solidFill>
              </a:rPr>
              <a:t>Shortcut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914400" y="5257800"/>
            <a:ext cx="10241280" cy="502920"/>
          </a:xfrm>
          <a:prstGeom prst="roundRect">
            <a:avLst>
              <a:gd name="adj" fmla="val 7273"/>
            </a:avLst>
          </a:prstGeom>
          <a:solidFill>
            <a:srgbClr val="163D68"/>
          </a:solidFill>
          <a:ln w="12700">
            <a:solidFill>
              <a:srgbClr val="163D6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1097280" y="5422392"/>
            <a:ext cx="9875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C857"/>
                </a:solidFill>
              </a:rPr>
              <a:t>Vote first. Then we will reveal the strongest choice.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0.8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REVEAL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Build Planning: Best Answer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 engineering choices are clear, evidence-based, and documented.</a:t>
            </a:r>
            <a:endParaRPr lang="en-US" sz="1150" dirty="0"/>
          </a:p>
        </p:txBody>
      </p:sp>
      <p:pic>
        <p:nvPicPr>
          <p:cNvPr id="6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417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EE6A6"/>
                </a:solidFill>
              </a:rPr>
              <a:t>Best answer: 2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914400" y="1965960"/>
            <a:ext cx="10241280" cy="960120"/>
          </a:xfrm>
          <a:prstGeom prst="roundRect">
            <a:avLst>
              <a:gd name="adj" fmla="val 7619"/>
            </a:avLst>
          </a:prstGeom>
          <a:solidFill>
            <a:srgbClr val="123A63"/>
          </a:solidFill>
          <a:ln w="15240">
            <a:solidFill>
              <a:srgbClr val="2EE6A6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234440" y="2267712"/>
            <a:ext cx="9555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Using evidence to guide the next step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914400" y="3657600"/>
            <a:ext cx="2971800" cy="1051560"/>
          </a:xfrm>
          <a:prstGeom prst="roundRect">
            <a:avLst>
              <a:gd name="adj" fmla="val 6957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097280" y="385876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83B"/>
                </a:solidFill>
              </a:rPr>
              <a:t>Why it fits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170432" y="42245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405B70"/>
                </a:solidFill>
              </a:rPr>
              <a:t>It connects the work to proof that others can inspect.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325112" y="3657600"/>
            <a:ext cx="2971800" cy="1051560"/>
          </a:xfrm>
          <a:prstGeom prst="roundRect">
            <a:avLst>
              <a:gd name="adj" fmla="val 6957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4507992" y="385876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83B"/>
                </a:solidFill>
              </a:rPr>
              <a:t>Why the others miss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581144" y="42245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405B70"/>
                </a:solidFill>
              </a:rPr>
              <a:t>The other choices make the decision harder to justify.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735824" y="3657600"/>
            <a:ext cx="2971800" cy="1051560"/>
          </a:xfrm>
          <a:prstGeom prst="roundRect">
            <a:avLst>
              <a:gd name="adj" fmla="val 6957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7918704" y="385876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83B"/>
                </a:solidFill>
              </a:rPr>
              <a:t>Carry-forward idea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991856" y="42245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405B70"/>
                </a:solidFill>
              </a:rPr>
              <a:t>In IED, every important decision should connect to evidence.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0.8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FOCUS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Build Planning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today's tools to prepare for the next design step.</a:t>
            </a:r>
            <a:endParaRPr lang="en-US" sz="1150" dirty="0"/>
          </a:p>
        </p:txBody>
      </p:sp>
      <p:pic>
        <p:nvPicPr>
          <p:cNvPr id="6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5800" y="1627632"/>
            <a:ext cx="5166360" cy="4251960"/>
          </a:xfrm>
          <a:prstGeom prst="roundRect">
            <a:avLst>
              <a:gd name="adj" fmla="val 1720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960120" y="19019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283B"/>
                </a:solidFill>
              </a:rPr>
              <a:t>Build plan includes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987552" y="2423160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A3FF"/>
                </a:solidFill>
              </a:rPr>
              <a:t>•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280160" y="243230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6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Refined team sketch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987552" y="2825496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A3FF"/>
                </a:solidFill>
              </a:rPr>
              <a:t>•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1280160" y="283464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6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Labeled major parts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987552" y="3227832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A3FF"/>
                </a:solidFill>
              </a:rPr>
              <a:t>•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1280160" y="323697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6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Approximate dimensions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987552" y="3630168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A3FF"/>
                </a:solidFill>
              </a:rPr>
              <a:t>•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1280160" y="363931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6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Materials list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987552" y="4032504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A3FF"/>
                </a:solidFill>
              </a:rPr>
              <a:t>•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1280160" y="404164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6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Construction sequence</a:t>
            </a:r>
            <a:endParaRPr lang="en-US" sz="1450" dirty="0"/>
          </a:p>
        </p:txBody>
      </p:sp>
      <p:sp>
        <p:nvSpPr>
          <p:cNvPr id="19" name="Shape 16"/>
          <p:cNvSpPr/>
          <p:nvPr/>
        </p:nvSpPr>
        <p:spPr>
          <a:xfrm>
            <a:off x="6355080" y="1627632"/>
            <a:ext cx="5166360" cy="4251960"/>
          </a:xfrm>
          <a:prstGeom prst="roundRect">
            <a:avLst>
              <a:gd name="adj" fmla="val 1720"/>
            </a:avLst>
          </a:prstGeom>
          <a:solidFill>
            <a:srgbClr val="0F3156"/>
          </a:solidFill>
          <a:ln w="15240">
            <a:solidFill>
              <a:srgbClr val="4DDCFF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6629400" y="19019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Readiness check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6656832" y="2423160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DDCFF"/>
                </a:solidFill>
              </a:rPr>
              <a:t>•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6949440" y="2432304"/>
            <a:ext cx="4050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is realistic</a:t>
            </a:r>
            <a:endParaRPr lang="en-US" sz="1450" dirty="0"/>
          </a:p>
        </p:txBody>
      </p:sp>
      <p:sp>
        <p:nvSpPr>
          <p:cNvPr id="23" name="Text 20"/>
          <p:cNvSpPr/>
          <p:nvPr/>
        </p:nvSpPr>
        <p:spPr>
          <a:xfrm>
            <a:off x="6656832" y="2825496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DDCFF"/>
                </a:solidFill>
              </a:rPr>
              <a:t>•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6949440" y="2834640"/>
            <a:ext cx="4050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Materials are approved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6656832" y="3227832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DDCFF"/>
                </a:solidFill>
              </a:rPr>
              <a:t>•</a:t>
            </a:r>
            <a:endParaRPr lang="en-US" sz="1450" dirty="0"/>
          </a:p>
        </p:txBody>
      </p:sp>
      <p:sp>
        <p:nvSpPr>
          <p:cNvPr id="26" name="Text 23"/>
          <p:cNvSpPr/>
          <p:nvPr/>
        </p:nvSpPr>
        <p:spPr>
          <a:xfrm>
            <a:off x="6949440" y="3236976"/>
            <a:ext cx="4050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Rocket fit is considered</a:t>
            </a:r>
            <a:endParaRPr lang="en-US" sz="1450" dirty="0"/>
          </a:p>
        </p:txBody>
      </p:sp>
      <p:sp>
        <p:nvSpPr>
          <p:cNvPr id="27" name="Text 24"/>
          <p:cNvSpPr/>
          <p:nvPr/>
        </p:nvSpPr>
        <p:spPr>
          <a:xfrm>
            <a:off x="6656832" y="3630168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DDCFF"/>
                </a:solidFill>
              </a:rPr>
              <a:t>•</a:t>
            </a:r>
            <a:endParaRPr lang="en-US" sz="1450" dirty="0"/>
          </a:p>
        </p:txBody>
      </p:sp>
      <p:sp>
        <p:nvSpPr>
          <p:cNvPr id="28" name="Text 25"/>
          <p:cNvSpPr/>
          <p:nvPr/>
        </p:nvSpPr>
        <p:spPr>
          <a:xfrm>
            <a:off x="6949440" y="3639312"/>
            <a:ext cx="4050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and supports are clear</a:t>
            </a:r>
            <a:endParaRPr lang="en-US" sz="1450" dirty="0"/>
          </a:p>
        </p:txBody>
      </p:sp>
      <p:sp>
        <p:nvSpPr>
          <p:cNvPr id="29" name="Text 26"/>
          <p:cNvSpPr/>
          <p:nvPr/>
        </p:nvSpPr>
        <p:spPr>
          <a:xfrm>
            <a:off x="6656832" y="4032504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DDCFF"/>
                </a:solidFill>
              </a:rPr>
              <a:t>•</a:t>
            </a:r>
            <a:endParaRPr lang="en-US" sz="1450" dirty="0"/>
          </a:p>
        </p:txBody>
      </p:sp>
      <p:sp>
        <p:nvSpPr>
          <p:cNvPr id="30" name="Text 27"/>
          <p:cNvSpPr/>
          <p:nvPr/>
        </p:nvSpPr>
        <p:spPr>
          <a:xfrm>
            <a:off x="6949440" y="4041648"/>
            <a:ext cx="4050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Weak points are identified</a:t>
            </a:r>
            <a:endParaRPr lang="en-US" sz="1450" dirty="0"/>
          </a:p>
        </p:txBody>
      </p:sp>
      <p:sp>
        <p:nvSpPr>
          <p:cNvPr id="31" name="Shape 28"/>
          <p:cNvSpPr/>
          <p:nvPr/>
        </p:nvSpPr>
        <p:spPr>
          <a:xfrm>
            <a:off x="6108192" y="2011680"/>
            <a:ext cx="0" cy="3566160"/>
          </a:xfrm>
          <a:prstGeom prst="line">
            <a:avLst/>
          </a:prstGeom>
          <a:noFill/>
          <a:ln w="25400">
            <a:solidFill>
              <a:srgbClr val="4DDCFF">
                <a:alpha val="9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Shape 29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0.8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PRACTICE MAP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Build Planning in Action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 the lesson idea to the Unit 0 launch pad challenge.</a:t>
            </a:r>
            <a:endParaRPr lang="en-US" sz="1150" dirty="0"/>
          </a:p>
        </p:txBody>
      </p:sp>
      <p:pic>
        <p:nvPicPr>
          <p:cNvPr id="6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7240" y="1600200"/>
            <a:ext cx="3337560" cy="4160520"/>
          </a:xfrm>
          <a:prstGeom prst="roundRect">
            <a:avLst>
              <a:gd name="adj" fmla="val 2192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051560" y="187452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83B"/>
                </a:solidFill>
              </a:rPr>
              <a:t>Choose one focus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78992" y="2423160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3FF"/>
                </a:solidFill>
              </a:rPr>
              <a:t>•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371600" y="2432304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6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78992" y="2807208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3FF"/>
                </a:solidFill>
              </a:rPr>
              <a:t>•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371600" y="2816352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6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Sketch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078992" y="3191256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3FF"/>
                </a:solidFill>
              </a:rPr>
              <a:t>•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371600" y="3200400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6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078992" y="3575304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3FF"/>
                </a:solidFill>
              </a:rPr>
              <a:t>•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371600" y="3584448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6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078992" y="3959352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3FF"/>
                </a:solidFill>
              </a:rPr>
              <a:t>•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371600" y="3968496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6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051560" y="462686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83B"/>
                </a:solidFill>
              </a:rPr>
              <a:t>Then answer: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051560" y="491032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6283B"/>
                </a:solidFill>
              </a:rPr>
              <a:t>How would build planning improve that part of the challenge?</a:t>
            </a:r>
            <a:endParaRPr lang="en-US" sz="1260" dirty="0"/>
          </a:p>
        </p:txBody>
      </p:sp>
      <p:sp>
        <p:nvSpPr>
          <p:cNvPr id="21" name="Shape 18"/>
          <p:cNvSpPr/>
          <p:nvPr/>
        </p:nvSpPr>
        <p:spPr>
          <a:xfrm>
            <a:off x="4480560" y="1600200"/>
            <a:ext cx="6903720" cy="4160520"/>
          </a:xfrm>
          <a:prstGeom prst="roundRect">
            <a:avLst>
              <a:gd name="adj" fmla="val 1758"/>
            </a:avLst>
          </a:prstGeom>
          <a:solidFill>
            <a:srgbClr val="0F3156"/>
          </a:solidFill>
          <a:ln w="15240">
            <a:solidFill>
              <a:srgbClr val="4DDCFF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4800600" y="187452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Engineering habits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4828032" y="2395728"/>
            <a:ext cx="1234440" cy="310896"/>
          </a:xfrm>
          <a:prstGeom prst="roundRect">
            <a:avLst>
              <a:gd name="adj" fmla="val 8824"/>
            </a:avLst>
          </a:prstGeom>
          <a:solidFill>
            <a:srgbClr val="4DDC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4919472" y="2487168"/>
            <a:ext cx="10515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081B33"/>
                </a:solidFill>
              </a:rPr>
              <a:t>Identify</a:t>
            </a:r>
            <a:endParaRPr lang="en-US" sz="760" dirty="0"/>
          </a:p>
        </p:txBody>
      </p:sp>
      <p:sp>
        <p:nvSpPr>
          <p:cNvPr id="25" name="Text 22"/>
          <p:cNvSpPr/>
          <p:nvPr/>
        </p:nvSpPr>
        <p:spPr>
          <a:xfrm>
            <a:off x="6291072" y="2450592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EAF6FF"/>
                </a:solidFill>
              </a:rPr>
              <a:t>Name what matters most.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4828032" y="2926080"/>
            <a:ext cx="1234440" cy="310896"/>
          </a:xfrm>
          <a:prstGeom prst="roundRect">
            <a:avLst>
              <a:gd name="adj" fmla="val 8824"/>
            </a:avLst>
          </a:prstGeom>
          <a:solidFill>
            <a:srgbClr val="2EE6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4919472" y="3017520"/>
            <a:ext cx="10515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081B33"/>
                </a:solidFill>
              </a:rPr>
              <a:t>Record</a:t>
            </a:r>
            <a:endParaRPr lang="en-US" sz="760" dirty="0"/>
          </a:p>
        </p:txBody>
      </p:sp>
      <p:sp>
        <p:nvSpPr>
          <p:cNvPr id="28" name="Text 25"/>
          <p:cNvSpPr/>
          <p:nvPr/>
        </p:nvSpPr>
        <p:spPr>
          <a:xfrm>
            <a:off x="6291072" y="2980944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EAF6FF"/>
                </a:solidFill>
              </a:rPr>
              <a:t>Capture evidence clearly.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4828032" y="3456432"/>
            <a:ext cx="1234440" cy="310896"/>
          </a:xfrm>
          <a:prstGeom prst="roundRect">
            <a:avLst>
              <a:gd name="adj" fmla="val 8824"/>
            </a:avLst>
          </a:prstGeom>
          <a:solidFill>
            <a:srgbClr val="4DDC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4919472" y="3547872"/>
            <a:ext cx="10515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081B33"/>
                </a:solidFill>
              </a:rPr>
              <a:t>Compare</a:t>
            </a:r>
            <a:endParaRPr lang="en-US" sz="760" dirty="0"/>
          </a:p>
        </p:txBody>
      </p:sp>
      <p:sp>
        <p:nvSpPr>
          <p:cNvPr id="31" name="Text 28"/>
          <p:cNvSpPr/>
          <p:nvPr/>
        </p:nvSpPr>
        <p:spPr>
          <a:xfrm>
            <a:off x="6291072" y="3511296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EAF6FF"/>
                </a:solidFill>
              </a:rPr>
              <a:t>Check work against criteria.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4828032" y="3986784"/>
            <a:ext cx="1234440" cy="310896"/>
          </a:xfrm>
          <a:prstGeom prst="roundRect">
            <a:avLst>
              <a:gd name="adj" fmla="val 8824"/>
            </a:avLst>
          </a:prstGeom>
          <a:solidFill>
            <a:srgbClr val="2EE6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4919472" y="4078224"/>
            <a:ext cx="10515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081B33"/>
                </a:solidFill>
              </a:rPr>
              <a:t>Revise</a:t>
            </a:r>
            <a:endParaRPr lang="en-US" sz="760" dirty="0"/>
          </a:p>
        </p:txBody>
      </p:sp>
      <p:sp>
        <p:nvSpPr>
          <p:cNvPr id="34" name="Text 31"/>
          <p:cNvSpPr/>
          <p:nvPr/>
        </p:nvSpPr>
        <p:spPr>
          <a:xfrm>
            <a:off x="6291072" y="4041648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EAF6FF"/>
                </a:solidFill>
              </a:rPr>
              <a:t>Improve based on what changed.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4828032" y="4517136"/>
            <a:ext cx="1234440" cy="310896"/>
          </a:xfrm>
          <a:prstGeom prst="roundRect">
            <a:avLst>
              <a:gd name="adj" fmla="val 8824"/>
            </a:avLst>
          </a:prstGeom>
          <a:solidFill>
            <a:srgbClr val="4DDC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6" name="Text 33"/>
          <p:cNvSpPr/>
          <p:nvPr/>
        </p:nvSpPr>
        <p:spPr>
          <a:xfrm>
            <a:off x="4919472" y="4608576"/>
            <a:ext cx="10515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081B33"/>
                </a:solidFill>
              </a:rPr>
              <a:t>Share</a:t>
            </a:r>
            <a:endParaRPr lang="en-US" sz="760" dirty="0"/>
          </a:p>
        </p:txBody>
      </p:sp>
      <p:sp>
        <p:nvSpPr>
          <p:cNvPr id="37" name="Text 34"/>
          <p:cNvSpPr/>
          <p:nvPr/>
        </p:nvSpPr>
        <p:spPr>
          <a:xfrm>
            <a:off x="6291072" y="4572000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EAF6FF"/>
                </a:solidFill>
              </a:rPr>
              <a:t>Communicate the result.</a:t>
            </a:r>
            <a:endParaRPr lang="en-US" sz="1250" dirty="0"/>
          </a:p>
        </p:txBody>
      </p:sp>
      <p:sp>
        <p:nvSpPr>
          <p:cNvPr id="38" name="Text 35"/>
          <p:cNvSpPr/>
          <p:nvPr/>
        </p:nvSpPr>
        <p:spPr>
          <a:xfrm>
            <a:off x="4800600" y="5257800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FC857"/>
                </a:solidFill>
              </a:rPr>
              <a:t>Share-out target: one design step + one kind of evidence.</a:t>
            </a:r>
            <a:endParaRPr lang="en-US" sz="1450" dirty="0"/>
          </a:p>
        </p:txBody>
      </p:sp>
      <p:sp>
        <p:nvSpPr>
          <p:cNvPr id="39" name="Shape 36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0" name="Text 37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41" name="Text 38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MINDSET SHIFT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Concept Sketch to Build Plan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goal is to make engineering thinking visible and useful.</a:t>
            </a:r>
            <a:endParaRPr lang="en-US" sz="1150" dirty="0"/>
          </a:p>
        </p:txBody>
      </p:sp>
      <p:pic>
        <p:nvPicPr>
          <p:cNvPr id="6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5800" y="1600200"/>
            <a:ext cx="5029200" cy="4160520"/>
          </a:xfrm>
          <a:prstGeom prst="roundRect">
            <a:avLst>
              <a:gd name="adj" fmla="val 1758"/>
            </a:avLst>
          </a:prstGeom>
          <a:solidFill>
            <a:srgbClr val="F4FAFF"/>
          </a:solidFill>
          <a:ln w="15240">
            <a:solidFill>
              <a:srgbClr val="D1EAF8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005840" y="19202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6283B"/>
                </a:solidFill>
              </a:rPr>
              <a:t>Vague concept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005840" y="230428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6278"/>
                </a:solidFill>
              </a:rPr>
              <a:t>Weak approach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024128" y="2788920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C8296"/>
                </a:solidFill>
              </a:rPr>
              <a:t>•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316736" y="2798064"/>
            <a:ext cx="3867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6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Unclear purpose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024128" y="3218688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C8296"/>
                </a:solidFill>
              </a:rPr>
              <a:t>•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316736" y="3227832"/>
            <a:ext cx="3867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6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Little evidence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024128" y="3648456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C8296"/>
                </a:solidFill>
              </a:rPr>
              <a:t>•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316736" y="3657600"/>
            <a:ext cx="3867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6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 to inspect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024128" y="4078224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C8296"/>
                </a:solidFill>
              </a:rPr>
              <a:t>•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316736" y="4087368"/>
            <a:ext cx="3867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6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Difficult to revise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446520" y="1600200"/>
            <a:ext cx="5029200" cy="4160520"/>
          </a:xfrm>
          <a:prstGeom prst="roundRect">
            <a:avLst>
              <a:gd name="adj" fmla="val 1758"/>
            </a:avLst>
          </a:prstGeom>
          <a:solidFill>
            <a:srgbClr val="0F3156"/>
          </a:solidFill>
          <a:ln w="15240">
            <a:solidFill>
              <a:srgbClr val="2EE6A6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6766560" y="19202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Build-ready plan</a:t>
            </a:r>
            <a:endParaRPr lang="en-US" sz="2100" dirty="0"/>
          </a:p>
        </p:txBody>
      </p:sp>
      <p:sp>
        <p:nvSpPr>
          <p:cNvPr id="20" name="Text 17"/>
          <p:cNvSpPr/>
          <p:nvPr/>
        </p:nvSpPr>
        <p:spPr>
          <a:xfrm>
            <a:off x="6766560" y="230428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E6A6"/>
                </a:solidFill>
              </a:rPr>
              <a:t>Strong approach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784848" y="2788920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E6A6"/>
                </a:solidFill>
              </a:rPr>
              <a:t>•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7077456" y="2798064"/>
            <a:ext cx="3913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purpose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6784848" y="3218688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E6A6"/>
                </a:solidFill>
              </a:rPr>
              <a:t>•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7077456" y="3227832"/>
            <a:ext cx="3913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is recorded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6784848" y="3648456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E6A6"/>
                </a:solidFill>
              </a:rPr>
              <a:t>•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7077456" y="3657600"/>
            <a:ext cx="3913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Easy to inspect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6784848" y="4078224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E6A6"/>
                </a:solidFill>
              </a:rPr>
              <a:t>•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7077456" y="4087368"/>
            <a:ext cx="3913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Supports revision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5742432" y="3154680"/>
            <a:ext cx="640080" cy="640080"/>
          </a:xfrm>
          <a:prstGeom prst="chevron">
            <a:avLst/>
          </a:prstGeom>
          <a:solidFill>
            <a:srgbClr val="FFC857"/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" name="Shape 27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0.8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Build Planning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 engineering work connects actions, evidence, and decisions.</a:t>
            </a:r>
            <a:endParaRPr lang="en-US" sz="1150" dirty="0"/>
          </a:p>
        </p:txBody>
      </p:sp>
      <p:pic>
        <p:nvPicPr>
          <p:cNvPr id="6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68680" y="1874520"/>
            <a:ext cx="3063240" cy="1325880"/>
          </a:xfrm>
          <a:prstGeom prst="roundRect">
            <a:avLst>
              <a:gd name="adj" fmla="val 5517"/>
            </a:avLst>
          </a:prstGeom>
          <a:solidFill>
            <a:srgbClr val="0F3156"/>
          </a:solidFill>
          <a:ln w="15240">
            <a:solidFill>
              <a:srgbClr val="FFC857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097280" y="212140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Label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1097280" y="25786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EAF6FF"/>
                </a:solidFill>
              </a:rPr>
              <a:t>Identify the important parts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023360" y="2331720"/>
            <a:ext cx="438912" cy="411480"/>
          </a:xfrm>
          <a:prstGeom prst="chevron">
            <a:avLst/>
          </a:prstGeom>
          <a:solidFill>
            <a:srgbClr val="89DDF8"/>
          </a:solidFill>
          <a:ln w="12700">
            <a:solidFill>
              <a:srgbClr val="89DDF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617720" y="1874520"/>
            <a:ext cx="3063240" cy="1325880"/>
          </a:xfrm>
          <a:prstGeom prst="roundRect">
            <a:avLst>
              <a:gd name="adj" fmla="val 5517"/>
            </a:avLst>
          </a:prstGeom>
          <a:solidFill>
            <a:srgbClr val="F4FAFF"/>
          </a:solidFill>
          <a:ln w="15240">
            <a:solidFill>
              <a:srgbClr val="4DDCFF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4846320" y="212140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6283B"/>
                </a:solidFill>
              </a:rPr>
              <a:t>Sequence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4846320" y="25786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405B70"/>
                </a:solidFill>
              </a:rPr>
              <a:t>Plan construction steps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7772400" y="2331720"/>
            <a:ext cx="438912" cy="411480"/>
          </a:xfrm>
          <a:prstGeom prst="chevron">
            <a:avLst/>
          </a:prstGeom>
          <a:solidFill>
            <a:srgbClr val="89DDF8"/>
          </a:solidFill>
          <a:ln w="12700">
            <a:solidFill>
              <a:srgbClr val="89DDF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8366760" y="1874520"/>
            <a:ext cx="3063240" cy="1325880"/>
          </a:xfrm>
          <a:prstGeom prst="roundRect">
            <a:avLst>
              <a:gd name="adj" fmla="val 5517"/>
            </a:avLst>
          </a:prstGeom>
          <a:solidFill>
            <a:srgbClr val="0F3156"/>
          </a:solidFill>
          <a:ln w="15240">
            <a:solidFill>
              <a:srgbClr val="2EE6A6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8595360" y="212140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Check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8595360" y="25786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EAF6FF"/>
                </a:solidFill>
              </a:rPr>
              <a:t>Look for weak points early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960120" y="376732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Evidence can include…</a:t>
            </a:r>
            <a:endParaRPr lang="en-US" sz="2100" dirty="0"/>
          </a:p>
        </p:txBody>
      </p:sp>
      <p:sp>
        <p:nvSpPr>
          <p:cNvPr id="19" name="Shape 16"/>
          <p:cNvSpPr/>
          <p:nvPr/>
        </p:nvSpPr>
        <p:spPr>
          <a:xfrm>
            <a:off x="960120" y="4315968"/>
            <a:ext cx="2468880" cy="384048"/>
          </a:xfrm>
          <a:prstGeom prst="roundRect">
            <a:avLst>
              <a:gd name="adj" fmla="val 11905"/>
            </a:avLst>
          </a:prstGeom>
          <a:solidFill>
            <a:srgbClr val="163D68"/>
          </a:solidFill>
          <a:ln w="12700">
            <a:solidFill>
              <a:srgbClr val="2F6B95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1097280" y="4416552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AF6FF"/>
                </a:solidFill>
              </a:rPr>
              <a:t>Labels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4251960" y="4315968"/>
            <a:ext cx="2468880" cy="384048"/>
          </a:xfrm>
          <a:prstGeom prst="roundRect">
            <a:avLst>
              <a:gd name="adj" fmla="val 11905"/>
            </a:avLst>
          </a:prstGeom>
          <a:solidFill>
            <a:srgbClr val="163D68"/>
          </a:solidFill>
          <a:ln w="12700">
            <a:solidFill>
              <a:srgbClr val="2F6B95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4389120" y="4416552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AF6FF"/>
                </a:solidFill>
              </a:rPr>
              <a:t>Dimensions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7543800" y="4315968"/>
            <a:ext cx="2468880" cy="384048"/>
          </a:xfrm>
          <a:prstGeom prst="roundRect">
            <a:avLst>
              <a:gd name="adj" fmla="val 11905"/>
            </a:avLst>
          </a:prstGeom>
          <a:solidFill>
            <a:srgbClr val="163D68"/>
          </a:solidFill>
          <a:ln w="12700">
            <a:solidFill>
              <a:srgbClr val="2F6B95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7680960" y="4416552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AF6FF"/>
                </a:solidFill>
              </a:rPr>
              <a:t>Materials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960120" y="4882896"/>
            <a:ext cx="2468880" cy="384048"/>
          </a:xfrm>
          <a:prstGeom prst="roundRect">
            <a:avLst>
              <a:gd name="adj" fmla="val 11905"/>
            </a:avLst>
          </a:prstGeom>
          <a:solidFill>
            <a:srgbClr val="163D68"/>
          </a:solidFill>
          <a:ln w="12700">
            <a:solidFill>
              <a:srgbClr val="2F6B95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1097280" y="498348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AF6FF"/>
                </a:solidFill>
              </a:rPr>
              <a:t>Steps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4251960" y="4882896"/>
            <a:ext cx="2468880" cy="384048"/>
          </a:xfrm>
          <a:prstGeom prst="roundRect">
            <a:avLst>
              <a:gd name="adj" fmla="val 11905"/>
            </a:avLst>
          </a:prstGeom>
          <a:solidFill>
            <a:srgbClr val="163D68"/>
          </a:solidFill>
          <a:ln w="12700">
            <a:solidFill>
              <a:srgbClr val="2F6B95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4389120" y="498348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AF6FF"/>
                </a:solidFill>
              </a:rPr>
              <a:t>Fit checks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7543800" y="4882896"/>
            <a:ext cx="2468880" cy="384048"/>
          </a:xfrm>
          <a:prstGeom prst="roundRect">
            <a:avLst>
              <a:gd name="adj" fmla="val 11905"/>
            </a:avLst>
          </a:prstGeom>
          <a:solidFill>
            <a:srgbClr val="163D68"/>
          </a:solidFill>
          <a:ln w="12700">
            <a:solidFill>
              <a:srgbClr val="2F6B95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7680960" y="498348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AF6FF"/>
                </a:solidFill>
              </a:rPr>
              <a:t>Weak points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Text 29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33" name="Text 30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0.8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 CHALLENGE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Makes the Plan Build-Ready?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the claim. Select the two strongest supports.</a:t>
            </a:r>
            <a:endParaRPr lang="en-US" sz="1150" dirty="0"/>
          </a:p>
        </p:txBody>
      </p:sp>
      <p:pic>
        <p:nvPicPr>
          <p:cNvPr id="6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7240" y="1536192"/>
            <a:ext cx="10652760" cy="1005840"/>
          </a:xfrm>
          <a:prstGeom prst="roundRect">
            <a:avLst>
              <a:gd name="adj" fmla="val 7273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097280" y="181051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3FF"/>
                </a:solidFill>
              </a:rPr>
              <a:t>Claim: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920240" y="1792224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6283B"/>
                </a:solidFill>
              </a:rPr>
              <a:t>“Another team could understand how to build our launch pad from this plan.”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097280" y="217627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6278"/>
                </a:solidFill>
              </a:rPr>
              <a:t>Vote for the two strongest supports.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1005840" y="2880360"/>
            <a:ext cx="9966960" cy="347472"/>
          </a:xfrm>
          <a:prstGeom prst="roundRect">
            <a:avLst>
              <a:gd name="adj" fmla="val 7895"/>
            </a:avLst>
          </a:prstGeom>
          <a:solidFill>
            <a:srgbClr val="0F3156"/>
          </a:solidFill>
          <a:ln w="12700">
            <a:solidFill>
              <a:srgbClr val="2F6B95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1143000" y="2980944"/>
            <a:ext cx="2194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DDCFF"/>
                </a:solidFill>
              </a:rPr>
              <a:t>A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1508760" y="2953512"/>
            <a:ext cx="8869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EAF6FF"/>
                </a:solidFill>
              </a:rPr>
              <a:t>A labeled sketch with approximate dimensions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1005840" y="3355848"/>
            <a:ext cx="9966960" cy="347472"/>
          </a:xfrm>
          <a:prstGeom prst="roundRect">
            <a:avLst>
              <a:gd name="adj" fmla="val 7895"/>
            </a:avLst>
          </a:prstGeom>
          <a:solidFill>
            <a:srgbClr val="0F3156"/>
          </a:solidFill>
          <a:ln w="12700">
            <a:solidFill>
              <a:srgbClr val="2F6B95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1143000" y="3456432"/>
            <a:ext cx="2194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DDCFF"/>
                </a:solidFill>
              </a:rPr>
              <a:t>B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1508760" y="3429000"/>
            <a:ext cx="8869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EAF6FF"/>
                </a:solidFill>
              </a:rPr>
              <a:t>A single unlabeled picture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1005840" y="3831336"/>
            <a:ext cx="9966960" cy="347472"/>
          </a:xfrm>
          <a:prstGeom prst="roundRect">
            <a:avLst>
              <a:gd name="adj" fmla="val 7895"/>
            </a:avLst>
          </a:prstGeom>
          <a:solidFill>
            <a:srgbClr val="0F3156"/>
          </a:solidFill>
          <a:ln w="12700">
            <a:solidFill>
              <a:srgbClr val="2F6B95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1143000" y="3931920"/>
            <a:ext cx="2194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DDCFF"/>
                </a:solidFill>
              </a:rPr>
              <a:t>C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508760" y="3904488"/>
            <a:ext cx="8869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EAF6FF"/>
                </a:solidFill>
              </a:rPr>
              <a:t>A materials list and construction sequence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1005840" y="4306824"/>
            <a:ext cx="9966960" cy="347472"/>
          </a:xfrm>
          <a:prstGeom prst="roundRect">
            <a:avLst>
              <a:gd name="adj" fmla="val 7895"/>
            </a:avLst>
          </a:prstGeom>
          <a:solidFill>
            <a:srgbClr val="0F3156"/>
          </a:solidFill>
          <a:ln w="12700">
            <a:solidFill>
              <a:srgbClr val="2F6B95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1143000" y="4407408"/>
            <a:ext cx="2194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DDCFF"/>
                </a:solidFill>
              </a:rPr>
              <a:t>D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1508760" y="4379976"/>
            <a:ext cx="8869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EAF6FF"/>
                </a:solidFill>
              </a:rPr>
              <a:t>A statement that the team knows what to do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005840" y="4782312"/>
            <a:ext cx="9966960" cy="347472"/>
          </a:xfrm>
          <a:prstGeom prst="roundRect">
            <a:avLst>
              <a:gd name="adj" fmla="val 7895"/>
            </a:avLst>
          </a:prstGeom>
          <a:solidFill>
            <a:srgbClr val="0F3156"/>
          </a:solidFill>
          <a:ln w="12700">
            <a:solidFill>
              <a:srgbClr val="2F6B95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1143000" y="4882896"/>
            <a:ext cx="2194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DDCFF"/>
                </a:solidFill>
              </a:rPr>
              <a:t>E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1508760" y="4855464"/>
            <a:ext cx="8869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EAF6FF"/>
                </a:solidFill>
              </a:rPr>
              <a:t>A decoration plan only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1005840" y="5532120"/>
            <a:ext cx="9966960" cy="384048"/>
          </a:xfrm>
          <a:prstGeom prst="roundRect">
            <a:avLst>
              <a:gd name="adj" fmla="val 7143"/>
            </a:avLst>
          </a:prstGeom>
          <a:solidFill>
            <a:srgbClr val="163D68"/>
          </a:solidFill>
          <a:ln w="12700">
            <a:solidFill>
              <a:srgbClr val="163D6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1170432" y="5660136"/>
            <a:ext cx="9646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C857"/>
                </a:solidFill>
              </a:rPr>
              <a:t>Vote first. Then we will reveal the best evidence pair.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0.8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REVEAL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Makes the Plan Build-Ready?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best support connects directly to the claim.</a:t>
            </a:r>
            <a:endParaRPr lang="en-US" sz="1150" dirty="0"/>
          </a:p>
        </p:txBody>
      </p:sp>
      <p:pic>
        <p:nvPicPr>
          <p:cNvPr id="6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4173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EE6A6"/>
                </a:solidFill>
              </a:rPr>
              <a:t>Best support: A + C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914400" y="2057400"/>
            <a:ext cx="10241280" cy="868680"/>
          </a:xfrm>
          <a:prstGeom prst="roundRect">
            <a:avLst>
              <a:gd name="adj" fmla="val 8421"/>
            </a:avLst>
          </a:prstGeom>
          <a:solidFill>
            <a:srgbClr val="123A63"/>
          </a:solidFill>
          <a:ln w="15240">
            <a:solidFill>
              <a:srgbClr val="2EE6A6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188720" y="2331720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E6A6"/>
                </a:solidFill>
              </a:rPr>
              <a:t>A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645920" y="2258568"/>
            <a:ext cx="6492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</a:rPr>
              <a:t>A labeled sketch with approximate dimensions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8366760" y="227685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EAF6FF"/>
                </a:solidFill>
              </a:rPr>
              <a:t>Shows what the prototype should look like and how parts relate.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914400" y="3227832"/>
            <a:ext cx="10241280" cy="868680"/>
          </a:xfrm>
          <a:prstGeom prst="roundRect">
            <a:avLst>
              <a:gd name="adj" fmla="val 8421"/>
            </a:avLst>
          </a:prstGeom>
          <a:solidFill>
            <a:srgbClr val="123A63"/>
          </a:solidFill>
          <a:ln w="15240">
            <a:solidFill>
              <a:srgbClr val="2EE6A6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1188720" y="3502152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E6A6"/>
                </a:solidFill>
              </a:rPr>
              <a:t>C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645920" y="3429000"/>
            <a:ext cx="6492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</a:rPr>
              <a:t>A materials list and construction sequence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8366760" y="344728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EAF6FF"/>
                </a:solidFill>
              </a:rPr>
              <a:t>Shows what to gather and what to build first.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914400" y="480060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C857"/>
                </a:solidFill>
              </a:rPr>
              <a:t>Useful, but not enough alone: confidence or images without labels do not make a plan build-ready.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0.8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RESPONSE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Should the Team Do Next?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the strongest next step and explain your reasoning.</a:t>
            </a:r>
            <a:endParaRPr lang="en-US" sz="1150" dirty="0"/>
          </a:p>
        </p:txBody>
      </p:sp>
      <p:pic>
        <p:nvPicPr>
          <p:cNvPr id="6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536192"/>
            <a:ext cx="10241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 team has a concept sketch, but it has no labels, no dimensions, and no material choices.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960120" y="2395728"/>
            <a:ext cx="10058400" cy="493776"/>
          </a:xfrm>
          <a:prstGeom prst="roundRect">
            <a:avLst>
              <a:gd name="adj" fmla="val 14815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207008" y="2551176"/>
            <a:ext cx="228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A3FF"/>
                </a:solidFill>
              </a:rPr>
              <a:t>A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600200" y="2514600"/>
            <a:ext cx="9006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6283B"/>
                </a:solidFill>
              </a:rPr>
              <a:t>Start building and figure it out as they go.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960120" y="3108960"/>
            <a:ext cx="10058400" cy="493776"/>
          </a:xfrm>
          <a:prstGeom prst="roundRect">
            <a:avLst>
              <a:gd name="adj" fmla="val 14815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1207008" y="3264408"/>
            <a:ext cx="228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A3FF"/>
                </a:solidFill>
              </a:rPr>
              <a:t>B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1600200" y="3227832"/>
            <a:ext cx="9006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6283B"/>
                </a:solidFill>
              </a:rPr>
              <a:t>Decorate the sketch before planning parts.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60120" y="3822192"/>
            <a:ext cx="10058400" cy="493776"/>
          </a:xfrm>
          <a:prstGeom prst="roundRect">
            <a:avLst>
              <a:gd name="adj" fmla="val 14815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1207008" y="3977640"/>
            <a:ext cx="228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A3FF"/>
                </a:solidFill>
              </a:rPr>
              <a:t>C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1600200" y="3941064"/>
            <a:ext cx="9006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6283B"/>
                </a:solidFill>
              </a:rPr>
              <a:t>Add labels, approximate dimensions, approved materials, and construction steps.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960120" y="4535424"/>
            <a:ext cx="10058400" cy="493776"/>
          </a:xfrm>
          <a:prstGeom prst="roundRect">
            <a:avLst>
              <a:gd name="adj" fmla="val 14815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1207008" y="4690872"/>
            <a:ext cx="228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A3FF"/>
                </a:solidFill>
              </a:rPr>
              <a:t>D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1600200" y="4654296"/>
            <a:ext cx="9006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6283B"/>
                </a:solidFill>
              </a:rPr>
              <a:t>Skip the readiness check because the idea is simple.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960120" y="5422392"/>
            <a:ext cx="10058400" cy="438912"/>
          </a:xfrm>
          <a:prstGeom prst="roundRect">
            <a:avLst>
              <a:gd name="adj" fmla="val 8333"/>
            </a:avLst>
          </a:prstGeom>
          <a:solidFill>
            <a:srgbClr val="163D68"/>
          </a:solidFill>
          <a:ln w="12700">
            <a:solidFill>
              <a:srgbClr val="163D6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1143000" y="5568696"/>
            <a:ext cx="9692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FFC857"/>
                </a:solidFill>
              </a:rPr>
              <a:t>Vote first. Then we will reveal the strongest next step.</a:t>
            </a:r>
            <a:endParaRPr lang="en-US" sz="1180" dirty="0"/>
          </a:p>
        </p:txBody>
      </p:sp>
      <p:sp>
        <p:nvSpPr>
          <p:cNvPr id="22" name="Shape 19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0.8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REVEAL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Should the Team Do Next?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best next step keeps the process evidence-based.</a:t>
            </a:r>
            <a:endParaRPr lang="en-US" sz="1150" dirty="0"/>
          </a:p>
        </p:txBody>
      </p:sp>
      <p:pic>
        <p:nvPicPr>
          <p:cNvPr id="6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417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EE6A6"/>
                </a:solidFill>
              </a:rPr>
              <a:t>Best answer: C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914400" y="2011680"/>
            <a:ext cx="10241280" cy="960120"/>
          </a:xfrm>
          <a:prstGeom prst="roundRect">
            <a:avLst>
              <a:gd name="adj" fmla="val 7619"/>
            </a:avLst>
          </a:prstGeom>
          <a:solidFill>
            <a:srgbClr val="123A63"/>
          </a:solidFill>
          <a:ln w="15240">
            <a:solidFill>
              <a:srgbClr val="2EE6A6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234440" y="2304288"/>
            <a:ext cx="9555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</a:rPr>
              <a:t>Add labels, approximate dimensions, approved materials, and construction steps.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914400" y="3703320"/>
            <a:ext cx="2971800" cy="1005840"/>
          </a:xfrm>
          <a:prstGeom prst="roundRect">
            <a:avLst>
              <a:gd name="adj" fmla="val 7273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097280" y="391363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83B"/>
                </a:solidFill>
              </a:rPr>
              <a:t>Label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170432" y="42793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405B70"/>
                </a:solidFill>
              </a:rPr>
              <a:t>Name the major parts.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325112" y="3703320"/>
            <a:ext cx="2971800" cy="1005840"/>
          </a:xfrm>
          <a:prstGeom prst="roundRect">
            <a:avLst>
              <a:gd name="adj" fmla="val 7273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4507992" y="391363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83B"/>
                </a:solidFill>
              </a:rPr>
              <a:t>Size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581144" y="42793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405B70"/>
                </a:solidFill>
              </a:rPr>
              <a:t>Estimate important dimensions.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735824" y="3703320"/>
            <a:ext cx="2971800" cy="1005840"/>
          </a:xfrm>
          <a:prstGeom prst="roundRect">
            <a:avLst>
              <a:gd name="adj" fmla="val 7273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7918704" y="391363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83B"/>
                </a:solidFill>
              </a:rPr>
              <a:t>Sequence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991856" y="42793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405B70"/>
                </a:solidFill>
              </a:rPr>
              <a:t>Write the build order.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914400" y="5349240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C857"/>
                </a:solidFill>
              </a:rPr>
              <a:t>Engineering move: a plan reduces confusion before materials and tools are used.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0.8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CHECK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Build-Ready or Not?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first. Then explain which statement is strongest and why.</a:t>
            </a:r>
            <a:endParaRPr lang="en-US" sz="1150" dirty="0"/>
          </a:p>
        </p:txBody>
      </p:sp>
      <p:pic>
        <p:nvPicPr>
          <p:cNvPr id="6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60120" y="1737360"/>
            <a:ext cx="10012680" cy="822960"/>
          </a:xfrm>
          <a:prstGeom prst="roundRect">
            <a:avLst>
              <a:gd name="adj" fmla="val 8889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234440" y="1938528"/>
            <a:ext cx="420624" cy="420624"/>
          </a:xfrm>
          <a:prstGeom prst="ellipse">
            <a:avLst/>
          </a:prstGeom>
          <a:solidFill>
            <a:srgbClr val="6D7F8E"/>
          </a:solidFill>
          <a:ln w="12700">
            <a:solidFill>
              <a:srgbClr val="6D7F8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371600" y="2048256"/>
            <a:ext cx="14630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874520" y="193852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6283B"/>
                </a:solidFill>
              </a:rPr>
              <a:t>“Base: cardboard, 8 in × 8 in, with two support columns.”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503920" y="199339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D7F8E"/>
                </a:solidFill>
              </a:rPr>
              <a:t>Vote: ready or not?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960120" y="2971800"/>
            <a:ext cx="10012680" cy="822960"/>
          </a:xfrm>
          <a:prstGeom prst="roundRect">
            <a:avLst>
              <a:gd name="adj" fmla="val 8889"/>
            </a:avLst>
          </a:prstGeom>
          <a:solidFill>
            <a:srgbClr val="0F3156"/>
          </a:solidFill>
          <a:ln w="15240">
            <a:solidFill>
              <a:srgbClr val="4DDCFF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1234440" y="3172968"/>
            <a:ext cx="420624" cy="420624"/>
          </a:xfrm>
          <a:prstGeom prst="ellipse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371600" y="3282696"/>
            <a:ext cx="14630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81B33"/>
                </a:solidFill>
              </a:rPr>
              <a:t>B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874520" y="317296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“We will make it strong somehow.”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503920" y="322783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EE6A6"/>
                </a:solidFill>
              </a:rPr>
              <a:t>Vote: ready or not?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960120" y="4206240"/>
            <a:ext cx="10012680" cy="822960"/>
          </a:xfrm>
          <a:prstGeom prst="roundRect">
            <a:avLst>
              <a:gd name="adj" fmla="val 8889"/>
            </a:avLst>
          </a:prstGeom>
          <a:solidFill>
            <a:srgbClr val="0F3156"/>
          </a:solidFill>
          <a:ln w="15240">
            <a:solidFill>
              <a:srgbClr val="4DDCFF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1234440" y="4407408"/>
            <a:ext cx="420624" cy="420624"/>
          </a:xfrm>
          <a:prstGeom prst="ellipse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1371600" y="4517136"/>
            <a:ext cx="14630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81B33"/>
                </a:solidFill>
              </a:rPr>
              <a:t>C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1874520" y="440740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“Step 1: cut base; Step 2: attach supports; Step 3: fit-check rocket.”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8503920" y="446227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EE6A6"/>
                </a:solidFill>
              </a:rPr>
              <a:t>Vote: ready or not?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960120" y="5596128"/>
            <a:ext cx="10012680" cy="457200"/>
          </a:xfrm>
          <a:prstGeom prst="roundRect">
            <a:avLst>
              <a:gd name="adj" fmla="val 8000"/>
            </a:avLst>
          </a:prstGeom>
          <a:solidFill>
            <a:srgbClr val="163D68"/>
          </a:solidFill>
          <a:ln w="12700">
            <a:solidFill>
              <a:srgbClr val="163D6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1115568" y="5733288"/>
            <a:ext cx="9646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C857"/>
                </a:solidFill>
              </a:rPr>
              <a:t>Vote first. Then we will reveal which statements are strongest.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0.8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CHECK REVEAL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Build-Ready or Not?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 answers use specific evidence and clear reasoning.</a:t>
            </a:r>
            <a:endParaRPr lang="en-US" sz="1150" dirty="0"/>
          </a:p>
        </p:txBody>
      </p:sp>
      <p:pic>
        <p:nvPicPr>
          <p:cNvPr id="6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60120" y="1737360"/>
            <a:ext cx="10012680" cy="777240"/>
          </a:xfrm>
          <a:prstGeom prst="roundRect">
            <a:avLst>
              <a:gd name="adj" fmla="val 9412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234440" y="1920240"/>
            <a:ext cx="402336" cy="402336"/>
          </a:xfrm>
          <a:prstGeom prst="ellipse">
            <a:avLst/>
          </a:prstGeom>
          <a:solidFill>
            <a:srgbClr val="6D7F8E"/>
          </a:solidFill>
          <a:ln w="12700">
            <a:solidFill>
              <a:srgbClr val="6D7F8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371600" y="2029968"/>
            <a:ext cx="14630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874520" y="190195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6283B"/>
                </a:solidFill>
              </a:rPr>
              <a:t>Build-ready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4937760" y="193852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405B70"/>
                </a:solidFill>
              </a:rPr>
              <a:t>It includes material, size, and part function.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960120" y="2926080"/>
            <a:ext cx="10012680" cy="777240"/>
          </a:xfrm>
          <a:prstGeom prst="roundRect">
            <a:avLst>
              <a:gd name="adj" fmla="val 9412"/>
            </a:avLst>
          </a:prstGeom>
          <a:solidFill>
            <a:srgbClr val="123A63"/>
          </a:solidFill>
          <a:ln w="15240">
            <a:solidFill>
              <a:srgbClr val="2EE6A6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1234440" y="3108960"/>
            <a:ext cx="402336" cy="402336"/>
          </a:xfrm>
          <a:prstGeom prst="ellipse">
            <a:avLst/>
          </a:prstGeom>
          <a:solidFill>
            <a:srgbClr val="2EE6A6"/>
          </a:solidFill>
          <a:ln w="12700">
            <a:solidFill>
              <a:srgbClr val="2EE6A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371600" y="3218688"/>
            <a:ext cx="14630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81B33"/>
                </a:solidFill>
              </a:rPr>
              <a:t>B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874520" y="309067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Not ready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4937760" y="312724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EAF6FF"/>
                </a:solidFill>
              </a:rPr>
              <a:t>It is too vague to guide construction.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960120" y="4114800"/>
            <a:ext cx="10012680" cy="777240"/>
          </a:xfrm>
          <a:prstGeom prst="roundRect">
            <a:avLst>
              <a:gd name="adj" fmla="val 9412"/>
            </a:avLst>
          </a:prstGeom>
          <a:solidFill>
            <a:srgbClr val="123A63"/>
          </a:solidFill>
          <a:ln w="15240">
            <a:solidFill>
              <a:srgbClr val="2EE6A6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1234440" y="4297680"/>
            <a:ext cx="402336" cy="402336"/>
          </a:xfrm>
          <a:prstGeom prst="ellipse">
            <a:avLst/>
          </a:prstGeom>
          <a:solidFill>
            <a:srgbClr val="2EE6A6"/>
          </a:solidFill>
          <a:ln w="12700">
            <a:solidFill>
              <a:srgbClr val="2EE6A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1371600" y="4407408"/>
            <a:ext cx="14630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81B33"/>
                </a:solidFill>
              </a:rPr>
              <a:t>C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1874520" y="427939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Build-ready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4937760" y="431596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EAF6FF"/>
                </a:solidFill>
              </a:rPr>
              <a:t>It gives a clear construction sequence.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960120" y="5394960"/>
            <a:ext cx="10012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C857"/>
                </a:solidFill>
              </a:rPr>
              <a:t>Takeaway: build-ready plans are specific enough to follow.</a:t>
            </a:r>
            <a:endParaRPr lang="en-US" sz="1700" dirty="0"/>
          </a:p>
        </p:txBody>
      </p:sp>
      <p:sp>
        <p:nvSpPr>
          <p:cNvPr id="23" name="Shape 20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0.8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 DEBRIEF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Exit Ticket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that you understand today's lesson before the next mission.</a:t>
            </a:r>
            <a:endParaRPr lang="en-US" sz="1150" dirty="0"/>
          </a:p>
        </p:txBody>
      </p:sp>
      <p:pic>
        <p:nvPicPr>
          <p:cNvPr id="6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68680" y="1691640"/>
            <a:ext cx="10469880" cy="4069080"/>
          </a:xfrm>
          <a:prstGeom prst="roundRect">
            <a:avLst>
              <a:gd name="adj" fmla="val 1798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188720" y="20299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83B"/>
                </a:solidFill>
              </a:rPr>
              <a:t>Respond in your notebook or on the assigned class format: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1298448" y="2724912"/>
            <a:ext cx="457200" cy="457200"/>
          </a:xfrm>
          <a:prstGeom prst="ellipse">
            <a:avLst/>
          </a:prstGeom>
          <a:solidFill>
            <a:srgbClr val="00A3FF"/>
          </a:solidFill>
          <a:ln w="12700">
            <a:solidFill>
              <a:srgbClr val="00A3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1463040" y="2852928"/>
            <a:ext cx="1280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029968" y="2825496"/>
            <a:ext cx="8183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6283B"/>
                </a:solidFill>
              </a:rPr>
              <a:t>One label your build plan needs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1298448" y="3474720"/>
            <a:ext cx="457200" cy="457200"/>
          </a:xfrm>
          <a:prstGeom prst="ellipse">
            <a:avLst/>
          </a:prstGeom>
          <a:solidFill>
            <a:srgbClr val="00A3FF"/>
          </a:solidFill>
          <a:ln w="12700">
            <a:solidFill>
              <a:srgbClr val="00A3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1463040" y="3602736"/>
            <a:ext cx="1280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2029968" y="3575304"/>
            <a:ext cx="8183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6283B"/>
                </a:solidFill>
              </a:rPr>
              <a:t>One material your team may use</a:t>
            </a:r>
            <a:endParaRPr lang="en-US" sz="1550" dirty="0"/>
          </a:p>
        </p:txBody>
      </p:sp>
      <p:sp>
        <p:nvSpPr>
          <p:cNvPr id="15" name="Shape 12"/>
          <p:cNvSpPr/>
          <p:nvPr/>
        </p:nvSpPr>
        <p:spPr>
          <a:xfrm>
            <a:off x="1298448" y="4224528"/>
            <a:ext cx="457200" cy="457200"/>
          </a:xfrm>
          <a:prstGeom prst="ellipse">
            <a:avLst/>
          </a:prstGeom>
          <a:solidFill>
            <a:srgbClr val="00A3FF"/>
          </a:solidFill>
          <a:ln w="12700">
            <a:solidFill>
              <a:srgbClr val="00A3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1463040" y="4352544"/>
            <a:ext cx="1280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2029968" y="4325112"/>
            <a:ext cx="8183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6283B"/>
                </a:solidFill>
              </a:rPr>
              <a:t>One build step that should happen before decoration</a:t>
            </a:r>
            <a:endParaRPr lang="en-US" sz="1550" dirty="0"/>
          </a:p>
        </p:txBody>
      </p:sp>
      <p:sp>
        <p:nvSpPr>
          <p:cNvPr id="18" name="Shape 15"/>
          <p:cNvSpPr/>
          <p:nvPr/>
        </p:nvSpPr>
        <p:spPr>
          <a:xfrm>
            <a:off x="1188720" y="5166360"/>
            <a:ext cx="9052560" cy="347472"/>
          </a:xfrm>
          <a:prstGeom prst="roundRect">
            <a:avLst>
              <a:gd name="adj" fmla="val 10526"/>
            </a:avLst>
          </a:prstGeom>
          <a:solidFill>
            <a:srgbClr val="E4F5FF"/>
          </a:solidFill>
          <a:ln w="12700">
            <a:solidFill>
              <a:srgbClr val="E4F5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1325880" y="5276088"/>
            <a:ext cx="8732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283B"/>
                </a:solidFill>
              </a:rPr>
              <a:t>Next mission: Lesson 0.9 — Launch Pad Prototype Build Day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0.8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1669</Words>
  <Application>Microsoft Office PowerPoint</Application>
  <PresentationFormat>Widescreen</PresentationFormat>
  <Paragraphs>319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LockwoodSTEM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0.1 Course Launch &amp; Engineering Mindset</dc:title>
  <dc:subject>IED Unit 0 Lesson 0.1</dc:subject>
  <dc:creator>LockwoodSTEM</dc:creator>
  <cp:lastModifiedBy>Jonathan Lockwood</cp:lastModifiedBy>
  <cp:revision>1</cp:revision>
  <dcterms:created xsi:type="dcterms:W3CDTF">2026-07-16T18:24:39Z</dcterms:created>
  <dcterms:modified xsi:type="dcterms:W3CDTF">2026-07-16T20:37:06Z</dcterms:modified>
</cp:coreProperties>
</file>