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3197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02920"/>
            <a:ext cx="2194560" cy="65836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13232" y="1417320"/>
            <a:ext cx="2148840" cy="347472"/>
          </a:xfrm>
          <a:prstGeom prst="roundRect">
            <a:avLst>
              <a:gd name="adj" fmla="val 10526"/>
            </a:avLst>
          </a:prstGeom>
          <a:solidFill>
            <a:srgbClr val="FFC857">
              <a:alpha val="90000"/>
            </a:srgbClr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86384" y="1499616"/>
            <a:ext cx="2002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81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IED UNIT 0 • LESSON 0.8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1874520"/>
            <a:ext cx="64008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Pad
Build Plan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/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49808" y="3456432"/>
            <a:ext cx="6263640" cy="914400"/>
          </a:xfrm>
          <a:prstGeom prst="roundRect">
            <a:avLst>
              <a:gd name="adj" fmla="val 5000"/>
            </a:avLst>
          </a:prstGeom>
          <a:solidFill>
            <a:srgbClr val="113C65"/>
          </a:solidFill>
          <a:ln w="13970">
            <a:solidFill>
              <a:srgbClr val="4DDCFF">
                <a:alpha val="9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87552" y="365760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C8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 QUESTION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87552" y="3904488"/>
            <a:ext cx="562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does planning make a prototype easier to build and test?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26680" y="1417320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4DDC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973568" y="1563624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DDCFF"/>
                </a:solidFill>
              </a:rPr>
              <a:t>DEFINE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710928" y="157276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the problem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26680" y="2715768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2EE6A6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973568" y="28620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E6A6"/>
                </a:solidFill>
              </a:rPr>
              <a:t>TEST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710928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the idea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726680" y="4014216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FFC857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973568" y="4160520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</a:rPr>
              <a:t>DECIDE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710928" y="416966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with evidence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587959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to Engineering Design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BRIEFING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45-Minute Flight Plan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 lesson to build the build planning habits needed for Unit 0 work.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572768"/>
            <a:ext cx="4892040" cy="4343400"/>
          </a:xfrm>
          <a:prstGeom prst="roundRect">
            <a:avLst>
              <a:gd name="adj" fmla="val 1684"/>
            </a:avLst>
          </a:prstGeom>
          <a:solidFill>
            <a:srgbClr val="0F3156"/>
          </a:solidFill>
          <a:ln w="15240">
            <a:solidFill>
              <a:srgbClr val="244D7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60120" y="18470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Learning targets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87552" y="23591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280160" y="23682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 the team concept into a build plan.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987552" y="28163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280160" y="28254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labels, approximate dimensions, materials, and steps.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87552" y="32735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1280160" y="32826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for a build-readiness check before construction.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960120" y="3977640"/>
            <a:ext cx="4160520" cy="0"/>
          </a:xfrm>
          <a:prstGeom prst="line">
            <a:avLst/>
          </a:prstGeom>
          <a:noFill/>
          <a:ln w="12700">
            <a:solidFill>
              <a:srgbClr val="3A6F9D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0120" y="4251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DDCFF"/>
                </a:solidFill>
              </a:rPr>
              <a:t>Success looks like…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60120" y="4590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</a:rPr>
              <a:t>You can turn a concept sketch into a clear plan another person could follow.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5989320" y="1572768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309360" y="18470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83B"/>
                </a:solidFill>
              </a:rPr>
              <a:t>Agenda + pacing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291072" y="2304288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345936" y="2386584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5 min</a:t>
            </a:r>
            <a:endParaRPr lang="en-US" sz="690" dirty="0"/>
          </a:p>
        </p:txBody>
      </p:sp>
      <p:sp>
        <p:nvSpPr>
          <p:cNvPr id="22" name="Text 19"/>
          <p:cNvSpPr/>
          <p:nvPr/>
        </p:nvSpPr>
        <p:spPr>
          <a:xfrm>
            <a:off x="7242048" y="2350008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Opening prompt: Why plan before building?</a:t>
            </a:r>
            <a:endParaRPr lang="en-US" sz="1220" dirty="0"/>
          </a:p>
        </p:txBody>
      </p:sp>
      <p:sp>
        <p:nvSpPr>
          <p:cNvPr id="23" name="Shape 20"/>
          <p:cNvSpPr/>
          <p:nvPr/>
        </p:nvSpPr>
        <p:spPr>
          <a:xfrm>
            <a:off x="6291072" y="2743200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345936" y="2825496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6 min</a:t>
            </a:r>
            <a:endParaRPr lang="en-US" sz="690" dirty="0"/>
          </a:p>
        </p:txBody>
      </p:sp>
      <p:sp>
        <p:nvSpPr>
          <p:cNvPr id="25" name="Text 22"/>
          <p:cNvSpPr/>
          <p:nvPr/>
        </p:nvSpPr>
        <p:spPr>
          <a:xfrm>
            <a:off x="7242048" y="2788920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Build-readiness quick vote</a:t>
            </a:r>
            <a:endParaRPr lang="en-US" sz="1220" dirty="0"/>
          </a:p>
        </p:txBody>
      </p:sp>
      <p:sp>
        <p:nvSpPr>
          <p:cNvPr id="26" name="Shape 23"/>
          <p:cNvSpPr/>
          <p:nvPr/>
        </p:nvSpPr>
        <p:spPr>
          <a:xfrm>
            <a:off x="6291072" y="3182112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6345936" y="3264408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8 min</a:t>
            </a:r>
            <a:endParaRPr lang="en-US" sz="690" dirty="0"/>
          </a:p>
        </p:txBody>
      </p:sp>
      <p:sp>
        <p:nvSpPr>
          <p:cNvPr id="28" name="Text 25"/>
          <p:cNvSpPr/>
          <p:nvPr/>
        </p:nvSpPr>
        <p:spPr>
          <a:xfrm>
            <a:off x="7242048" y="3227832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Build plan requirements</a:t>
            </a:r>
            <a:endParaRPr lang="en-US" sz="1220" dirty="0"/>
          </a:p>
        </p:txBody>
      </p:sp>
      <p:sp>
        <p:nvSpPr>
          <p:cNvPr id="29" name="Shape 26"/>
          <p:cNvSpPr/>
          <p:nvPr/>
        </p:nvSpPr>
        <p:spPr>
          <a:xfrm>
            <a:off x="6291072" y="3621024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6345936" y="3703320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10 min</a:t>
            </a:r>
            <a:endParaRPr lang="en-US" sz="690" dirty="0"/>
          </a:p>
        </p:txBody>
      </p:sp>
      <p:sp>
        <p:nvSpPr>
          <p:cNvPr id="31" name="Text 28"/>
          <p:cNvSpPr/>
          <p:nvPr/>
        </p:nvSpPr>
        <p:spPr>
          <a:xfrm>
            <a:off x="7242048" y="3666744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Materials and sequence planning</a:t>
            </a:r>
            <a:endParaRPr lang="en-US" sz="1220" dirty="0"/>
          </a:p>
        </p:txBody>
      </p:sp>
      <p:sp>
        <p:nvSpPr>
          <p:cNvPr id="32" name="Shape 29"/>
          <p:cNvSpPr/>
          <p:nvPr/>
        </p:nvSpPr>
        <p:spPr>
          <a:xfrm>
            <a:off x="6291072" y="4059936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6345936" y="4142232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8 min</a:t>
            </a:r>
            <a:endParaRPr lang="en-US" sz="690" dirty="0"/>
          </a:p>
        </p:txBody>
      </p:sp>
      <p:sp>
        <p:nvSpPr>
          <p:cNvPr id="34" name="Text 31"/>
          <p:cNvSpPr/>
          <p:nvPr/>
        </p:nvSpPr>
        <p:spPr>
          <a:xfrm>
            <a:off x="7242048" y="4105656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Plan quality challenge</a:t>
            </a:r>
            <a:endParaRPr lang="en-US" sz="1220" dirty="0"/>
          </a:p>
        </p:txBody>
      </p:sp>
      <p:sp>
        <p:nvSpPr>
          <p:cNvPr id="35" name="Shape 32"/>
          <p:cNvSpPr/>
          <p:nvPr/>
        </p:nvSpPr>
        <p:spPr>
          <a:xfrm>
            <a:off x="6291072" y="4498848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6345936" y="4581144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5 min</a:t>
            </a:r>
            <a:endParaRPr lang="en-US" sz="690" dirty="0"/>
          </a:p>
        </p:txBody>
      </p:sp>
      <p:sp>
        <p:nvSpPr>
          <p:cNvPr id="37" name="Text 34"/>
          <p:cNvSpPr/>
          <p:nvPr/>
        </p:nvSpPr>
        <p:spPr>
          <a:xfrm>
            <a:off x="7242048" y="4544568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Ready or not quick check</a:t>
            </a:r>
            <a:endParaRPr lang="en-US" sz="1220" dirty="0"/>
          </a:p>
        </p:txBody>
      </p:sp>
      <p:sp>
        <p:nvSpPr>
          <p:cNvPr id="38" name="Shape 35"/>
          <p:cNvSpPr/>
          <p:nvPr/>
        </p:nvSpPr>
        <p:spPr>
          <a:xfrm>
            <a:off x="6291072" y="4937760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6345936" y="5020056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3 min</a:t>
            </a:r>
            <a:endParaRPr lang="en-US" sz="690" dirty="0"/>
          </a:p>
        </p:txBody>
      </p:sp>
      <p:sp>
        <p:nvSpPr>
          <p:cNvPr id="40" name="Text 37"/>
          <p:cNvSpPr/>
          <p:nvPr/>
        </p:nvSpPr>
        <p:spPr>
          <a:xfrm>
            <a:off x="7242048" y="4983480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Exit debrief</a:t>
            </a:r>
            <a:endParaRPr lang="en-US" sz="1220" dirty="0"/>
          </a:p>
        </p:txBody>
      </p:sp>
      <p:sp>
        <p:nvSpPr>
          <p:cNvPr id="41" name="Shape 3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43" name="Text 4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PROMPT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do you make a concept build-ready?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as a quick class discussion while attendance is taken.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48132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Think first. Why does build planning matter in engineering work?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60120" y="2240280"/>
            <a:ext cx="10241280" cy="2057400"/>
          </a:xfrm>
          <a:prstGeom prst="roundRect">
            <a:avLst>
              <a:gd name="adj" fmla="val 3556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25880" y="2578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DDCFF"/>
                </a:solidFill>
              </a:rPr>
              <a:t>Quick class share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325880" y="3063240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AF6FF"/>
                </a:solidFill>
              </a:rPr>
              <a:t>Raise your hand and share one way build planning could improve a project.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417320" y="3675888"/>
            <a:ext cx="8869680" cy="320040"/>
          </a:xfrm>
          <a:prstGeom prst="roundRect">
            <a:avLst>
              <a:gd name="adj" fmla="val 11429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600200" y="3776472"/>
            <a:ext cx="8503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FFC857"/>
                </a:solidFill>
              </a:rPr>
              <a:t>Student answers might include: clearer decisions, better tests, stronger evidence, or better communication.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960120" y="528523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DDCFF"/>
                </a:solidFill>
              </a:rPr>
              <a:t>We will reveal a working definition on the next slide.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DEBRIEF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Planning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definition for this lesson.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</a:rPr>
              <a:t>Build Planning helps engineers make work clear, testable, and defendable.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777240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005840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DDCFF"/>
                </a:solidFill>
              </a:rPr>
              <a:t>Clarify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33272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Make the goal and evidence easier to understand.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93592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3822192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E6A6"/>
                </a:solidFill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849624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Decide what should happen before building.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9944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FFC857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638544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Check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665976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Use criteria, data, or feedback to judge the work.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226296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FF9E64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454896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E64"/>
                </a:solidFill>
              </a:rPr>
              <a:t>Explain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482328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Communicate the decision with evidence.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" y="53492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C857"/>
                </a:solidFill>
              </a:rPr>
              <a:t>Today's mission: practice build planning so the next design step is stronger.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VOTE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Planning: Which One Fits?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up fingers 1–4 or vote silently. Then justify your choice.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Prompt: Which action best shows strong build planning?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77240" y="205740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005840" y="231343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161288" y="24414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645920" y="224028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Guessing without recording a reason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645920" y="267004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Guess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309360" y="205740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537960" y="231343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693408" y="24414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178040" y="224028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Using evidence to guide the next step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178040" y="267004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Evidence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338328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1005840" y="363931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161288" y="376732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645920" y="356616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Waiting until the end to explain the work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645920" y="399592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Too late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309360" y="338328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6537960" y="363931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693408" y="376732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7178040" y="356616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Choosing whatever is fastest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178040" y="399592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Shortcut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914400" y="5257800"/>
            <a:ext cx="10241280" cy="502920"/>
          </a:xfrm>
          <a:prstGeom prst="roundRect">
            <a:avLst>
              <a:gd name="adj" fmla="val 727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097280" y="5422392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C857"/>
                </a:solidFill>
              </a:rPr>
              <a:t>Vote first. Then we will reveal the strongest choice.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Planning: Best Answer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engineering choices are clear, evidence-based, and documented.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answer: 2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1965960"/>
            <a:ext cx="10241280" cy="960120"/>
          </a:xfrm>
          <a:prstGeom prst="roundRect">
            <a:avLst>
              <a:gd name="adj" fmla="val 7619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234440" y="2267712"/>
            <a:ext cx="955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Using evidence to guide the next step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14400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Why it fits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70432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It connects the work to proof that others can inspect.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25112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07992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Why the others miss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81144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The other choices make the decision harder to justify.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35824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918704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Carry-forward idea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991856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In IED, every important decision should connect to evidence.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FOCUS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Planning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today's tools to prepare for the next design step.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627632"/>
            <a:ext cx="5166360" cy="4251960"/>
          </a:xfrm>
          <a:prstGeom prst="roundRect">
            <a:avLst>
              <a:gd name="adj" fmla="val 1720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60120" y="1901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83B"/>
                </a:solidFill>
              </a:rPr>
              <a:t>Build plan includes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8755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280160" y="24323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Refined team sketch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87552" y="282549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280160" y="283464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Labeled major parts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87552" y="322783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1280160" y="32369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Approximate dimensions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987552" y="363016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280160" y="36393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Materials list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87552" y="40325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1280160" y="40416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Construction sequence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55080" y="1627632"/>
            <a:ext cx="5166360" cy="4251960"/>
          </a:xfrm>
          <a:prstGeom prst="roundRect">
            <a:avLst>
              <a:gd name="adj" fmla="val 1720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629400" y="1901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Readiness check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65683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949440" y="2432304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is realistic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656832" y="282549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949440" y="2834640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Materials are approved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656832" y="322783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949440" y="3236976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Rocket fit is considered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656832" y="363016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949440" y="3639312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and supports are clear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656832" y="40325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949440" y="4041648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 points are identified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108192" y="2011680"/>
            <a:ext cx="0" cy="3566160"/>
          </a:xfrm>
          <a:prstGeom prst="line">
            <a:avLst/>
          </a:prstGeom>
          <a:noFill/>
          <a:ln w="25400">
            <a:solidFill>
              <a:srgbClr val="4DDC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 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Planning in Action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lesson idea to the Unit 0 launch pad challenge.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60020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51560" y="18745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83B"/>
                </a:solidFill>
              </a:rPr>
              <a:t>Choose one focus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7899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2432304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78992" y="280720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71600" y="281635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Sketch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78992" y="31912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3200400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78992" y="35753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71600" y="3584448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78992" y="39593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371600" y="3968496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51560" y="46268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83B"/>
                </a:solidFill>
              </a:rPr>
              <a:t>Then answer: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103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16283B"/>
                </a:solidFill>
              </a:rPr>
              <a:t>How would build planning improve that part of the challenge?</a:t>
            </a:r>
            <a:endParaRPr lang="en-US" sz="1260" dirty="0"/>
          </a:p>
        </p:txBody>
      </p:sp>
      <p:sp>
        <p:nvSpPr>
          <p:cNvPr id="21" name="Shape 18"/>
          <p:cNvSpPr/>
          <p:nvPr/>
        </p:nvSpPr>
        <p:spPr>
          <a:xfrm>
            <a:off x="4480560" y="1600200"/>
            <a:ext cx="6903720" cy="4160520"/>
          </a:xfrm>
          <a:prstGeom prst="roundRect">
            <a:avLst>
              <a:gd name="adj" fmla="val 1758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00600" y="18745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habits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828032" y="2395728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4919472" y="2487168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Identify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6291072" y="245059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Name what matters most.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828032" y="2926080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2EE6A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919472" y="3017520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Record</a:t>
            </a:r>
            <a:endParaRPr lang="en-US" sz="760" dirty="0"/>
          </a:p>
        </p:txBody>
      </p:sp>
      <p:sp>
        <p:nvSpPr>
          <p:cNvPr id="28" name="Text 25"/>
          <p:cNvSpPr/>
          <p:nvPr/>
        </p:nvSpPr>
        <p:spPr>
          <a:xfrm>
            <a:off x="6291072" y="298094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Capture evidence clearly.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4828032" y="3456432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4919472" y="3547872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Compare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91072" y="3511296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Check work against criteria.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828032" y="3986784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2EE6A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4919472" y="4078224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Revise</a:t>
            </a:r>
            <a:endParaRPr lang="en-US" sz="760" dirty="0"/>
          </a:p>
        </p:txBody>
      </p:sp>
      <p:sp>
        <p:nvSpPr>
          <p:cNvPr id="34" name="Text 31"/>
          <p:cNvSpPr/>
          <p:nvPr/>
        </p:nvSpPr>
        <p:spPr>
          <a:xfrm>
            <a:off x="6291072" y="4041648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Improve based on what changed.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828032" y="4517136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4919472" y="4608576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Share</a:t>
            </a:r>
            <a:endParaRPr lang="en-US" sz="760" dirty="0"/>
          </a:p>
        </p:txBody>
      </p:sp>
      <p:sp>
        <p:nvSpPr>
          <p:cNvPr id="37" name="Text 34"/>
          <p:cNvSpPr/>
          <p:nvPr/>
        </p:nvSpPr>
        <p:spPr>
          <a:xfrm>
            <a:off x="6291072" y="4572000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Communicate the result.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4800600" y="525780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C857"/>
                </a:solidFill>
              </a:rPr>
              <a:t>Share-out target: one design step + one kind of evidence.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MINDSET SHIFT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Concept Sketch to Build Plan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to make engineering thinking visible and useful.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60020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F4FAFF"/>
          </a:solidFill>
          <a:ln w="15240">
            <a:solidFill>
              <a:srgbClr val="D1EAF8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05840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83B"/>
                </a:solidFill>
              </a:rPr>
              <a:t>Vague concept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05840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6278"/>
                </a:solidFill>
              </a:rPr>
              <a:t>Weak approach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24128" y="27889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16736" y="2798064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Unclear purpose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24128" y="321868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316736" y="3227832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Little evidence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24128" y="36484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16736" y="3657600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 to inspect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24128" y="407822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16736" y="4087368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Difficult to revise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46520" y="160020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766560" y="19202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Build-ready plan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6766560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E6A6"/>
                </a:solidFill>
              </a:rPr>
              <a:t>Strong approach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84848" y="27889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077456" y="2798064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purpose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84848" y="321868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077456" y="3227832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is recorded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84848" y="36484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077456" y="365760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Easy to inspect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784848" y="407822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077456" y="4087368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revision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742432" y="3154680"/>
            <a:ext cx="640080" cy="640080"/>
          </a:xfrm>
          <a:prstGeom prst="chevron">
            <a:avLst/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IDEA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Planning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engineering work connects actions, evidence, and decisions.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0F3156"/>
          </a:solidFill>
          <a:ln w="15240">
            <a:solidFill>
              <a:srgbClr val="FFC857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9728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Label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9728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AF6FF"/>
                </a:solidFill>
              </a:rPr>
              <a:t>Identify the important parts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23360" y="2331720"/>
            <a:ext cx="438912" cy="411480"/>
          </a:xfrm>
          <a:prstGeom prst="chevron">
            <a:avLst/>
          </a:prstGeom>
          <a:solidFill>
            <a:srgbClr val="89DDF8"/>
          </a:solidFill>
          <a:ln w="12700">
            <a:solidFill>
              <a:srgbClr val="89DDF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1772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F4FAFF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84632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283B"/>
                </a:solidFill>
              </a:rPr>
              <a:t>Sequence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84632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405B70"/>
                </a:solidFill>
              </a:rPr>
              <a:t>Plan construction steps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772400" y="2331720"/>
            <a:ext cx="438912" cy="411480"/>
          </a:xfrm>
          <a:prstGeom prst="chevron">
            <a:avLst/>
          </a:prstGeom>
          <a:solidFill>
            <a:srgbClr val="89DDF8"/>
          </a:solidFill>
          <a:ln w="12700">
            <a:solidFill>
              <a:srgbClr val="89DDF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836676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59536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Check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59536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AF6FF"/>
                </a:solidFill>
              </a:rPr>
              <a:t>Look for weak points early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60120" y="3767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Evidence can include…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6012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09728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Labels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25196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38912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Dimensions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4380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68096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Materials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6012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09728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Steps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25196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438912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Fit checks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54380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768096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Weak points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 CHALLENGE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Makes the Plan Build-Ready?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claim. Select the two strongest supports.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536192"/>
            <a:ext cx="1065276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97280" y="18105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Claim: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920240" y="1792224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6283B"/>
                </a:solidFill>
              </a:rPr>
              <a:t>“Another team could understand how to build our launch pad from this plan.”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217627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</a:rPr>
              <a:t>Vote for the two strongest supports.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005840" y="2880360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143000" y="2980944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A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508760" y="2953512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labeled sketch with approximate dimensions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1005840" y="3355848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43000" y="3456432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B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508760" y="3429000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single unlabeled picture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05840" y="3831336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143000" y="3931920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C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508760" y="3904488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materials list and construction sequence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1005840" y="4306824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43000" y="4407408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D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508760" y="4379976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statement that the team knows what to do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1005840" y="4782312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143000" y="4882896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E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508760" y="4855464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decoration plan only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1005840" y="5532120"/>
            <a:ext cx="9966960" cy="384048"/>
          </a:xfrm>
          <a:prstGeom prst="roundRect">
            <a:avLst>
              <a:gd name="adj" fmla="val 714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170432" y="5660136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C857"/>
                </a:solidFill>
              </a:rPr>
              <a:t>Vote first. Then we will reveal the best evidence pair.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Makes the Plan Build-Ready?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support connects directly to the claim.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support: A + C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2057400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188720" y="2331720"/>
            <a:ext cx="256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E6A6"/>
                </a:solidFill>
              </a:rPr>
              <a:t>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45920" y="2258568"/>
            <a:ext cx="649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A labeled sketch with approximate dimensions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366760" y="227685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6FF"/>
                </a:solidFill>
              </a:rPr>
              <a:t>Shows what the prototype should look like and how parts relate.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914400" y="3227832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188720" y="3502152"/>
            <a:ext cx="256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E6A6"/>
                </a:solidFill>
              </a:rPr>
              <a:t>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645920" y="3429000"/>
            <a:ext cx="649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A materials list and construction sequence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366760" y="3447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6FF"/>
                </a:solidFill>
              </a:rPr>
              <a:t>Shows what to gather and what to build first.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48006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C857"/>
                </a:solidFill>
              </a:rPr>
              <a:t>Useful, but not enough alone: confidence or images without labels do not make a plan build-ready.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RESPONSE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Team Do Next?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strongest next step and explain your reasoning.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536192"/>
            <a:ext cx="10241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 team has a concept sketch, but it has no labels, no dimensions, and no material choices.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960120" y="2395728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207008" y="2551176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A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600200" y="2514600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Start building and figure it out as they go.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60120" y="3108960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207008" y="3264408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B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00200" y="3227832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Decorate the sketch before planning parts.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60120" y="3822192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207008" y="3977640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C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600200" y="3941064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Add labels, approximate dimensions, approved materials, and construction steps.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60120" y="4535424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207008" y="4690872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600200" y="4654296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Skip the readiness check because the idea is simple.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60120" y="5422392"/>
            <a:ext cx="10058400" cy="438912"/>
          </a:xfrm>
          <a:prstGeom prst="roundRect">
            <a:avLst>
              <a:gd name="adj" fmla="val 833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43000" y="5568696"/>
            <a:ext cx="9692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C857"/>
                </a:solidFill>
              </a:rPr>
              <a:t>Vote first. Then we will reveal the strongest next step.</a:t>
            </a:r>
            <a:endParaRPr lang="en-US" sz="1180" dirty="0"/>
          </a:p>
        </p:txBody>
      </p:sp>
      <p:sp>
        <p:nvSpPr>
          <p:cNvPr id="22" name="Shape 19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Team Do Next?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next step keeps the process evidence-based.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answer: C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2011680"/>
            <a:ext cx="10241280" cy="960120"/>
          </a:xfrm>
          <a:prstGeom prst="roundRect">
            <a:avLst>
              <a:gd name="adj" fmla="val 7619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234440" y="230428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Add labels, approximate dimensions, approved materials, and construction steps.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914400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Label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70432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Name the major parts.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25112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07992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Size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81144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Estimate important dimensions.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35824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918704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Sequence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991856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Write the build order.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14400" y="534924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C857"/>
                </a:solidFill>
              </a:rPr>
              <a:t>Engineering move: a plan reduces confusion before materials and tools are used.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CHECK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Build-Ready or Not?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first. Then explain which statement is strongest and why.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60120" y="173736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234440" y="1938528"/>
            <a:ext cx="420624" cy="420624"/>
          </a:xfrm>
          <a:prstGeom prst="ellipse">
            <a:avLst/>
          </a:prstGeom>
          <a:solidFill>
            <a:srgbClr val="6D7F8E"/>
          </a:solidFill>
          <a:ln w="12700">
            <a:solidFill>
              <a:srgbClr val="6D7F8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71600" y="204825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874520" y="19385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283B"/>
                </a:solidFill>
              </a:rPr>
              <a:t>“Base: cardboard, 8 in × 8 in, with two support columns.”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199339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D7F8E"/>
                </a:solidFill>
              </a:rPr>
              <a:t>Vote: ready or not?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60120" y="297180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1234440" y="3172968"/>
            <a:ext cx="420624" cy="420624"/>
          </a:xfrm>
          <a:prstGeom prst="ellipse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371600" y="328269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B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874520" y="31729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“We will make it strong somehow.”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03920" y="322783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E6A6"/>
                </a:solidFill>
              </a:rPr>
              <a:t>Vote: ready or not?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60120" y="420624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234440" y="4407408"/>
            <a:ext cx="420624" cy="420624"/>
          </a:xfrm>
          <a:prstGeom prst="ellipse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451713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C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874520" y="44074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“Step 1: cut base; Step 2: attach supports; Step 3: fit-check rocket.”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503920" y="446227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E6A6"/>
                </a:solidFill>
              </a:rPr>
              <a:t>Vote: ready or not?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0120" y="5596128"/>
            <a:ext cx="10012680" cy="457200"/>
          </a:xfrm>
          <a:prstGeom prst="roundRect">
            <a:avLst>
              <a:gd name="adj" fmla="val 8000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15568" y="5733288"/>
            <a:ext cx="9646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C857"/>
                </a:solidFill>
              </a:rPr>
              <a:t>Vote first. Then we will reveal which statements are strongest.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CHECK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Build-Ready or Not?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answers use specific evidence and clear reasoning.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60120" y="173736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234440" y="1920240"/>
            <a:ext cx="402336" cy="402336"/>
          </a:xfrm>
          <a:prstGeom prst="ellipse">
            <a:avLst/>
          </a:prstGeom>
          <a:solidFill>
            <a:srgbClr val="6D7F8E"/>
          </a:solidFill>
          <a:ln w="12700">
            <a:solidFill>
              <a:srgbClr val="6D7F8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71600" y="202996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87452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6283B"/>
                </a:solidFill>
              </a:rPr>
              <a:t>Build-ready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37760" y="1938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05B70"/>
                </a:solidFill>
              </a:rPr>
              <a:t>It includes material, size, and part function.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60120" y="292608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1234440" y="3108960"/>
            <a:ext cx="402336" cy="402336"/>
          </a:xfrm>
          <a:prstGeom prst="ellipse">
            <a:avLst/>
          </a:prstGeom>
          <a:solidFill>
            <a:srgbClr val="2EE6A6"/>
          </a:solidFill>
          <a:ln w="12700">
            <a:solidFill>
              <a:srgbClr val="2EE6A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371600" y="321868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B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874520" y="30906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Not ready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937760" y="312724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It is too vague to guide construction.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60120" y="411480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234440" y="4297680"/>
            <a:ext cx="402336" cy="402336"/>
          </a:xfrm>
          <a:prstGeom prst="ellipse">
            <a:avLst/>
          </a:prstGeom>
          <a:solidFill>
            <a:srgbClr val="2EE6A6"/>
          </a:solidFill>
          <a:ln w="12700">
            <a:solidFill>
              <a:srgbClr val="2EE6A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440740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C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874520" y="42793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Build-ready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4937760" y="431596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It gives a clear construction sequence.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60120" y="5394960"/>
            <a:ext cx="1001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C857"/>
                </a:solidFill>
              </a:rPr>
              <a:t>Takeaway: build-ready plans are specific enough to follow.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DEBRIEF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Exit Ticket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that you understand today's lesson before the next mission.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1691640"/>
            <a:ext cx="10469880" cy="4069080"/>
          </a:xfrm>
          <a:prstGeom prst="roundRect">
            <a:avLst>
              <a:gd name="adj" fmla="val 1798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188720" y="20299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83B"/>
                </a:solidFill>
              </a:rPr>
              <a:t>Respond in your notebook or on the assigned class format: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98448" y="2724912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63040" y="2852928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029968" y="2825496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label your build plan needs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1298448" y="3474720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463040" y="360273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029968" y="357530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material your team may use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1298448" y="4224528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463040" y="4352544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029968" y="432511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build step that should happen before decoration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1188720" y="5166360"/>
            <a:ext cx="9052560" cy="347472"/>
          </a:xfrm>
          <a:prstGeom prst="roundRect">
            <a:avLst>
              <a:gd name="adj" fmla="val 10526"/>
            </a:avLst>
          </a:prstGeom>
          <a:solidFill>
            <a:srgbClr val="E4F5FF"/>
          </a:solidFill>
          <a:ln w="12700">
            <a:solidFill>
              <a:srgbClr val="E4F5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25880" y="5276088"/>
            <a:ext cx="8732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83B"/>
                </a:solidFill>
              </a:rPr>
              <a:t>Next mission: Lesson 0.9 — Launch Pad Prototype Build Day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0.8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1669</Words>
  <Application>Microsoft Office PowerPoint</Application>
  <PresentationFormat>Widescreen</PresentationFormat>
  <Paragraphs>319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LockwoodSTEM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0.1 Course Launch &amp; Engineering Mindset</dc:title>
  <dc:subject>IED Unit 0 Lesson 0.1</dc:subject>
  <dc:creator>LockwoodSTEM</dc:creator>
  <cp:lastModifiedBy>Jonathan Lockwood</cp:lastModifiedBy>
  <cp:revision>1</cp:revision>
  <dcterms:created xsi:type="dcterms:W3CDTF">2026-07-16T18:24:39Z</dcterms:created>
  <dcterms:modified xsi:type="dcterms:W3CDTF">2026-07-16T20:37:06Z</dcterms:modified>
</cp:coreProperties>
</file>