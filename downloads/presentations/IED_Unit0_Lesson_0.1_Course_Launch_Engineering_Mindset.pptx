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3197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02920"/>
            <a:ext cx="2194560" cy="65836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13232" y="1417320"/>
            <a:ext cx="2148840" cy="347472"/>
          </a:xfrm>
          <a:prstGeom prst="roundRect">
            <a:avLst>
              <a:gd name="adj" fmla="val 10526"/>
            </a:avLst>
          </a:prstGeom>
          <a:solidFill>
            <a:srgbClr val="FFC857">
              <a:alpha val="90000"/>
            </a:srgbClr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86384" y="1499616"/>
            <a:ext cx="2002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81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IED UNIT 0 • LESSON 0.1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1874520"/>
            <a:ext cx="64008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Course Launch &amp;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Engineering Mindset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49808" y="3456432"/>
            <a:ext cx="6263640" cy="914400"/>
          </a:xfrm>
          <a:prstGeom prst="roundRect">
            <a:avLst>
              <a:gd name="adj" fmla="val 5000"/>
            </a:avLst>
          </a:prstGeom>
          <a:solidFill>
            <a:srgbClr val="113C65"/>
          </a:solidFill>
          <a:ln w="13970">
            <a:solidFill>
              <a:srgbClr val="4DDCFF">
                <a:alpha val="9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87552" y="365760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C8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 QUESTION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87552" y="3904488"/>
            <a:ext cx="562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do engineers think, document, and make evidence-based decisions?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26680" y="1417320"/>
            <a:ext cx="3063240" cy="749808"/>
          </a:xfrm>
          <a:prstGeom prst="roundRect">
            <a:avLst>
              <a:gd name="adj" fmla="val 6098"/>
            </a:avLst>
          </a:prstGeom>
          <a:solidFill>
            <a:srgbClr val="123A63"/>
          </a:solidFill>
          <a:ln w="13970">
            <a:solidFill>
              <a:srgbClr val="4DD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973568" y="1563624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DDCFF"/>
                </a:solidFill>
              </a:rPr>
              <a:t>DEFINE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710928" y="157276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EAF6FF"/>
                </a:solidFill>
              </a:rPr>
              <a:t>the problem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26680" y="2715768"/>
            <a:ext cx="3063240" cy="749808"/>
          </a:xfrm>
          <a:prstGeom prst="roundRect">
            <a:avLst>
              <a:gd name="adj" fmla="val 6098"/>
            </a:avLst>
          </a:prstGeom>
          <a:solidFill>
            <a:srgbClr val="123A63"/>
          </a:solidFill>
          <a:ln w="13970">
            <a:solidFill>
              <a:srgbClr val="2EE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973568" y="28620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E6A6"/>
                </a:solidFill>
              </a:rPr>
              <a:t>TEST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710928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EAF6FF"/>
                </a:solidFill>
              </a:rPr>
              <a:t>the idea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726680" y="4014216"/>
            <a:ext cx="3063240" cy="749808"/>
          </a:xfrm>
          <a:prstGeom prst="roundRect">
            <a:avLst>
              <a:gd name="adj" fmla="val 6098"/>
            </a:avLst>
          </a:prstGeom>
          <a:solidFill>
            <a:srgbClr val="123A63"/>
          </a:solidFill>
          <a:ln w="13970">
            <a:solidFill>
              <a:srgbClr val="FFC8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973568" y="4160520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</a:rPr>
              <a:t>DECIDE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710928" y="416966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EAF6FF"/>
                </a:solidFill>
              </a:rPr>
              <a:t>with evidence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587959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 to Engineering Design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BRIEFING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45-Minute Flight Plan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full lesson to launch the engineering mindset you will use all year.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572768"/>
            <a:ext cx="4892040" cy="4343400"/>
          </a:xfrm>
          <a:prstGeom prst="roundRect">
            <a:avLst>
              <a:gd name="adj" fmla="val 1684"/>
            </a:avLst>
          </a:prstGeom>
          <a:solidFill>
            <a:srgbClr val="0F3156"/>
          </a:solidFill>
          <a:ln w="15240">
            <a:solidFill>
              <a:srgbClr val="244D7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60120" y="18470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Learning targets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87552" y="23591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DDCFF"/>
                </a:solidFill>
              </a:rPr>
              <a:t>•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280160" y="2368296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purpose of IED through an aerospace lens.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987552" y="28163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DDCFF"/>
                </a:solidFill>
              </a:rPr>
              <a:t>•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280160" y="2825496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how engineering problems differ from typical assignments.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987552" y="32735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DDCFF"/>
                </a:solidFill>
              </a:rPr>
              <a:t>•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1280160" y="3282696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evidence engineers use to support design decisions.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960120" y="3977640"/>
            <a:ext cx="4160520" cy="0"/>
          </a:xfrm>
          <a:prstGeom prst="line">
            <a:avLst/>
          </a:prstGeom>
          <a:noFill/>
          <a:ln w="12700">
            <a:solidFill>
              <a:srgbClr val="3A6F9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60120" y="42519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DDCFF"/>
                </a:solidFill>
              </a:rPr>
              <a:t>Success looks like…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60120" y="45902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</a:rPr>
              <a:t>You can explain a design decision using more than “I think.”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5989320" y="1572768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309360" y="18470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83B"/>
                </a:solidFill>
              </a:rPr>
              <a:t>Agenda + pacing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291072" y="2304288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345936" y="2386584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5 min</a:t>
            </a:r>
            <a:endParaRPr lang="en-US" sz="690" dirty="0"/>
          </a:p>
        </p:txBody>
      </p:sp>
      <p:sp>
        <p:nvSpPr>
          <p:cNvPr id="22" name="Text 19"/>
          <p:cNvSpPr/>
          <p:nvPr/>
        </p:nvSpPr>
        <p:spPr>
          <a:xfrm>
            <a:off x="7242048" y="2350008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Opening prompt: What do engineers do?</a:t>
            </a:r>
            <a:endParaRPr lang="en-US" sz="1220" dirty="0"/>
          </a:p>
        </p:txBody>
      </p:sp>
      <p:sp>
        <p:nvSpPr>
          <p:cNvPr id="23" name="Shape 20"/>
          <p:cNvSpPr/>
          <p:nvPr/>
        </p:nvSpPr>
        <p:spPr>
          <a:xfrm>
            <a:off x="6291072" y="2743200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345936" y="2825496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6 min</a:t>
            </a:r>
            <a:endParaRPr lang="en-US" sz="690" dirty="0"/>
          </a:p>
        </p:txBody>
      </p:sp>
      <p:sp>
        <p:nvSpPr>
          <p:cNvPr id="25" name="Text 22"/>
          <p:cNvSpPr/>
          <p:nvPr/>
        </p:nvSpPr>
        <p:spPr>
          <a:xfrm>
            <a:off x="7242048" y="2788920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Engineer actions quick vote</a:t>
            </a:r>
            <a:endParaRPr lang="en-US" sz="1220" dirty="0"/>
          </a:p>
        </p:txBody>
      </p:sp>
      <p:sp>
        <p:nvSpPr>
          <p:cNvPr id="26" name="Shape 23"/>
          <p:cNvSpPr/>
          <p:nvPr/>
        </p:nvSpPr>
        <p:spPr>
          <a:xfrm>
            <a:off x="6291072" y="3182112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345936" y="3264408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7 min</a:t>
            </a:r>
            <a:endParaRPr lang="en-US" sz="690" dirty="0"/>
          </a:p>
        </p:txBody>
      </p:sp>
      <p:sp>
        <p:nvSpPr>
          <p:cNvPr id="28" name="Text 25"/>
          <p:cNvSpPr/>
          <p:nvPr/>
        </p:nvSpPr>
        <p:spPr>
          <a:xfrm>
            <a:off x="7242048" y="3227832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IED purpose + aerospace connection</a:t>
            </a:r>
            <a:endParaRPr lang="en-US" sz="1220" dirty="0"/>
          </a:p>
        </p:txBody>
      </p:sp>
      <p:sp>
        <p:nvSpPr>
          <p:cNvPr id="29" name="Shape 26"/>
          <p:cNvSpPr/>
          <p:nvPr/>
        </p:nvSpPr>
        <p:spPr>
          <a:xfrm>
            <a:off x="6291072" y="3621024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345936" y="3703320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8 min</a:t>
            </a:r>
            <a:endParaRPr lang="en-US" sz="690" dirty="0"/>
          </a:p>
        </p:txBody>
      </p:sp>
      <p:sp>
        <p:nvSpPr>
          <p:cNvPr id="31" name="Text 28"/>
          <p:cNvSpPr/>
          <p:nvPr/>
        </p:nvSpPr>
        <p:spPr>
          <a:xfrm>
            <a:off x="7242048" y="3666744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Assignment vs. engineering problem</a:t>
            </a:r>
            <a:endParaRPr lang="en-US" sz="1220" dirty="0"/>
          </a:p>
        </p:txBody>
      </p:sp>
      <p:sp>
        <p:nvSpPr>
          <p:cNvPr id="32" name="Shape 29"/>
          <p:cNvSpPr/>
          <p:nvPr/>
        </p:nvSpPr>
        <p:spPr>
          <a:xfrm>
            <a:off x="6291072" y="4059936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345936" y="4142232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10 min</a:t>
            </a:r>
            <a:endParaRPr lang="en-US" sz="690" dirty="0"/>
          </a:p>
        </p:txBody>
      </p:sp>
      <p:sp>
        <p:nvSpPr>
          <p:cNvPr id="34" name="Text 31"/>
          <p:cNvSpPr/>
          <p:nvPr/>
        </p:nvSpPr>
        <p:spPr>
          <a:xfrm>
            <a:off x="7242048" y="4105656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Evidence-based decision challenge</a:t>
            </a:r>
            <a:endParaRPr lang="en-US" sz="1220" dirty="0"/>
          </a:p>
        </p:txBody>
      </p:sp>
      <p:sp>
        <p:nvSpPr>
          <p:cNvPr id="35" name="Shape 32"/>
          <p:cNvSpPr/>
          <p:nvPr/>
        </p:nvSpPr>
        <p:spPr>
          <a:xfrm>
            <a:off x="6291072" y="4498848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345936" y="4581144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6 min</a:t>
            </a:r>
            <a:endParaRPr lang="en-US" sz="690" dirty="0"/>
          </a:p>
        </p:txBody>
      </p:sp>
      <p:sp>
        <p:nvSpPr>
          <p:cNvPr id="37" name="Text 34"/>
          <p:cNvSpPr/>
          <p:nvPr/>
        </p:nvSpPr>
        <p:spPr>
          <a:xfrm>
            <a:off x="7242048" y="4544568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Evidence or opinion quick check</a:t>
            </a:r>
            <a:endParaRPr lang="en-US" sz="1220" dirty="0"/>
          </a:p>
        </p:txBody>
      </p:sp>
      <p:sp>
        <p:nvSpPr>
          <p:cNvPr id="38" name="Shape 35"/>
          <p:cNvSpPr/>
          <p:nvPr/>
        </p:nvSpPr>
        <p:spPr>
          <a:xfrm>
            <a:off x="6291072" y="4937760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345936" y="5020056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3 min</a:t>
            </a:r>
            <a:endParaRPr lang="en-US" sz="690" dirty="0"/>
          </a:p>
        </p:txBody>
      </p:sp>
      <p:sp>
        <p:nvSpPr>
          <p:cNvPr id="40" name="Text 37"/>
          <p:cNvSpPr/>
          <p:nvPr/>
        </p:nvSpPr>
        <p:spPr>
          <a:xfrm>
            <a:off x="7242048" y="4983480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Exit debrief</a:t>
            </a:r>
            <a:endParaRPr lang="en-US" sz="1220" dirty="0"/>
          </a:p>
        </p:txBody>
      </p:sp>
      <p:sp>
        <p:nvSpPr>
          <p:cNvPr id="41" name="Shape 38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43" name="Text 40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PROMPT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do engineers do?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as a quick class discussion while attendance is taken.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48132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Think first. What actions, habits, or decisions make someone an engineer?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60120" y="2240280"/>
            <a:ext cx="10241280" cy="2057400"/>
          </a:xfrm>
          <a:prstGeom prst="roundRect">
            <a:avLst>
              <a:gd name="adj" fmla="val 3556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325880" y="2578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DDCFF"/>
                </a:solidFill>
              </a:rPr>
              <a:t>Quick class share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325880" y="3063240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EAF6FF"/>
                </a:solidFill>
              </a:rPr>
              <a:t>Raise your hand and share one short answer. Try to use an action word.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417320" y="3675888"/>
            <a:ext cx="8869680" cy="320040"/>
          </a:xfrm>
          <a:prstGeom prst="roundRect">
            <a:avLst>
              <a:gd name="adj" fmla="val 11429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60120" y="528523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DDCFF"/>
                </a:solidFill>
              </a:rPr>
              <a:t>We will reveal a working definition on the next slide.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DEBRIEF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Engineers Do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definition for the year.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</a:rPr>
              <a:t>Engineers use knowledge, tools, and creativity to solve problems under real constraints.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777240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05840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DDCFF"/>
                </a:solidFill>
              </a:rPr>
              <a:t>Define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33272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Clarify the need, user, criteria, and constraints.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93592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822192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E6A6"/>
                </a:solidFill>
              </a:rPr>
              <a:t>Generate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849624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Create multiple possible solutions before choosing one.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9944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FFC857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38544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Test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665976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Collect evidence from models, prototypes, data, and feedback.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226296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FF9E64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9454896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E64"/>
                </a:solidFill>
              </a:rPr>
              <a:t>Communicate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482328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Document decisions so others can understand and improve the work.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4400" y="534924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C857"/>
                </a:solidFill>
              </a:rPr>
              <a:t>Today's mission: practice thinking about claims, evidence, and decisions like an engineer.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VOTE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Engineer Actions: Which One Fits?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up fingers 1–4 or vote silently. Then justify your choice.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Prompt: Which action sounds most like engineering work?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77240" y="205740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005840" y="231343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161288" y="244144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645920" y="224028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Copying exact instructions to make the same model as everyone else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645920" y="267004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Completion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309360" y="205740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537960" y="231343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93408" y="244144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178040" y="224028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Choosing the first idea because it seems easiest to build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178040" y="267004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Shortcut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338328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1005840" y="363931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161288" y="376732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645920" y="356616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Testing two versions and comparing data before deciding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645920" y="399592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Engineering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309360" y="338328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537960" y="363931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693408" y="376732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7178040" y="356616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Making a design look impressive without checking if it works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7178040" y="399592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Appearance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914400" y="5257800"/>
            <a:ext cx="10241280" cy="502920"/>
          </a:xfrm>
          <a:prstGeom prst="roundRect">
            <a:avLst>
              <a:gd name="adj" fmla="val 7273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1097280" y="5422392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C857"/>
                </a:solidFill>
              </a:rPr>
              <a:t>Vote first. Then we will reveal the strongest engineering choice.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VOTE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Engineer Actions: Best Answer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is using evidence to make and defend design decisions.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E6A6"/>
                </a:solidFill>
              </a:rPr>
              <a:t>Best answer: 3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1965960"/>
            <a:ext cx="10241280" cy="960120"/>
          </a:xfrm>
          <a:prstGeom prst="roundRect">
            <a:avLst>
              <a:gd name="adj" fmla="val 7619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234440" y="2267712"/>
            <a:ext cx="955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Testing two versions and comparing data before deciding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14400" y="365760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97280" y="38587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Why it fits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70432" y="4224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It uses comparison, data, and a decision based on evidence.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25112" y="365760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07992" y="38587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Why the others miss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81144" y="4224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They focus on copying, ease, or appearance rather than proof.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35824" y="365760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918704" y="38587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Carry-forward idea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991856" y="4224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In IED, your answer is stronger when it connects to evidence.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LAUNCH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IED Through an Aerospace Lens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will build transferable engineering habits using aerospace contexts and projects.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627632"/>
            <a:ext cx="5166360" cy="4251960"/>
          </a:xfrm>
          <a:prstGeom prst="roundRect">
            <a:avLst>
              <a:gd name="adj" fmla="val 1720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60120" y="1901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83B"/>
                </a:solidFill>
              </a:rPr>
              <a:t>Core engineering skills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87552" y="242316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280160" y="243230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Sketching and visual communication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87552" y="282549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280160" y="283464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notebook documentation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87552" y="322783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1280160" y="32369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 modeling and technical drawings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987552" y="363016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280160" y="36393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Prototyping, testing, and data analysis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87552" y="403250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1280160" y="40416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reviews and evidence-based explanation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55080" y="1627632"/>
            <a:ext cx="5166360" cy="4251960"/>
          </a:xfrm>
          <a:prstGeom prst="roundRect">
            <a:avLst>
              <a:gd name="adj" fmla="val 1720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629400" y="1901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Aerospace connections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656832" y="242316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949440" y="2432304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Rocket launch pad design challenge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656832" y="282549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949440" y="2834640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Rocket models and assemblies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656832" y="322783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949440" y="3236976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Aircraft, drones, satellites, and rovers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656832" y="363016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949440" y="3639312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FabLab tools and manufacturing routines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656832" y="403250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949440" y="4041648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Human-centered aerospace capstone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108192" y="2011680"/>
            <a:ext cx="0" cy="3566160"/>
          </a:xfrm>
          <a:prstGeom prst="line">
            <a:avLst/>
          </a:prstGeom>
          <a:noFill/>
          <a:ln w="25400">
            <a:solidFill>
              <a:srgbClr val="4DDCF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+ TALK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Aerospace Connection Map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course to real aerospace systems before projects begin.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160020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051560" y="18745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83B"/>
                </a:solidFill>
              </a:rPr>
              <a:t>Choose one system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78992" y="242316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71600" y="2432304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Rocket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78992" y="280720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371600" y="2816352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Drone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78992" y="319125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71600" y="3200400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Satellite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78992" y="357530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71600" y="3584448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Rover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78992" y="39593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371600" y="3968496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Aircraft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51560" y="46268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83B"/>
                </a:solidFill>
              </a:rPr>
              <a:t>Then answer: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1032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16283B"/>
                </a:solidFill>
              </a:rPr>
              <a:t>What design choices would an engineer need to make for that system?</a:t>
            </a:r>
            <a:endParaRPr lang="en-US" sz="1260" dirty="0"/>
          </a:p>
        </p:txBody>
      </p:sp>
      <p:sp>
        <p:nvSpPr>
          <p:cNvPr id="21" name="Shape 18"/>
          <p:cNvSpPr/>
          <p:nvPr/>
        </p:nvSpPr>
        <p:spPr>
          <a:xfrm>
            <a:off x="4480560" y="1600200"/>
            <a:ext cx="6903720" cy="4160520"/>
          </a:xfrm>
          <a:prstGeom prst="roundRect">
            <a:avLst>
              <a:gd name="adj" fmla="val 1758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00600" y="18745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Map your answer to engineering habits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828032" y="2395728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4DD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4919472" y="2487168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Sketch</a:t>
            </a:r>
            <a:endParaRPr lang="en-US" sz="760" dirty="0"/>
          </a:p>
        </p:txBody>
      </p:sp>
      <p:sp>
        <p:nvSpPr>
          <p:cNvPr id="25" name="Text 22"/>
          <p:cNvSpPr/>
          <p:nvPr/>
        </p:nvSpPr>
        <p:spPr>
          <a:xfrm>
            <a:off x="6291072" y="245059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What features or shapes might matter?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828032" y="2926080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2EE6A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919472" y="3017520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Model</a:t>
            </a:r>
            <a:endParaRPr lang="en-US" sz="760" dirty="0"/>
          </a:p>
        </p:txBody>
      </p:sp>
      <p:sp>
        <p:nvSpPr>
          <p:cNvPr id="28" name="Text 25"/>
          <p:cNvSpPr/>
          <p:nvPr/>
        </p:nvSpPr>
        <p:spPr>
          <a:xfrm>
            <a:off x="6291072" y="2980944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What could be represented in CAD or with a prototype?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4828032" y="3456432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4DD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919472" y="3547872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Measure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91072" y="3511296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What dimensions, forces, distances, or data might matter?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828032" y="3986784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2EE6A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4919472" y="4078224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Test</a:t>
            </a:r>
            <a:endParaRPr lang="en-US" sz="760" dirty="0"/>
          </a:p>
        </p:txBody>
      </p:sp>
      <p:sp>
        <p:nvSpPr>
          <p:cNvPr id="34" name="Text 31"/>
          <p:cNvSpPr/>
          <p:nvPr/>
        </p:nvSpPr>
        <p:spPr>
          <a:xfrm>
            <a:off x="6291072" y="4041648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What would prove that the design works?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4828032" y="4517136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4DD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919472" y="4608576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Communicate</a:t>
            </a:r>
            <a:endParaRPr lang="en-US" sz="760" dirty="0"/>
          </a:p>
        </p:txBody>
      </p:sp>
      <p:sp>
        <p:nvSpPr>
          <p:cNvPr id="37" name="Text 34"/>
          <p:cNvSpPr/>
          <p:nvPr/>
        </p:nvSpPr>
        <p:spPr>
          <a:xfrm>
            <a:off x="6291072" y="4572000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Who needs to understand the design?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4800600" y="525780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C857"/>
                </a:solidFill>
              </a:rPr>
              <a:t>Share-out target: one system + one design decision + one kind of evidence.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MINDSET SHIFT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Assignment vs. Engineering Problem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not just to finish; the goal is to make a design claim you can defend.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60020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F4FAFF"/>
          </a:solidFill>
          <a:ln w="15240">
            <a:solidFill>
              <a:srgbClr val="D1EAF8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005840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283B"/>
                </a:solidFill>
              </a:rPr>
              <a:t>Typical assignment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05840" y="23042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6278"/>
                </a:solidFill>
              </a:rPr>
              <a:t>Completion mindset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24128" y="27889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16736" y="2798064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has one expected answer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24128" y="321868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316736" y="3227832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be completed and put away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24128" y="364845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16736" y="3657600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judged by correct/incorrect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24128" y="407822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16736" y="4087368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Mistakes are avoided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46520" y="160020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0F3156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766560" y="19202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Engineering problem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6766560" y="23042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E6A6"/>
                </a:solidFill>
              </a:rPr>
              <a:t>Evidence mindset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84848" y="27889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077456" y="2798064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 multiple possible solutions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84848" y="321868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077456" y="3227832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Must satisfy criteria and constraints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84848" y="364845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077456" y="3657600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Uses testing to compare designs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784848" y="407822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077456" y="4087368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Mistakes become evidence for improvement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742432" y="3154680"/>
            <a:ext cx="640080" cy="640080"/>
          </a:xfrm>
          <a:prstGeom prst="chevron">
            <a:avLst/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IDEA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Evidence-Based Engineering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Engineers connect what they claim to proof that others can inspect.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187452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0F3156"/>
          </a:solidFill>
          <a:ln w="15240">
            <a:solidFill>
              <a:srgbClr val="FFC857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097280" y="2121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Claim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097280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EAF6FF"/>
                </a:solidFill>
              </a:rPr>
              <a:t>What you believe about the design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023360" y="2331720"/>
            <a:ext cx="438912" cy="411480"/>
          </a:xfrm>
          <a:prstGeom prst="chevron">
            <a:avLst/>
          </a:prstGeom>
          <a:solidFill>
            <a:srgbClr val="89DDF8"/>
          </a:solidFill>
          <a:ln w="12700">
            <a:solidFill>
              <a:srgbClr val="89D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17720" y="187452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F4FAFF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846320" y="2121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283B"/>
                </a:solidFill>
              </a:rPr>
              <a:t>Evidence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846320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405B70"/>
                </a:solidFill>
              </a:rPr>
              <a:t>What proves or challenges the claim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772400" y="2331720"/>
            <a:ext cx="438912" cy="411480"/>
          </a:xfrm>
          <a:prstGeom prst="chevron">
            <a:avLst/>
          </a:prstGeom>
          <a:solidFill>
            <a:srgbClr val="89DDF8"/>
          </a:solidFill>
          <a:ln w="12700">
            <a:solidFill>
              <a:srgbClr val="89D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8366760" y="187452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0F3156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95360" y="2121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595360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EAF6FF"/>
                </a:solidFill>
              </a:rPr>
              <a:t>What you do next because of the evidence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60120" y="3767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Evidence can include…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60120" y="4315968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097280" y="441655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Sketches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251960" y="4315968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389120" y="441655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Measurements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43800" y="4315968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7680960" y="441655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Test data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60120" y="4882896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1097280" y="498348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Observations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251960" y="4882896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389120" y="498348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Photos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543800" y="4882896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7680960" y="498348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User feedback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 CHALLENGE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Evidence Would You Need?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the claim. Select the evidence that would best support it.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1536192"/>
            <a:ext cx="1065276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097280" y="18105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Claim: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920240" y="1792224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6283B"/>
                </a:solidFill>
              </a:rPr>
              <a:t>“Our launch pad design supports the rocket safely and is ready for testing.”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217627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</a:rPr>
              <a:t>Vote for the two strongest pieces of evidence.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005840" y="2880360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143000" y="2980944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A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508760" y="2953512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labeled sketch showing where the rocket contacts the support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1005840" y="3355848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43000" y="3456432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B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508760" y="3429000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photo that makes the prototype look finished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05840" y="3831336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1143000" y="3931920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C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508760" y="3904488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stability test showing the pad does not tip with the rocket placed on it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1005840" y="4306824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1143000" y="4407408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D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508760" y="4379976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teammate saying the design is probably strong enough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1005840" y="4782312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1143000" y="4882896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E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508760" y="4855464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list of the materials used to build the base and support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1005840" y="5532120"/>
            <a:ext cx="9966960" cy="384048"/>
          </a:xfrm>
          <a:prstGeom prst="roundRect">
            <a:avLst>
              <a:gd name="adj" fmla="val 7143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1170432" y="5660136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C857"/>
                </a:solidFill>
              </a:rPr>
              <a:t>Vote first. Then we will reveal the best evidence pair.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Evidence Would You Need?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evidence must connect directly to the design claim.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E6A6"/>
                </a:solidFill>
              </a:rPr>
              <a:t>Best support: A + C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2057400"/>
            <a:ext cx="10241280" cy="868680"/>
          </a:xfrm>
          <a:prstGeom prst="roundRect">
            <a:avLst>
              <a:gd name="adj" fmla="val 8421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88720" y="2331720"/>
            <a:ext cx="256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E6A6"/>
                </a:solidFill>
              </a:rPr>
              <a:t>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45920" y="2258568"/>
            <a:ext cx="6492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A labeled sketch showing where the rocket contacts the support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366760" y="227685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6FF"/>
                </a:solidFill>
              </a:rPr>
              <a:t>Shows design intent and support locations.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914400" y="3227832"/>
            <a:ext cx="10241280" cy="868680"/>
          </a:xfrm>
          <a:prstGeom prst="roundRect">
            <a:avLst>
              <a:gd name="adj" fmla="val 8421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188720" y="3502152"/>
            <a:ext cx="256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E6A6"/>
                </a:solidFill>
              </a:rPr>
              <a:t>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645920" y="3429000"/>
            <a:ext cx="6492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A stability test showing the pad does not tip with the rocket placed on it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366760" y="34472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6FF"/>
                </a:solidFill>
              </a:rPr>
              <a:t>Shows performance against a safety/stability criterion.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48006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C857"/>
                </a:solidFill>
              </a:rPr>
              <a:t>Useful, but not enough alone: photos, material lists, and teammate opinions can support the story, but they do not prove the claim by themselves.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RESPONSE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Engineer Do Next?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strongest next step and explain your reasoning.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536192"/>
            <a:ext cx="10241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 team builds a small rocket support. During the first test, it stands up, but the rocket leans to one side.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960120" y="2395728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207008" y="2551176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A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600200" y="2514600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Keep it because the prototype did not fall over.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60120" y="3108960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207008" y="3264408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B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600200" y="3227832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Add decorations so the design looks more complete.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60120" y="3822192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207008" y="3977640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C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600200" y="3941064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Record the lean, identify where the support is uneven, revise, and retest.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60120" y="4535424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1207008" y="4690872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1600200" y="4654296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Start over without writing down what happened.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60120" y="5422392"/>
            <a:ext cx="10058400" cy="438912"/>
          </a:xfrm>
          <a:prstGeom prst="roundRect">
            <a:avLst>
              <a:gd name="adj" fmla="val 8333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1143000" y="5568696"/>
            <a:ext cx="9692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FFC857"/>
                </a:solidFill>
              </a:rPr>
              <a:t>Vote first. Then we will reveal the strongest next step.</a:t>
            </a:r>
            <a:endParaRPr lang="en-US" sz="1180" dirty="0"/>
          </a:p>
        </p:txBody>
      </p:sp>
      <p:sp>
        <p:nvSpPr>
          <p:cNvPr id="22" name="Shape 19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Engineer Do Next?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next step turns a problem into useful evidence.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E6A6"/>
                </a:solidFill>
              </a:rPr>
              <a:t>Best answer: C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2011680"/>
            <a:ext cx="10241280" cy="960120"/>
          </a:xfrm>
          <a:prstGeom prst="roundRect">
            <a:avLst>
              <a:gd name="adj" fmla="val 7619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234440" y="2304288"/>
            <a:ext cx="9555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Record the lean, identify where the support is uneven, revise, and retest.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914400" y="3703320"/>
            <a:ext cx="297180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97280" y="3913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Record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70432" y="4279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Write down what happened during the test.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25112" y="3703320"/>
            <a:ext cx="297180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07992" y="3913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Identify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81144" y="4279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Find the likely cause of the lean.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35824" y="3703320"/>
            <a:ext cx="297180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918704" y="3913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Revise + Retest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991856" y="4279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Change the design and collect new evidence.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14400" y="534924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C857"/>
                </a:solidFill>
              </a:rPr>
              <a:t>Engineering move: use the problem as evidence, not as a reason to hide or restart the work.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CHECK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or Opinion?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Vote first. Then explain which statement is strongest and why.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60120" y="1737360"/>
            <a:ext cx="10012680" cy="822960"/>
          </a:xfrm>
          <a:prstGeom prst="roundRect">
            <a:avLst>
              <a:gd name="adj" fmla="val 888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234440" y="1938528"/>
            <a:ext cx="420624" cy="420624"/>
          </a:xfrm>
          <a:prstGeom prst="ellipse">
            <a:avLst/>
          </a:prstGeom>
          <a:solidFill>
            <a:srgbClr val="6D7F8E"/>
          </a:solidFill>
          <a:ln w="12700">
            <a:solidFill>
              <a:srgbClr val="6D7F8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371600" y="2048256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874520" y="19385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283B"/>
                </a:solidFill>
              </a:rPr>
              <a:t>“Our design is the best because it looks strong.”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199339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D7F8E"/>
                </a:solidFill>
              </a:rPr>
              <a:t>Vote: evidence or opinion?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60120" y="2971800"/>
            <a:ext cx="10012680" cy="822960"/>
          </a:xfrm>
          <a:prstGeom prst="roundRect">
            <a:avLst>
              <a:gd name="adj" fmla="val 8889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234440" y="3172968"/>
            <a:ext cx="420624" cy="420624"/>
          </a:xfrm>
          <a:prstGeom prst="ellipse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371600" y="3282696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B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874520" y="31729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“Version 2 traveled 12 ft farther than Version 1 in the official test.”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503920" y="322783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E6A6"/>
                </a:solidFill>
              </a:rPr>
              <a:t>Vote: evidence or opinion?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60120" y="4206240"/>
            <a:ext cx="10012680" cy="822960"/>
          </a:xfrm>
          <a:prstGeom prst="roundRect">
            <a:avLst>
              <a:gd name="adj" fmla="val 8889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1234440" y="4407408"/>
            <a:ext cx="420624" cy="420624"/>
          </a:xfrm>
          <a:prstGeom prst="ellipse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371600" y="4517136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C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874520" y="44074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“We changed the wing fold because the first test curved left three times.”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503920" y="446227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E6A6"/>
                </a:solidFill>
              </a:rPr>
              <a:t>Vote: evidence or opinion?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0120" y="5596128"/>
            <a:ext cx="10012680" cy="457200"/>
          </a:xfrm>
          <a:prstGeom prst="roundRect">
            <a:avLst>
              <a:gd name="adj" fmla="val 8000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1115568" y="5733288"/>
            <a:ext cx="9646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C857"/>
                </a:solidFill>
              </a:rPr>
              <a:t>Vote first. Then we will reveal which statements are strongest.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CHECK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or Opinion?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strong engineering answer connects a claim to specific evidence.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60120" y="1737360"/>
            <a:ext cx="10012680" cy="777240"/>
          </a:xfrm>
          <a:prstGeom prst="roundRect">
            <a:avLst>
              <a:gd name="adj" fmla="val 9412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234440" y="1920240"/>
            <a:ext cx="402336" cy="402336"/>
          </a:xfrm>
          <a:prstGeom prst="ellipse">
            <a:avLst/>
          </a:prstGeom>
          <a:solidFill>
            <a:srgbClr val="6D7F8E"/>
          </a:solidFill>
          <a:ln w="12700">
            <a:solidFill>
              <a:srgbClr val="6D7F8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371600" y="2029968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87452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6283B"/>
                </a:solidFill>
              </a:rPr>
              <a:t>Opinion-heavy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937760" y="1938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05B70"/>
                </a:solidFill>
              </a:rPr>
              <a:t>Uses a vague judgment: “looks strong.”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60120" y="2926080"/>
            <a:ext cx="10012680" cy="777240"/>
          </a:xfrm>
          <a:prstGeom prst="roundRect">
            <a:avLst>
              <a:gd name="adj" fmla="val 9412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234440" y="3108960"/>
            <a:ext cx="402336" cy="402336"/>
          </a:xfrm>
          <a:prstGeom prst="ellipse">
            <a:avLst/>
          </a:prstGeom>
          <a:solidFill>
            <a:srgbClr val="2EE6A6"/>
          </a:solidFill>
          <a:ln w="12700">
            <a:solidFill>
              <a:srgbClr val="2EE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371600" y="3218688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B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874520" y="30906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Evidence-based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937760" y="312724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Uses a measurable result: 12 ft farther.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60120" y="4114800"/>
            <a:ext cx="10012680" cy="777240"/>
          </a:xfrm>
          <a:prstGeom prst="roundRect">
            <a:avLst>
              <a:gd name="adj" fmla="val 9412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1234440" y="4297680"/>
            <a:ext cx="402336" cy="402336"/>
          </a:xfrm>
          <a:prstGeom prst="ellipse">
            <a:avLst/>
          </a:prstGeom>
          <a:solidFill>
            <a:srgbClr val="2EE6A6"/>
          </a:solidFill>
          <a:ln w="12700">
            <a:solidFill>
              <a:srgbClr val="2EE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371600" y="4407408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C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874520" y="42793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Evidence-based reasoning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4937760" y="431596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Connects a change to repeated test observations.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960120" y="5394960"/>
            <a:ext cx="1001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C857"/>
                </a:solidFill>
              </a:rPr>
              <a:t>Takeaway: claim + specific evidence = stronger engineering communication.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DEBRIEF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Exit Ticket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that you understand the mindset before we move into notebook setup.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1691640"/>
            <a:ext cx="10469880" cy="4069080"/>
          </a:xfrm>
          <a:prstGeom prst="roundRect">
            <a:avLst>
              <a:gd name="adj" fmla="val 1798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188720" y="20299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83B"/>
                </a:solidFill>
              </a:rPr>
              <a:t>Respond in your notebook or on the assigned class format: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98448" y="2724912"/>
            <a:ext cx="457200" cy="457200"/>
          </a:xfrm>
          <a:prstGeom prst="ellipse">
            <a:avLst/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463040" y="2852928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029968" y="2825496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6283B"/>
                </a:solidFill>
              </a:rPr>
              <a:t>One way engineering problems are different from typical school assignments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1298448" y="3474720"/>
            <a:ext cx="457200" cy="457200"/>
          </a:xfrm>
          <a:prstGeom prst="ellipse">
            <a:avLst/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463040" y="360273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029968" y="3575304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6283B"/>
                </a:solidFill>
              </a:rPr>
              <a:t>One type of evidence you could use to support a design decision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1298448" y="4224528"/>
            <a:ext cx="457200" cy="457200"/>
          </a:xfrm>
          <a:prstGeom prst="ellipse">
            <a:avLst/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463040" y="4352544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029968" y="4325112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6283B"/>
                </a:solidFill>
              </a:rPr>
              <a:t>One question you still have about IED, aerospace engineering, or this class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1188720" y="5166360"/>
            <a:ext cx="9052560" cy="347472"/>
          </a:xfrm>
          <a:prstGeom prst="roundRect">
            <a:avLst>
              <a:gd name="adj" fmla="val 10526"/>
            </a:avLst>
          </a:prstGeom>
          <a:solidFill>
            <a:srgbClr val="E4F5FF"/>
          </a:solidFill>
          <a:ln w="12700">
            <a:solidFill>
              <a:srgbClr val="E4F5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325880" y="5276088"/>
            <a:ext cx="8732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83B"/>
                </a:solidFill>
              </a:rPr>
              <a:t>Next mission: Lesson 0.2 — Engineering Notebook Setup &amp; Course Resources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1645</Words>
  <Application>Microsoft Office PowerPoint</Application>
  <PresentationFormat>Widescreen</PresentationFormat>
  <Paragraphs>318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LockwoodSTEM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0.1 Course Launch &amp; Engineering Mindset</dc:title>
  <dc:subject>IED Unit 0 Lesson 0.1</dc:subject>
  <dc:creator>LockwoodSTEM</dc:creator>
  <cp:lastModifiedBy>Jonathan Lockwood</cp:lastModifiedBy>
  <cp:revision>2</cp:revision>
  <dcterms:created xsi:type="dcterms:W3CDTF">2026-07-16T18:24:39Z</dcterms:created>
  <dcterms:modified xsi:type="dcterms:W3CDTF">2026-08-12T23:06:34Z</dcterms:modified>
</cp:coreProperties>
</file>