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0040"/>
            <a:ext cx="1463040" cy="502920"/>
          </a:xfrm>
          <a:prstGeom prst="rect">
            <a:avLst/>
          </a:prstGeom>
        </p:spPr>
      </p:pic>
      <p:pic>
        <p:nvPicPr>
          <p:cNvPr id="3" name="Image 1" descr="/mnt/data/site_orig/LockwoodSTEM_V3-main/assets/img/course-icons/ied-course-icon.png">    </p:cNvPr>
          <p:cNvPicPr>
            <a:picLocks noChangeAspect="1"/>
          </p:cNvPicPr>
          <p:nvPr/>
        </p:nvPicPr>
        <p:blipFill>
          <a:blip r:embed="rId2">
            <a:alphaModFix amt="96000"/>
          </a:blip>
          <a:stretch>
            <a:fillRect/>
          </a:stretch>
        </p:blipFill>
        <p:spPr>
          <a:xfrm>
            <a:off x="9646920" y="457200"/>
            <a:ext cx="1417320" cy="14173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1225296"/>
            <a:ext cx="5486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IED UNIT 4 • LESSON 4.6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658368" y="1609344"/>
            <a:ext cx="7589520" cy="10789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 Exploration: Linkages, Hinges, Cams, Gears, and Pulleys</a:t>
            </a:r>
            <a:endParaRPr lang="en-US" sz="3100" dirty="0"/>
          </a:p>
        </p:txBody>
      </p:sp>
      <p:sp>
        <p:nvSpPr>
          <p:cNvPr id="6" name="Text 2"/>
          <p:cNvSpPr/>
          <p:nvPr/>
        </p:nvSpPr>
        <p:spPr>
          <a:xfrm>
            <a:off x="658368" y="3063240"/>
            <a:ext cx="20116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QUESTION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58368" y="3364992"/>
            <a:ext cx="7772400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can physical mechanism exploration reveal design possibilities and limitations?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58368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822960" y="4800600"/>
            <a:ext cx="1627632" cy="0"/>
          </a:xfrm>
          <a:prstGeom prst="line">
            <a:avLst/>
          </a:prstGeom>
          <a:noFill/>
          <a:ln w="12700">
            <a:solidFill>
              <a:srgbClr val="2ED3F6">
                <a:alpha val="65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172968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D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337560" y="4800600"/>
            <a:ext cx="1627632" cy="0"/>
          </a:xfrm>
          <a:prstGeom prst="line">
            <a:avLst/>
          </a:prstGeom>
          <a:noFill/>
          <a:ln w="12700">
            <a:solidFill>
              <a:srgbClr val="2ED3F6">
                <a:alpha val="65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687568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852160" y="4800600"/>
            <a:ext cx="1627632" cy="0"/>
          </a:xfrm>
          <a:prstGeom prst="line">
            <a:avLst/>
          </a:prstGeom>
          <a:noFill/>
          <a:ln w="12700">
            <a:solidFill>
              <a:srgbClr val="2ED3F6">
                <a:alpha val="65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58368" y="6217920"/>
            <a:ext cx="77724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F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Aerospace Mechanisms, Materials &amp; Electromechanical Systems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BRIEFING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45-Minute Flight Plan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4.6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2920" y="1133856"/>
            <a:ext cx="10058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 lesson to build the system-thinking habits used throughout Unit 4.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4360" y="1572768"/>
            <a:ext cx="3886200" cy="233172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1737360"/>
            <a:ext cx="346557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targets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86968" y="2139696"/>
            <a:ext cx="338328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 how different mechanisms move and transmit force.</a:t>
            </a:r>
            <a:endParaRPr lang="en-US" sz="1280" dirty="0"/>
          </a:p>
          <a:p>
            <a:pPr marL="165100" indent="-165100">
              <a:buSzPct val="100000"/>
              <a:buChar char="•"/>
            </a:pPr>
            <a:r>
              <a:rPr lang="en-US" sz="12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advantages and limitations of linkages, hinges, cams, gears, and pulleys.</a:t>
            </a:r>
            <a:endParaRPr lang="en-US" sz="1280" dirty="0"/>
          </a:p>
          <a:p>
            <a:pPr marL="165100" indent="-165100">
              <a:buSzPct val="100000"/>
              <a:buChar char="•"/>
            </a:pPr>
            <a:r>
              <a:rPr lang="en-US" sz="12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Sketch a mechanism idea that could support the Unit 4 prototype.</a:t>
            </a:r>
            <a:endParaRPr lang="en-US" sz="1280" dirty="0"/>
          </a:p>
        </p:txBody>
      </p:sp>
      <p:sp>
        <p:nvSpPr>
          <p:cNvPr id="11" name="Shape 8"/>
          <p:cNvSpPr/>
          <p:nvPr/>
        </p:nvSpPr>
        <p:spPr>
          <a:xfrm>
            <a:off x="4709160" y="1572768"/>
            <a:ext cx="3063240" cy="2331720"/>
          </a:xfrm>
          <a:prstGeom prst="roundRect">
            <a:avLst>
              <a:gd name="adj" fmla="val 5882"/>
            </a:avLst>
          </a:prstGeom>
          <a:solidFill>
            <a:srgbClr val="F7FBFF"/>
          </a:solidFill>
          <a:ln w="12700">
            <a:solidFill>
              <a:srgbClr val="C9E6F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19472" y="1737360"/>
            <a:ext cx="26426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looks like…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937760" y="2103120"/>
            <a:ext cx="2606040" cy="1673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can compare mechanism options and identify strengths, limits, and possible uses for a prototype.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001000" y="1572768"/>
            <a:ext cx="3520440" cy="4023360"/>
          </a:xfrm>
          <a:prstGeom prst="roundRect">
            <a:avLst>
              <a:gd name="adj" fmla="val 3896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11312" y="1737360"/>
            <a:ext cx="30998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+ pacing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93608" y="2139696"/>
            <a:ext cx="3017520" cy="3337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min Opening prompt</a:t>
            </a:r>
            <a:endParaRPr lang="en-US" sz="1120" dirty="0"/>
          </a:p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min Quick vote</a:t>
            </a:r>
            <a:endParaRPr lang="en-US" sz="1120" dirty="0"/>
          </a:p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min Unit 4 connection</a:t>
            </a:r>
            <a:endParaRPr lang="en-US" sz="1120" dirty="0"/>
          </a:p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min Core skill</a:t>
            </a:r>
            <a:endParaRPr lang="en-US" sz="1120" dirty="0"/>
          </a:p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min Evidence challenge</a:t>
            </a:r>
            <a:endParaRPr lang="en-US" sz="1120" dirty="0"/>
          </a:p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min Scenario check</a:t>
            </a:r>
            <a:endParaRPr lang="en-US" sz="1120" dirty="0"/>
          </a:p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min Exit debrief</a:t>
            </a:r>
            <a:endParaRPr lang="en-US" sz="1120" dirty="0"/>
          </a:p>
        </p:txBody>
      </p:sp>
      <p:sp>
        <p:nvSpPr>
          <p:cNvPr id="17" name="Text 14"/>
          <p:cNvSpPr/>
          <p:nvPr/>
        </p:nvSpPr>
        <p:spPr>
          <a:xfrm>
            <a:off x="713232" y="4709160"/>
            <a:ext cx="66751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end, your claim about today’s work should connect to evidence someone else can inspect.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PROMPT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can physical mechanism exploration reveal design possibilities and limitations?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4.6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1520" y="2331720"/>
            <a:ext cx="5166360" cy="1965960"/>
          </a:xfrm>
          <a:prstGeom prst="roundRect">
            <a:avLst>
              <a:gd name="adj" fmla="val 6977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41832" y="2496312"/>
            <a:ext cx="474573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first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2862072"/>
            <a:ext cx="4709160" cy="1307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materials, forces, motion, circuit behavior, or data would help answer today’s focus question?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263640" y="2331720"/>
            <a:ext cx="4617720" cy="1965960"/>
          </a:xfrm>
          <a:prstGeom prst="roundRect">
            <a:avLst>
              <a:gd name="adj" fmla="val 6977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73952" y="2496312"/>
            <a:ext cx="41970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class share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92240" y="2862072"/>
            <a:ext cx="4160520" cy="1307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one short answer. Try to use a specific engineering action word.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77240" y="5074920"/>
            <a:ext cx="91440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will reveal a working lesson definition on the next slide.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DEBRIEF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Definition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4.6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13232" y="1298448"/>
            <a:ext cx="10716768" cy="1207008"/>
          </a:xfrm>
          <a:prstGeom prst="roundRect">
            <a:avLst>
              <a:gd name="adj" fmla="val 11364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23544" y="1463040"/>
            <a:ext cx="10296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working definition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1832" y="1828800"/>
            <a:ext cx="10259568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this lesson, engineers explore, compare, sketch so an aerospace system can be built, tested, revised, and defended with evidence.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68680" y="2907792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2971800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435608" y="2889504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35608" y="3182112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 how different mechanisms move and transmit force.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4160520" y="2907792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60520" y="2971800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27448" y="2889504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727448" y="3182112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advantages and limitations of linkages, hinges, cams, gears, and pulleys.</a:t>
            </a:r>
            <a:endParaRPr lang="en-US" sz="1220" dirty="0"/>
          </a:p>
        </p:txBody>
      </p:sp>
      <p:sp>
        <p:nvSpPr>
          <p:cNvPr id="18" name="Shape 15"/>
          <p:cNvSpPr/>
          <p:nvPr/>
        </p:nvSpPr>
        <p:spPr>
          <a:xfrm>
            <a:off x="7452360" y="2907792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52360" y="2971800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019288" y="2889504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Sketch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019288" y="3182112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Sketch a mechanism idea that could support the Unit 4 prototype.</a:t>
            </a:r>
            <a:endParaRPr lang="en-US" sz="1220" dirty="0"/>
          </a:p>
        </p:txBody>
      </p:sp>
      <p:sp>
        <p:nvSpPr>
          <p:cNvPr id="22" name="Text 19"/>
          <p:cNvSpPr/>
          <p:nvPr/>
        </p:nvSpPr>
        <p:spPr>
          <a:xfrm>
            <a:off x="868680" y="5193792"/>
            <a:ext cx="98755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Carry-forward idea: good systems combine structure, motion, electrical behavior, and data into one clear design story.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VOTE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One Fits?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4.6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9509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up fingers 1–4 or vote silently. Then justify your choice.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1627632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Prompt: Which action best supports mechanism exploration: linkages, hinges, cams, gears, and pulleys?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77240" y="2331720"/>
            <a:ext cx="480060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2496312"/>
            <a:ext cx="437997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05840" y="286207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 the first example without checking the system goal</a:t>
            </a:r>
            <a:endParaRPr lang="en-US" sz="1260" dirty="0"/>
          </a:p>
        </p:txBody>
      </p:sp>
      <p:sp>
        <p:nvSpPr>
          <p:cNvPr id="12" name="Shape 9"/>
          <p:cNvSpPr/>
          <p:nvPr/>
        </p:nvSpPr>
        <p:spPr>
          <a:xfrm>
            <a:off x="6172200" y="2331720"/>
            <a:ext cx="480060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82512" y="2496312"/>
            <a:ext cx="437997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0" y="286207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evidence and criteria to make a controlled decision</a:t>
            </a:r>
            <a:endParaRPr lang="en-US" sz="1260" dirty="0"/>
          </a:p>
        </p:txBody>
      </p:sp>
      <p:sp>
        <p:nvSpPr>
          <p:cNvPr id="15" name="Shape 12"/>
          <p:cNvSpPr/>
          <p:nvPr/>
        </p:nvSpPr>
        <p:spPr>
          <a:xfrm>
            <a:off x="777240" y="3657600"/>
            <a:ext cx="480060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87552" y="3822192"/>
            <a:ext cx="437997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05840" y="418795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the simplest option because it is fastest</a:t>
            </a:r>
            <a:endParaRPr lang="en-US" sz="1260" dirty="0"/>
          </a:p>
        </p:txBody>
      </p:sp>
      <p:sp>
        <p:nvSpPr>
          <p:cNvPr id="18" name="Shape 15"/>
          <p:cNvSpPr/>
          <p:nvPr/>
        </p:nvSpPr>
        <p:spPr>
          <a:xfrm>
            <a:off x="6172200" y="3657600"/>
            <a:ext cx="480060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82512" y="3822192"/>
            <a:ext cx="437997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0" y="418795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prototype look finished before testing it</a:t>
            </a:r>
            <a:endParaRPr lang="en-US" sz="1260" dirty="0"/>
          </a:p>
        </p:txBody>
      </p:sp>
      <p:sp>
        <p:nvSpPr>
          <p:cNvPr id="21" name="Text 18"/>
          <p:cNvSpPr/>
          <p:nvPr/>
        </p:nvSpPr>
        <p:spPr>
          <a:xfrm>
            <a:off x="777240" y="5321808"/>
            <a:ext cx="8595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 next slide reveals the strongest engineering choice.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4.6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22960" y="1417320"/>
            <a:ext cx="3703320" cy="2057400"/>
          </a:xfrm>
          <a:prstGeom prst="roundRect">
            <a:avLst>
              <a:gd name="adj" fmla="val 6667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33272" y="1581912"/>
            <a:ext cx="32826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1560" y="1947672"/>
            <a:ext cx="324612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— Compare how each mechanism behaves before selecting one for the prototype.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800600" y="1417320"/>
            <a:ext cx="2926080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10912" y="1581912"/>
            <a:ext cx="25054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fits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0" y="1947672"/>
            <a:ext cx="246888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uses lesson-specific evidence, criteria, or system behavior instead of guessing.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001000" y="1417320"/>
            <a:ext cx="2926080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11312" y="1581912"/>
            <a:ext cx="25054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others miss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00" y="1947672"/>
            <a:ext cx="246888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treat engineering as completion rather than controlled decision-making.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14400" y="4343400"/>
            <a:ext cx="9875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IED, your answer is stronger when it connects a system claim to observable proof.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4 CONNECTION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Aerospace Systems Evidence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4.6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4 connects materials, mechanisms, motion, data, circuits, and prototype testing into one working system.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85800" y="1755648"/>
            <a:ext cx="32461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6112" y="1920240"/>
            <a:ext cx="28254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Materials + structure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78408" y="2322576"/>
            <a:ext cx="274320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 and stiffness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Mass and durability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Manufacturing limits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test evidence</a:t>
            </a:r>
            <a:endParaRPr lang="en-US" sz="1340" dirty="0"/>
          </a:p>
        </p:txBody>
      </p:sp>
      <p:sp>
        <p:nvSpPr>
          <p:cNvPr id="11" name="Shape 8"/>
          <p:cNvSpPr/>
          <p:nvPr/>
        </p:nvSpPr>
        <p:spPr>
          <a:xfrm>
            <a:off x="4434840" y="1755648"/>
            <a:ext cx="32461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45152" y="1920240"/>
            <a:ext cx="28254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 + motion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27448" y="2322576"/>
            <a:ext cx="274320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and output motion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Friction and force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 and alignment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Functional checks</a:t>
            </a:r>
            <a:endParaRPr lang="en-US" sz="1340" dirty="0"/>
          </a:p>
        </p:txBody>
      </p:sp>
      <p:sp>
        <p:nvSpPr>
          <p:cNvPr id="14" name="Shape 11"/>
          <p:cNvSpPr/>
          <p:nvPr/>
        </p:nvSpPr>
        <p:spPr>
          <a:xfrm>
            <a:off x="8183880" y="1755648"/>
            <a:ext cx="32461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94192" y="1920240"/>
            <a:ext cx="28254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Circuits + data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476488" y="2322576"/>
            <a:ext cx="274320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connections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 or electrical function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protocol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Graphs and conclusions</a:t>
            </a:r>
            <a:endParaRPr lang="en-US" sz="1340" dirty="0"/>
          </a:p>
        </p:txBody>
      </p:sp>
      <p:sp>
        <p:nvSpPr>
          <p:cNvPr id="17" name="Text 14"/>
          <p:cNvSpPr/>
          <p:nvPr/>
        </p:nvSpPr>
        <p:spPr>
          <a:xfrm>
            <a:off x="822960" y="5074920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focus: You can compare mechanism options and identify strengths, limits, and possible uses for a prototype.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+ TALK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the Skill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4.6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05840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one system evidence source and connect it to today’s lesson.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" y="169164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6112" y="1856232"/>
            <a:ext cx="323697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one evidence source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78408" y="2258568"/>
            <a:ext cx="315468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test result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 sketch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Friction observation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Circuit check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or data table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617720" y="1691640"/>
            <a:ext cx="6537960" cy="3291840"/>
          </a:xfrm>
          <a:prstGeom prst="roundRect">
            <a:avLst>
              <a:gd name="adj" fmla="val 4167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28032" y="1856232"/>
            <a:ext cx="611733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answer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46320" y="2221992"/>
            <a:ext cx="6080760" cy="2633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would this evidence help you explore, compare, or sketch the prototype system?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731520" y="5349240"/>
            <a:ext cx="987552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Share-out target: one evidence source + one system decision + one reason it matters.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SKILL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Are Practicing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4.6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85800" y="1508760"/>
            <a:ext cx="3246120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1673352"/>
            <a:ext cx="28254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 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2039112"/>
            <a:ext cx="2788920" cy="1764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Hands-on exploration reveals motion issues that diagrams may hide.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4389120" y="1508760"/>
            <a:ext cx="3246120" cy="2423160"/>
          </a:xfrm>
          <a:prstGeom prst="roundRect">
            <a:avLst>
              <a:gd name="adj" fmla="val 5660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99432" y="1673352"/>
            <a:ext cx="28254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 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17720" y="2039112"/>
            <a:ext cx="2788920" cy="1764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mechanism type has tradeoffs in complexity, control, reliability, and buildability.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8092440" y="1508760"/>
            <a:ext cx="3246120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02752" y="1673352"/>
            <a:ext cx="28254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 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321040" y="2039112"/>
            <a:ext cx="2788920" cy="1764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sketches help translate a mechanism idea into a build plan.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1143000" y="4526280"/>
            <a:ext cx="9921240" cy="868680"/>
          </a:xfrm>
          <a:prstGeom prst="roundRect">
            <a:avLst>
              <a:gd name="adj" fmla="val 15789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53312" y="4690872"/>
            <a:ext cx="95006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habit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371600" y="5056632"/>
            <a:ext cx="946404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just complete the prototype task. Save the evidence that explains how you know the system works or what should change next.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→ Evidence → Decision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4.6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914400" y="146304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52704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81328" y="1444752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81328" y="1737360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believe about the material, mechanism, circuit, data, or prototype.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4343400" y="146304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43400" y="152704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910328" y="1444752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10328" y="1737360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proves or challenges the claim: tests, graphs, observations, photos, measurements.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7772400" y="146304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0" y="152704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339328" y="1444752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339328" y="1737360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do next because of the evidence.</a:t>
            </a:r>
            <a:endParaRPr lang="en-US" sz="1220" dirty="0"/>
          </a:p>
        </p:txBody>
      </p:sp>
      <p:sp>
        <p:nvSpPr>
          <p:cNvPr id="19" name="Text 16"/>
          <p:cNvSpPr/>
          <p:nvPr/>
        </p:nvSpPr>
        <p:spPr>
          <a:xfrm>
            <a:off x="1005840" y="3337560"/>
            <a:ext cx="98755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claim: “My mechanism exploration: linkages, hinges, cams, gears, and pulleys work is ready to move forward.”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1005840" y="4069080"/>
            <a:ext cx="91440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would prove the claim?</a:t>
            </a:r>
            <a:endParaRPr lang="en-US" sz="1700" dirty="0"/>
          </a:p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would challenge it?</a:t>
            </a:r>
            <a:endParaRPr lang="en-US" sz="1700" dirty="0"/>
          </a:p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decision should happen next?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Would You Need?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4.6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31520" y="1234440"/>
            <a:ext cx="1024128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Claim: “My mechanism exploration: linkages, hinges, cams, gears, and pulleys work is accurate and ready to move forward.”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777240" y="2057400"/>
            <a:ext cx="4892040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222199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05840" y="2587752"/>
            <a:ext cx="443484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photo, graph, sketch, or model view that shows the work</a:t>
            </a:r>
            <a:endParaRPr lang="en-US" sz="1260" dirty="0"/>
          </a:p>
        </p:txBody>
      </p:sp>
      <p:sp>
        <p:nvSpPr>
          <p:cNvPr id="11" name="Shape 8"/>
          <p:cNvSpPr/>
          <p:nvPr/>
        </p:nvSpPr>
        <p:spPr>
          <a:xfrm>
            <a:off x="6172200" y="2057400"/>
            <a:ext cx="4892040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82512" y="222199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0" y="2587752"/>
            <a:ext cx="443484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statement that it looks good</a:t>
            </a:r>
            <a:endParaRPr lang="en-US" sz="1260" dirty="0"/>
          </a:p>
        </p:txBody>
      </p:sp>
      <p:sp>
        <p:nvSpPr>
          <p:cNvPr id="14" name="Shape 11"/>
          <p:cNvSpPr/>
          <p:nvPr/>
        </p:nvSpPr>
        <p:spPr>
          <a:xfrm>
            <a:off x="777240" y="2971800"/>
            <a:ext cx="4892040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7552" y="313639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05840" y="3502152"/>
            <a:ext cx="443484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measurements, test results, circuit checks, or observations</a:t>
            </a:r>
            <a:endParaRPr lang="en-US" sz="1260" dirty="0"/>
          </a:p>
        </p:txBody>
      </p:sp>
      <p:sp>
        <p:nvSpPr>
          <p:cNvPr id="17" name="Shape 14"/>
          <p:cNvSpPr/>
          <p:nvPr/>
        </p:nvSpPr>
        <p:spPr>
          <a:xfrm>
            <a:off x="6172200" y="2971800"/>
            <a:ext cx="4892040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82512" y="313639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00800" y="3502152"/>
            <a:ext cx="443484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file name that does not identify the lesson or prototype</a:t>
            </a:r>
            <a:endParaRPr lang="en-US" sz="1260" dirty="0"/>
          </a:p>
        </p:txBody>
      </p:sp>
      <p:sp>
        <p:nvSpPr>
          <p:cNvPr id="20" name="Shape 17"/>
          <p:cNvSpPr/>
          <p:nvPr/>
        </p:nvSpPr>
        <p:spPr>
          <a:xfrm>
            <a:off x="777240" y="3886200"/>
            <a:ext cx="4892040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87552" y="405079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05840" y="4416552"/>
            <a:ext cx="443484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teammate saying it is probably fine</a:t>
            </a:r>
            <a:endParaRPr lang="en-US" sz="1260" dirty="0"/>
          </a:p>
        </p:txBody>
      </p:sp>
      <p:sp>
        <p:nvSpPr>
          <p:cNvPr id="23" name="Text 20"/>
          <p:cNvSpPr/>
          <p:nvPr/>
        </p:nvSpPr>
        <p:spPr>
          <a:xfrm>
            <a:off x="777240" y="5440680"/>
            <a:ext cx="94183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for the two strongest pieces of evidence. The answer is on the next slide.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Strongest Evidence Pair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4.6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68680" y="1417320"/>
            <a:ext cx="4754880" cy="2011680"/>
          </a:xfrm>
          <a:prstGeom prst="roundRect">
            <a:avLst>
              <a:gd name="adj" fmla="val 6818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8992" y="1581912"/>
            <a:ext cx="43342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support: A + C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7280" y="1947672"/>
            <a:ext cx="4297680" cy="1353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shows what was created or observed. C shows whether it meets the requirement or supports the design decision.</a:t>
            </a:r>
            <a:endParaRPr lang="en-US" sz="1680" dirty="0"/>
          </a:p>
        </p:txBody>
      </p:sp>
      <p:sp>
        <p:nvSpPr>
          <p:cNvPr id="10" name="Shape 7"/>
          <p:cNvSpPr/>
          <p:nvPr/>
        </p:nvSpPr>
        <p:spPr>
          <a:xfrm>
            <a:off x="5989320" y="1417320"/>
            <a:ext cx="475488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99632" y="1581912"/>
            <a:ext cx="43342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Useful, but not enough alone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17920" y="1947672"/>
            <a:ext cx="4297680" cy="1353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Appearance, vague confidence, or unclear file names can support the story, but they do not prove the claim by themselves.</a:t>
            </a:r>
            <a:endParaRPr lang="en-US" sz="1680" dirty="0"/>
          </a:p>
        </p:txBody>
      </p:sp>
      <p:sp>
        <p:nvSpPr>
          <p:cNvPr id="13" name="Text 10"/>
          <p:cNvSpPr/>
          <p:nvPr/>
        </p:nvSpPr>
        <p:spPr>
          <a:xfrm>
            <a:off x="960120" y="4389120"/>
            <a:ext cx="97840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should connect directly to the system claim you are making.</a:t>
            </a:r>
            <a:endParaRPr lang="en-US" sz="2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RESPONSE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the Engineer Do Next?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4.6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77240" y="1234440"/>
            <a:ext cx="1024128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Scenario: A student working on mechanism exploration: linkages, hinges, cams, gears, and pulleys notices the result does not match the expected system behavior.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77240" y="2148840"/>
            <a:ext cx="489204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231343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05840" y="2679192"/>
            <a:ext cx="44348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Ignore it and keep going because the task is almost finished</a:t>
            </a:r>
            <a:endParaRPr lang="en-US" sz="1260" dirty="0"/>
          </a:p>
        </p:txBody>
      </p:sp>
      <p:sp>
        <p:nvSpPr>
          <p:cNvPr id="11" name="Shape 8"/>
          <p:cNvSpPr/>
          <p:nvPr/>
        </p:nvSpPr>
        <p:spPr>
          <a:xfrm>
            <a:off x="6172200" y="2148840"/>
            <a:ext cx="489204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82512" y="231343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0" y="2679192"/>
            <a:ext cx="44348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issue, identify the likely cause, revise, and check again</a:t>
            </a:r>
            <a:endParaRPr lang="en-US" sz="1260" dirty="0"/>
          </a:p>
        </p:txBody>
      </p:sp>
      <p:sp>
        <p:nvSpPr>
          <p:cNvPr id="14" name="Shape 11"/>
          <p:cNvSpPr/>
          <p:nvPr/>
        </p:nvSpPr>
        <p:spPr>
          <a:xfrm>
            <a:off x="777240" y="3246120"/>
            <a:ext cx="489204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7552" y="341071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05840" y="3776472"/>
            <a:ext cx="44348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 the evidence and restart without notes</a:t>
            </a:r>
            <a:endParaRPr lang="en-US" sz="1260" dirty="0"/>
          </a:p>
        </p:txBody>
      </p:sp>
      <p:sp>
        <p:nvSpPr>
          <p:cNvPr id="17" name="Shape 14"/>
          <p:cNvSpPr/>
          <p:nvPr/>
        </p:nvSpPr>
        <p:spPr>
          <a:xfrm>
            <a:off x="6172200" y="3246120"/>
            <a:ext cx="489204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82512" y="341071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00800" y="3776472"/>
            <a:ext cx="44348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faster option even if it cannot be justified</a:t>
            </a:r>
            <a:endParaRPr lang="en-US" sz="1260" dirty="0"/>
          </a:p>
        </p:txBody>
      </p:sp>
      <p:sp>
        <p:nvSpPr>
          <p:cNvPr id="20" name="Text 17"/>
          <p:cNvSpPr/>
          <p:nvPr/>
        </p:nvSpPr>
        <p:spPr>
          <a:xfrm>
            <a:off x="822960" y="5257800"/>
            <a:ext cx="8595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 next slide reveals the strongest next step.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Engineering Move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4.6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68680" y="1417320"/>
            <a:ext cx="3657600" cy="2011680"/>
          </a:xfrm>
          <a:prstGeom prst="roundRect">
            <a:avLst>
              <a:gd name="adj" fmla="val 6818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8992" y="1581912"/>
            <a:ext cx="323697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B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7280" y="1947672"/>
            <a:ext cx="3200400" cy="1353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issue, identify the likely cause, revise, and check again.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892040" y="150876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92040" y="157276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58968" y="1490472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58968" y="1783080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what happened with a note, photo, graph, measurement, or test result.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4892040" y="242316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92040" y="248716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58968" y="2404872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58968" y="2697480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the likely cause before changing the system.</a:t>
            </a:r>
            <a:endParaRPr lang="en-US" sz="1220" dirty="0"/>
          </a:p>
        </p:txBody>
      </p:sp>
      <p:sp>
        <p:nvSpPr>
          <p:cNvPr id="18" name="Shape 15"/>
          <p:cNvSpPr/>
          <p:nvPr/>
        </p:nvSpPr>
        <p:spPr>
          <a:xfrm>
            <a:off x="4892040" y="333756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92040" y="340156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58968" y="3319272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Revise + Check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458968" y="3611880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a targeted change and collect new evidence.</a:t>
            </a:r>
            <a:endParaRPr lang="en-US" sz="1220" dirty="0"/>
          </a:p>
        </p:txBody>
      </p:sp>
      <p:sp>
        <p:nvSpPr>
          <p:cNvPr id="22" name="Text 19"/>
          <p:cNvSpPr/>
          <p:nvPr/>
        </p:nvSpPr>
        <p:spPr>
          <a:xfrm>
            <a:off x="1005840" y="5166360"/>
            <a:ext cx="98755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move: use the problem as evidence, not as a reason to hide the work.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4.6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43000"/>
            <a:ext cx="95097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explain which statement is strongest and why.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77240" y="1783080"/>
            <a:ext cx="1024128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1947672"/>
            <a:ext cx="98206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2313432"/>
            <a:ext cx="97840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“My mechanism exploration: linkages, hinges, cams, gears, and pulleys work is good because it looks complete.”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77240" y="2788920"/>
            <a:ext cx="10241280" cy="822960"/>
          </a:xfrm>
          <a:prstGeom prst="roundRect">
            <a:avLst>
              <a:gd name="adj" fmla="val 16667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2953512"/>
            <a:ext cx="98206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05840" y="3319272"/>
            <a:ext cx="97840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checked the relevant evidence and found the result matched the requirement.”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77240" y="3794760"/>
            <a:ext cx="10241280" cy="822960"/>
          </a:xfrm>
          <a:prstGeom prst="roundRect">
            <a:avLst>
              <a:gd name="adj" fmla="val 16667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7552" y="3959352"/>
            <a:ext cx="98206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05840" y="4325112"/>
            <a:ext cx="97840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revised the design because the check showed a specific material, mechanism, circuit, or data issue.”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77240" y="5257800"/>
            <a:ext cx="67665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answer is on the next slide.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4.6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77240" y="1417320"/>
            <a:ext cx="329184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7552" y="1581912"/>
            <a:ext cx="28712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" y="1947672"/>
            <a:ext cx="2834640" cy="1536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Opinion-heavy. “Looks complete” is not enough evidence.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434840" y="1417320"/>
            <a:ext cx="3291840" cy="2194560"/>
          </a:xfrm>
          <a:prstGeom prst="roundRect">
            <a:avLst>
              <a:gd name="adj" fmla="val 6250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45152" y="1581912"/>
            <a:ext cx="28712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63440" y="1947672"/>
            <a:ext cx="2834640" cy="1536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Evidence-based. It references a check against a requirement.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092440" y="1417320"/>
            <a:ext cx="3291840" cy="2194560"/>
          </a:xfrm>
          <a:prstGeom prst="roundRect">
            <a:avLst>
              <a:gd name="adj" fmla="val 6250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02752" y="1581912"/>
            <a:ext cx="28712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321040" y="1947672"/>
            <a:ext cx="2834640" cy="1536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Evidence-based reasoning. It connects a revision to a specific check.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14400" y="4434840"/>
            <a:ext cx="101498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claim + specific evidence = stronger engineering communication.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DEBRIEF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Ticket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4.6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70432"/>
            <a:ext cx="10058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that you understand the lesson before we move to the next system checkpoint.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68680" y="1737360"/>
            <a:ext cx="10149840" cy="3154680"/>
          </a:xfrm>
          <a:prstGeom prst="roundRect">
            <a:avLst>
              <a:gd name="adj" fmla="val 4348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78992" y="1901952"/>
            <a:ext cx="97292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 in your notebook or assigned class format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61288" y="2304288"/>
            <a:ext cx="964692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thing you learned about mechanism exploration: linkages, hinges, cams, gears, and pulleys.</a:t>
            </a:r>
            <a:endParaRPr lang="en-US" sz="1800" dirty="0"/>
          </a:p>
          <a:p>
            <a:pPr marL="165100" indent="-165100">
              <a:buSzPct val="100000"/>
              <a:buChar char="•"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type of evidence that could support today’s design or system decision.</a:t>
            </a:r>
            <a:endParaRPr lang="en-US" sz="1800" dirty="0"/>
          </a:p>
          <a:p>
            <a:pPr marL="165100" indent="-165100">
              <a:buSzPct val="100000"/>
              <a:buChar char="•"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question, risk, or next step for the prototype system.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68680" y="5212080"/>
            <a:ext cx="98755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mission: Lesson 4.7 — Friction, Force, and Mechanism Performance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LockwoodSTEM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IED Unit 4 Lesson 4.6: Mechanism Exploration: Linkages, Hinges, Cams, Gears, and Pulleys</dc:title>
  <dc:subject>IED Unit 4 Lesson 4.6</dc:subject>
  <dc:creator>LockwoodSTEM</dc:creator>
  <cp:lastModifiedBy>LockwoodSTEM</cp:lastModifiedBy>
  <cp:revision>1</cp:revision>
  <dcterms:created xsi:type="dcterms:W3CDTF">2026-07-17T17:40:16Z</dcterms:created>
  <dcterms:modified xsi:type="dcterms:W3CDTF">2026-07-17T17:40:16Z</dcterms:modified>
</cp:coreProperties>
</file>